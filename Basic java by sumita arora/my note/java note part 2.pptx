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609B31-9B4C-4DDD-A656-D00B59B93910}">
          <p14:sldIdLst>
            <p14:sldId id="256"/>
            <p14:sldId id="257"/>
          </p14:sldIdLst>
        </p14:section>
        <p14:section name="JAVA CLASS BY GEEKS FOR GEEKS" id="{CA922160-B716-4F64-9DAE-C9BA50486FB0}">
          <p14:sldIdLst>
            <p14:sldId id="258"/>
            <p14:sldId id="259"/>
            <p14:sldId id="260"/>
            <p14:sldId id="261"/>
            <p14:sldId id="262"/>
            <p14:sldId id="263"/>
            <p14:sldId id="264"/>
            <p14:sldId id="265"/>
            <p14:sldId id="266"/>
            <p14:sldId id="267"/>
            <p14:sldId id="268"/>
            <p14:sldId id="269"/>
            <p14:sldId id="270"/>
          </p14:sldIdLst>
        </p14:section>
        <p14:section name="function(method)" id="{5C49C008-E11D-49C8-9AFD-480807F964E8}">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AAD42-BDA1-CE06-B6A0-04EB1885ED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8C8A96-8533-3C7A-5D66-D9F355EE36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2DC23C-5D24-9C63-3EFA-0BCE6B11ECC5}"/>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5" name="Footer Placeholder 4">
            <a:extLst>
              <a:ext uri="{FF2B5EF4-FFF2-40B4-BE49-F238E27FC236}">
                <a16:creationId xmlns:a16="http://schemas.microsoft.com/office/drawing/2014/main" id="{C28A1F00-25C6-1B9C-647C-10133055B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EA249F-AE9D-CD24-2241-2FC29A6D5E76}"/>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2773906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D6142-E48E-D114-F85B-EB4E088864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80B55C-7BF0-C555-8391-28B2DF8ED6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EDCC2D-A94C-B016-C71A-BF460BA83270}"/>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5" name="Footer Placeholder 4">
            <a:extLst>
              <a:ext uri="{FF2B5EF4-FFF2-40B4-BE49-F238E27FC236}">
                <a16:creationId xmlns:a16="http://schemas.microsoft.com/office/drawing/2014/main" id="{D98E632E-894C-D359-B673-DE5489FA82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AB09A7-58C1-7F1B-66FD-0C07EEF64EA3}"/>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2159594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10C0F-3563-5BFA-45EE-D0DAA33FD3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EB54AD-66C3-58A3-8059-C950102639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7A5F04-58E9-0BC9-D9A9-0D7D25297414}"/>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5" name="Footer Placeholder 4">
            <a:extLst>
              <a:ext uri="{FF2B5EF4-FFF2-40B4-BE49-F238E27FC236}">
                <a16:creationId xmlns:a16="http://schemas.microsoft.com/office/drawing/2014/main" id="{693F6CCF-C695-4B67-5E80-27D51E3AE8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86A93A-7D07-2612-0993-9B2A9E566C5F}"/>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4008343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067A2-001F-46C0-3FB1-04E7CE107E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48120F-9E49-2E4C-D11F-6BD250D15C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6DA417-1980-014D-6EEE-093CC8EB8B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62927D-BF61-4735-D99D-D30DCDE27BED}"/>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6" name="Footer Placeholder 5">
            <a:extLst>
              <a:ext uri="{FF2B5EF4-FFF2-40B4-BE49-F238E27FC236}">
                <a16:creationId xmlns:a16="http://schemas.microsoft.com/office/drawing/2014/main" id="{AED43466-92E7-0A45-B373-D47EB0C465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F2060D-0927-DB6B-9D73-D9F1DF09F805}"/>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3518603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5CA6-9F31-974B-58F0-A407CB072B3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899160-E839-0D3A-3DF6-FEBD8DD1DE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B8BF36-C728-73B7-6A47-C963678183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9BC360-E249-1EC8-3E6E-00A6BCF7FB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BB7417-7397-DA90-8193-1D151CD1D2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03944C-7296-D038-32D4-F3694A76E979}"/>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8" name="Footer Placeholder 7">
            <a:extLst>
              <a:ext uri="{FF2B5EF4-FFF2-40B4-BE49-F238E27FC236}">
                <a16:creationId xmlns:a16="http://schemas.microsoft.com/office/drawing/2014/main" id="{0C435344-A002-38C7-2C21-245A34765BB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5A353B9-2223-503A-4D15-E0D2BE58693D}"/>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2264323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8FE3-4356-C81B-DC43-5B9C8A49B0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80AEDE-7DF2-ED0F-D631-78B967769D2C}"/>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4" name="Footer Placeholder 3">
            <a:extLst>
              <a:ext uri="{FF2B5EF4-FFF2-40B4-BE49-F238E27FC236}">
                <a16:creationId xmlns:a16="http://schemas.microsoft.com/office/drawing/2014/main" id="{B5329369-2286-ED29-E518-37C91DC089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ED40AB-9BCC-14B4-B505-FC4D047B95F3}"/>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378309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B48A75-3158-7295-8A4A-62DD623CEE7F}"/>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3" name="Footer Placeholder 2">
            <a:extLst>
              <a:ext uri="{FF2B5EF4-FFF2-40B4-BE49-F238E27FC236}">
                <a16:creationId xmlns:a16="http://schemas.microsoft.com/office/drawing/2014/main" id="{1BA554AF-117C-302F-3184-6EECD65CE7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8450DE-F8D3-414F-48C2-B3214AB30434}"/>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1873402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55F18-5916-46F9-C3FD-F507E28C92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3C5FF6-8DF1-C0DA-B32A-3469F80A9C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E05381C-66F6-B312-560D-AF7E224D8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18F810-5FBA-DA7F-8E4E-844E9B745477}"/>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6" name="Footer Placeholder 5">
            <a:extLst>
              <a:ext uri="{FF2B5EF4-FFF2-40B4-BE49-F238E27FC236}">
                <a16:creationId xmlns:a16="http://schemas.microsoft.com/office/drawing/2014/main" id="{D6CEC8A1-A0C4-E841-BEC8-389A742C78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3F025C-E3B3-B5E0-3104-A9191CB62CB1}"/>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250643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20F9-37D9-DFCD-0D26-7EB995ECB9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AAB032-5DD0-8B85-ACB1-120F5D0F88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DD212F-AB52-F19F-08EF-AF62853614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FAB62F-BCE7-04FD-30F5-AB26FA344B63}"/>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6" name="Footer Placeholder 5">
            <a:extLst>
              <a:ext uri="{FF2B5EF4-FFF2-40B4-BE49-F238E27FC236}">
                <a16:creationId xmlns:a16="http://schemas.microsoft.com/office/drawing/2014/main" id="{FAB9E014-0019-B3E8-6546-071D3013DC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A34116-F87E-6CF8-E6EA-6620D7EA9991}"/>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685800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FE58-6109-F915-F7FC-39ECD7B5983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A75900-AAF4-DDFE-8924-E5B996B462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C2E4E7-AE99-6BA6-C179-DB7BD28D6E3A}"/>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5" name="Footer Placeholder 4">
            <a:extLst>
              <a:ext uri="{FF2B5EF4-FFF2-40B4-BE49-F238E27FC236}">
                <a16:creationId xmlns:a16="http://schemas.microsoft.com/office/drawing/2014/main" id="{56109F5E-6DB9-6065-45FD-46FBFC3715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134043-0B00-D59E-CB24-B6C660121C24}"/>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1564593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37224E-678E-0BC3-1AD4-362E8F99E4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806D7A-DA21-2009-7BD3-DBE0BFB2BC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DA5F9A-08CC-3836-6F7E-CB8B7D71A038}"/>
              </a:ext>
            </a:extLst>
          </p:cNvPr>
          <p:cNvSpPr>
            <a:spLocks noGrp="1"/>
          </p:cNvSpPr>
          <p:nvPr>
            <p:ph type="dt" sz="half" idx="10"/>
          </p:nvPr>
        </p:nvSpPr>
        <p:spPr/>
        <p:txBody>
          <a:bodyPr/>
          <a:lstStyle/>
          <a:p>
            <a:fld id="{85F17EA5-1999-4C79-8705-EBEA03DB742B}" type="datetimeFigureOut">
              <a:rPr lang="en-IN" smtClean="0"/>
              <a:t>13-10-2024</a:t>
            </a:fld>
            <a:endParaRPr lang="en-IN"/>
          </a:p>
        </p:txBody>
      </p:sp>
      <p:sp>
        <p:nvSpPr>
          <p:cNvPr id="5" name="Footer Placeholder 4">
            <a:extLst>
              <a:ext uri="{FF2B5EF4-FFF2-40B4-BE49-F238E27FC236}">
                <a16:creationId xmlns:a16="http://schemas.microsoft.com/office/drawing/2014/main" id="{F3B56D89-6A09-1BD5-5967-1F8C2246D2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FCCD6C-4551-0BA1-0B62-2317C323DE44}"/>
              </a:ext>
            </a:extLst>
          </p:cNvPr>
          <p:cNvSpPr>
            <a:spLocks noGrp="1"/>
          </p:cNvSpPr>
          <p:nvPr>
            <p:ph type="sldNum" sz="quarter" idx="12"/>
          </p:nvPr>
        </p:nvSpPr>
        <p:spPr/>
        <p:txBody>
          <a:bodyPr/>
          <a:lstStyle/>
          <a:p>
            <a:fld id="{9DFEF132-335F-4B5A-B4A5-D272B75F09B8}" type="slidenum">
              <a:rPr lang="en-IN" smtClean="0"/>
              <a:t>‹#›</a:t>
            </a:fld>
            <a:endParaRPr lang="en-IN"/>
          </a:p>
        </p:txBody>
      </p:sp>
    </p:spTree>
    <p:extLst>
      <p:ext uri="{BB962C8B-B14F-4D97-AF65-F5344CB8AC3E}">
        <p14:creationId xmlns:p14="http://schemas.microsoft.com/office/powerpoint/2010/main" val="506914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83473-CF2B-5DD9-F3FF-9A181115F4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5C4520-A49E-8EBF-6722-2186CC0FB8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3B4583-1483-16BE-CC56-4CD3D9F37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F17EA5-1999-4C79-8705-EBEA03DB742B}" type="datetimeFigureOut">
              <a:rPr lang="en-IN" smtClean="0"/>
              <a:t>13-10-2024</a:t>
            </a:fld>
            <a:endParaRPr lang="en-IN"/>
          </a:p>
        </p:txBody>
      </p:sp>
      <p:sp>
        <p:nvSpPr>
          <p:cNvPr id="5" name="Footer Placeholder 4">
            <a:extLst>
              <a:ext uri="{FF2B5EF4-FFF2-40B4-BE49-F238E27FC236}">
                <a16:creationId xmlns:a16="http://schemas.microsoft.com/office/drawing/2014/main" id="{AB74F1FE-31A4-1B36-FF6D-FA3B34CF13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D16FA6-21E7-AB22-CFDB-8B1191D9CF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FEF132-335F-4B5A-B4A5-D272B75F09B8}" type="slidenum">
              <a:rPr lang="en-IN" smtClean="0"/>
              <a:t>‹#›</a:t>
            </a:fld>
            <a:endParaRPr lang="en-IN"/>
          </a:p>
        </p:txBody>
      </p:sp>
    </p:spTree>
    <p:extLst>
      <p:ext uri="{BB962C8B-B14F-4D97-AF65-F5344CB8AC3E}">
        <p14:creationId xmlns:p14="http://schemas.microsoft.com/office/powerpoint/2010/main" val="719026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A09CD-9363-A88F-036F-11CBD1930F9E}"/>
              </a:ext>
            </a:extLst>
          </p:cNvPr>
          <p:cNvSpPr>
            <a:spLocks noGrp="1"/>
          </p:cNvSpPr>
          <p:nvPr>
            <p:ph type="ctrTitle"/>
          </p:nvPr>
        </p:nvSpPr>
        <p:spPr/>
        <p:txBody>
          <a:bodyPr/>
          <a:lstStyle/>
          <a:p>
            <a:r>
              <a:rPr lang="en-IN" dirty="0"/>
              <a:t>Oops using java </a:t>
            </a:r>
          </a:p>
        </p:txBody>
      </p:sp>
      <p:sp>
        <p:nvSpPr>
          <p:cNvPr id="3" name="Subtitle 2">
            <a:extLst>
              <a:ext uri="{FF2B5EF4-FFF2-40B4-BE49-F238E27FC236}">
                <a16:creationId xmlns:a16="http://schemas.microsoft.com/office/drawing/2014/main" id="{1F6841EE-1271-496B-C263-48301FF47678}"/>
              </a:ext>
            </a:extLst>
          </p:cNvPr>
          <p:cNvSpPr>
            <a:spLocks noGrp="1"/>
          </p:cNvSpPr>
          <p:nvPr>
            <p:ph type="subTitle" idx="1"/>
          </p:nvPr>
        </p:nvSpPr>
        <p:spPr/>
        <p:txBody>
          <a:bodyPr/>
          <a:lstStyle/>
          <a:p>
            <a:r>
              <a:rPr lang="en-IN" dirty="0"/>
              <a:t>By parmanand </a:t>
            </a:r>
          </a:p>
        </p:txBody>
      </p:sp>
    </p:spTree>
    <p:extLst>
      <p:ext uri="{BB962C8B-B14F-4D97-AF65-F5344CB8AC3E}">
        <p14:creationId xmlns:p14="http://schemas.microsoft.com/office/powerpoint/2010/main" val="2064037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66162-7F52-8EC3-F393-D1506BF90BE6}"/>
              </a:ext>
            </a:extLst>
          </p:cNvPr>
          <p:cNvSpPr>
            <a:spLocks noGrp="1"/>
          </p:cNvSpPr>
          <p:nvPr>
            <p:ph type="title"/>
          </p:nvPr>
        </p:nvSpPr>
        <p:spPr/>
        <p:txBody>
          <a:bodyPr/>
          <a:lstStyle/>
          <a:p>
            <a:r>
              <a:rPr lang="es-ES" dirty="0" err="1"/>
              <a:t>Classes</a:t>
            </a:r>
            <a:r>
              <a:rPr lang="es-ES" dirty="0"/>
              <a:t> In Java</a:t>
            </a:r>
            <a:endParaRPr lang="en-IN" dirty="0"/>
          </a:p>
        </p:txBody>
      </p:sp>
      <p:sp>
        <p:nvSpPr>
          <p:cNvPr id="3" name="Content Placeholder 2">
            <a:extLst>
              <a:ext uri="{FF2B5EF4-FFF2-40B4-BE49-F238E27FC236}">
                <a16:creationId xmlns:a16="http://schemas.microsoft.com/office/drawing/2014/main" id="{5B8B19D8-CD82-30DE-AE58-8454287B4669}"/>
              </a:ext>
            </a:extLst>
          </p:cNvPr>
          <p:cNvSpPr>
            <a:spLocks noGrp="1"/>
          </p:cNvSpPr>
          <p:nvPr>
            <p:ph idx="1"/>
          </p:nvPr>
        </p:nvSpPr>
        <p:spPr/>
        <p:txBody>
          <a:bodyPr/>
          <a:lstStyle/>
          <a:p>
            <a:r>
              <a:rPr lang="en-IN" dirty="0"/>
              <a:t>The data types that are based on fundamental or primitive data types, known as composite  data types. Since theses data types are created by user, these are also known as User-Defined Datatypes.</a:t>
            </a:r>
          </a:p>
          <a:p>
            <a:r>
              <a:rPr lang="en-IN" dirty="0"/>
              <a:t>Class is one of the example of composite data types.</a:t>
            </a:r>
          </a:p>
        </p:txBody>
      </p:sp>
    </p:spTree>
    <p:extLst>
      <p:ext uri="{BB962C8B-B14F-4D97-AF65-F5344CB8AC3E}">
        <p14:creationId xmlns:p14="http://schemas.microsoft.com/office/powerpoint/2010/main" val="219563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1807-0E27-F304-899A-E2CFE4B4DF5A}"/>
              </a:ext>
            </a:extLst>
          </p:cNvPr>
          <p:cNvSpPr>
            <a:spLocks noGrp="1"/>
          </p:cNvSpPr>
          <p:nvPr>
            <p:ph type="title"/>
          </p:nvPr>
        </p:nvSpPr>
        <p:spPr/>
        <p:txBody>
          <a:bodyPr/>
          <a:lstStyle/>
          <a:p>
            <a:r>
              <a:rPr lang="en-IN" dirty="0"/>
              <a:t>Java Classes</a:t>
            </a:r>
          </a:p>
        </p:txBody>
      </p:sp>
      <p:sp>
        <p:nvSpPr>
          <p:cNvPr id="3" name="Content Placeholder 2">
            <a:extLst>
              <a:ext uri="{FF2B5EF4-FFF2-40B4-BE49-F238E27FC236}">
                <a16:creationId xmlns:a16="http://schemas.microsoft.com/office/drawing/2014/main" id="{E9F8360B-530D-A646-2C93-9F0EDE2732FD}"/>
              </a:ext>
            </a:extLst>
          </p:cNvPr>
          <p:cNvSpPr>
            <a:spLocks noGrp="1"/>
          </p:cNvSpPr>
          <p:nvPr>
            <p:ph idx="1"/>
          </p:nvPr>
        </p:nvSpPr>
        <p:spPr/>
        <p:txBody>
          <a:bodyPr>
            <a:normAutofit fontScale="77500" lnSpcReduction="20000"/>
          </a:bodyPr>
          <a:lstStyle/>
          <a:p>
            <a:r>
              <a:rPr lang="en-US" dirty="0"/>
              <a:t>A class in Java is a set of objects which shares common characteristics/ behavior and common properties/ attributes. </a:t>
            </a:r>
          </a:p>
          <a:p>
            <a:pPr algn="l" fontAlgn="base"/>
            <a:r>
              <a:rPr lang="en-US" b="1" i="0" dirty="0">
                <a:effectLst/>
                <a:latin typeface="Nunito" pitchFamily="2" charset="0"/>
              </a:rPr>
              <a:t>Properties of Java Classes</a:t>
            </a:r>
          </a:p>
          <a:p>
            <a:pPr algn="l" fontAlgn="base">
              <a:buFont typeface="+mj-lt"/>
              <a:buAutoNum type="arabicPeriod"/>
            </a:pPr>
            <a:r>
              <a:rPr lang="en-US" b="0" i="0" dirty="0">
                <a:effectLst/>
                <a:latin typeface="Nunito" pitchFamily="2" charset="0"/>
              </a:rPr>
              <a:t>Class is not a real-world entity. It is just a template or blueprint or prototype from which objects are created.</a:t>
            </a:r>
          </a:p>
          <a:p>
            <a:pPr algn="l" fontAlgn="base">
              <a:buFont typeface="+mj-lt"/>
              <a:buAutoNum type="arabicPeriod" startAt="2"/>
            </a:pPr>
            <a:r>
              <a:rPr lang="en-US" b="0" i="0" dirty="0">
                <a:effectLst/>
                <a:latin typeface="Nunito" pitchFamily="2" charset="0"/>
              </a:rPr>
              <a:t>Class does not occupy memory.</a:t>
            </a:r>
          </a:p>
          <a:p>
            <a:pPr algn="l" fontAlgn="base">
              <a:buFont typeface="+mj-lt"/>
              <a:buAutoNum type="arabicPeriod" startAt="3"/>
            </a:pPr>
            <a:r>
              <a:rPr lang="en-US" b="0" i="0" dirty="0">
                <a:effectLst/>
                <a:latin typeface="Nunito" pitchFamily="2" charset="0"/>
              </a:rPr>
              <a:t>Class is a group of variables of different data types and a group of methods.</a:t>
            </a:r>
          </a:p>
          <a:p>
            <a:pPr algn="l" fontAlgn="base">
              <a:buFont typeface="+mj-lt"/>
              <a:buAutoNum type="arabicPeriod" startAt="4"/>
            </a:pPr>
            <a:r>
              <a:rPr lang="en-US" b="0" i="0" dirty="0">
                <a:effectLst/>
                <a:latin typeface="Nunito" pitchFamily="2" charset="0"/>
              </a:rPr>
              <a:t>A Class in Java can contain:</a:t>
            </a:r>
          </a:p>
          <a:p>
            <a:pPr marL="742950" lvl="1" indent="-285750" algn="l" fontAlgn="base">
              <a:buFont typeface="+mj-lt"/>
              <a:buAutoNum type="arabicPeriod" startAt="4"/>
            </a:pPr>
            <a:r>
              <a:rPr lang="en-US" b="0" i="0" dirty="0">
                <a:effectLst/>
                <a:latin typeface="Nunito" pitchFamily="2" charset="0"/>
              </a:rPr>
              <a:t>Data member</a:t>
            </a:r>
          </a:p>
          <a:p>
            <a:pPr marL="742950" lvl="1" indent="-285750" algn="l" fontAlgn="base">
              <a:buFont typeface="+mj-lt"/>
              <a:buAutoNum type="arabicPeriod" startAt="4"/>
            </a:pPr>
            <a:r>
              <a:rPr lang="en-US" b="0" i="0" dirty="0">
                <a:effectLst/>
                <a:latin typeface="Nunito" pitchFamily="2" charset="0"/>
              </a:rPr>
              <a:t>Method</a:t>
            </a:r>
          </a:p>
          <a:p>
            <a:pPr marL="742950" lvl="1" indent="-285750" algn="l" fontAlgn="base">
              <a:buFont typeface="+mj-lt"/>
              <a:buAutoNum type="arabicPeriod" startAt="4"/>
            </a:pPr>
            <a:r>
              <a:rPr lang="en-US" b="0" i="0" dirty="0">
                <a:effectLst/>
                <a:latin typeface="Nunito" pitchFamily="2" charset="0"/>
              </a:rPr>
              <a:t>Constructor</a:t>
            </a:r>
          </a:p>
          <a:p>
            <a:pPr marL="742950" lvl="1" indent="-285750" algn="l" fontAlgn="base">
              <a:buFont typeface="+mj-lt"/>
              <a:buAutoNum type="arabicPeriod" startAt="4"/>
            </a:pPr>
            <a:r>
              <a:rPr lang="en-US" b="0" i="0" dirty="0">
                <a:effectLst/>
                <a:latin typeface="Nunito" pitchFamily="2" charset="0"/>
              </a:rPr>
              <a:t>Nested Class</a:t>
            </a:r>
          </a:p>
          <a:p>
            <a:pPr marL="742950" lvl="1" indent="-285750" algn="l" fontAlgn="base">
              <a:buFont typeface="+mj-lt"/>
              <a:buAutoNum type="arabicPeriod" startAt="4"/>
            </a:pPr>
            <a:r>
              <a:rPr lang="en-US" b="0" i="0" dirty="0">
                <a:effectLst/>
                <a:latin typeface="Nunito" pitchFamily="2" charset="0"/>
              </a:rPr>
              <a:t>Interface</a:t>
            </a:r>
          </a:p>
        </p:txBody>
      </p:sp>
    </p:spTree>
    <p:extLst>
      <p:ext uri="{BB962C8B-B14F-4D97-AF65-F5344CB8AC3E}">
        <p14:creationId xmlns:p14="http://schemas.microsoft.com/office/powerpoint/2010/main" val="2225183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A3499-51A4-7DEE-8790-073B1B6FDBC2}"/>
              </a:ext>
            </a:extLst>
          </p:cNvPr>
          <p:cNvSpPr>
            <a:spLocks noGrp="1"/>
          </p:cNvSpPr>
          <p:nvPr>
            <p:ph type="title"/>
          </p:nvPr>
        </p:nvSpPr>
        <p:spPr/>
        <p:txBody>
          <a:bodyPr/>
          <a:lstStyle/>
          <a:p>
            <a:r>
              <a:rPr lang="en-IN" dirty="0"/>
              <a:t>Class Declaration in Java</a:t>
            </a:r>
          </a:p>
        </p:txBody>
      </p:sp>
      <p:sp>
        <p:nvSpPr>
          <p:cNvPr id="4" name="Rectangle 1">
            <a:extLst>
              <a:ext uri="{FF2B5EF4-FFF2-40B4-BE49-F238E27FC236}">
                <a16:creationId xmlns:a16="http://schemas.microsoft.com/office/drawing/2014/main" id="{F91976CD-0F34-6884-A082-6A5467A2C63E}"/>
              </a:ext>
            </a:extLst>
          </p:cNvPr>
          <p:cNvSpPr>
            <a:spLocks noGrp="1" noChangeArrowheads="1"/>
          </p:cNvSpPr>
          <p:nvPr>
            <p:ph idx="1"/>
          </p:nvPr>
        </p:nvSpPr>
        <p:spPr bwMode="auto">
          <a:xfrm>
            <a:off x="838200" y="1951672"/>
            <a:ext cx="5777223" cy="2954655"/>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a:ln>
                  <a:noFill/>
                </a:ln>
                <a:solidFill>
                  <a:schemeClr val="tx1"/>
                </a:solidFill>
                <a:effectLst/>
                <a:latin typeface="Consolas" panose="020B0609020204030204" pitchFamily="49" charset="0"/>
              </a:rPr>
              <a:t>access_modifier</a:t>
            </a:r>
            <a:r>
              <a:rPr kumimoji="0" lang="en-US" altLang="en-US" sz="2400" b="0" i="0" u="none" strike="noStrike" cap="none" normalizeH="0" baseline="0">
                <a:ln>
                  <a:noFill/>
                </a:ln>
                <a:solidFill>
                  <a:schemeClr val="tx1"/>
                </a:solidFill>
                <a:effectLst/>
                <a:latin typeface="Consolas" panose="020B0609020204030204" pitchFamily="49" charset="0"/>
              </a:rPr>
              <a:t> </a:t>
            </a:r>
            <a:r>
              <a:rPr kumimoji="0" lang="en-US" altLang="en-US" sz="2400" b="1" i="0" u="none" strike="noStrike" cap="none" normalizeH="0" baseline="0">
                <a:ln>
                  <a:noFill/>
                </a:ln>
                <a:solidFill>
                  <a:schemeClr val="tx1"/>
                </a:solidFill>
                <a:effectLst/>
                <a:latin typeface="Consolas" panose="020B0609020204030204" pitchFamily="49" charset="0"/>
              </a:rPr>
              <a:t>class </a:t>
            </a:r>
            <a:r>
              <a:rPr kumimoji="0" lang="en-US" altLang="en-US" sz="2400" b="0" i="0" u="none" strike="noStrike" cap="none" normalizeH="0" baseline="0">
                <a:ln>
                  <a:noFill/>
                </a:ln>
                <a:solidFill>
                  <a:schemeClr val="tx1"/>
                </a:solidFill>
                <a:effectLst/>
                <a:latin typeface="Consolas" panose="020B0609020204030204" pitchFamily="49" charset="0"/>
              </a:rPr>
              <a:t>&lt;</a:t>
            </a:r>
            <a:r>
              <a:rPr kumimoji="0" lang="en-US" altLang="en-US" sz="2400" b="0" i="1" u="none" strike="noStrike" cap="none" normalizeH="0" baseline="0">
                <a:ln>
                  <a:noFill/>
                </a:ln>
                <a:solidFill>
                  <a:schemeClr val="tx1"/>
                </a:solidFill>
                <a:effectLst/>
                <a:latin typeface="Consolas" panose="020B0609020204030204" pitchFamily="49" charset="0"/>
              </a:rPr>
              <a:t>class_name</a:t>
            </a:r>
            <a:r>
              <a:rPr kumimoji="0" lang="en-US" altLang="en-US" sz="2400" b="0" i="0" u="none" strike="noStrike" cap="none" normalizeH="0" baseline="0">
                <a:ln>
                  <a:noFill/>
                </a:ln>
                <a:solidFill>
                  <a:schemeClr val="tx1"/>
                </a:solidFill>
                <a:effectLst/>
                <a:latin typeface="Consolas" panose="020B0609020204030204" pitchFamily="49" charset="0"/>
              </a:rPr>
              <a:t>&gt;</a:t>
            </a:r>
            <a:br>
              <a:rPr kumimoji="0" lang="en-US" altLang="en-US" sz="2400" b="0" i="0" u="none" strike="noStrike" cap="none" normalizeH="0" baseline="0">
                <a:ln>
                  <a:noFill/>
                </a:ln>
                <a:solidFill>
                  <a:schemeClr val="tx1"/>
                </a:solidFill>
                <a:effectLst/>
                <a:latin typeface="Consolas" panose="020B0609020204030204" pitchFamily="49" charset="0"/>
              </a:rPr>
            </a:br>
            <a:r>
              <a:rPr kumimoji="0" lang="en-US" altLang="en-US" sz="2400" b="0" i="0" u="none" strike="noStrike" cap="none" normalizeH="0" baseline="0">
                <a:ln>
                  <a:noFill/>
                </a:ln>
                <a:solidFill>
                  <a:schemeClr val="tx1"/>
                </a:solidFill>
                <a:effectLst/>
                <a:latin typeface="Consolas" panose="020B0609020204030204" pitchFamily="49" charset="0"/>
              </a:rPr>
              <a:t>{ </a:t>
            </a:r>
            <a:br>
              <a:rPr kumimoji="0" lang="en-US" altLang="en-US" sz="2400" b="0" i="0" u="none" strike="noStrike" cap="none" normalizeH="0" baseline="0">
                <a:ln>
                  <a:noFill/>
                </a:ln>
                <a:solidFill>
                  <a:schemeClr val="tx1"/>
                </a:solidFill>
                <a:effectLst/>
                <a:latin typeface="Consolas" panose="020B0609020204030204" pitchFamily="49" charset="0"/>
              </a:rPr>
            </a:br>
            <a:r>
              <a:rPr kumimoji="0" lang="en-US" altLang="en-US" sz="2400" b="0" i="0" u="none" strike="noStrike" cap="none" normalizeH="0" baseline="0">
                <a:ln>
                  <a:noFill/>
                </a:ln>
                <a:solidFill>
                  <a:schemeClr val="tx1"/>
                </a:solidFill>
                <a:effectLst/>
                <a:latin typeface="Consolas" panose="020B0609020204030204" pitchFamily="49" charset="0"/>
              </a:rPr>
              <a:t>data member; </a:t>
            </a:r>
            <a:br>
              <a:rPr kumimoji="0" lang="en-US" altLang="en-US" sz="2400" b="0" i="0" u="none" strike="noStrike" cap="none" normalizeH="0" baseline="0">
                <a:ln>
                  <a:noFill/>
                </a:ln>
                <a:solidFill>
                  <a:schemeClr val="tx1"/>
                </a:solidFill>
                <a:effectLst/>
                <a:latin typeface="Consolas" panose="020B0609020204030204" pitchFamily="49" charset="0"/>
              </a:rPr>
            </a:br>
            <a:r>
              <a:rPr kumimoji="0" lang="en-US" altLang="en-US" sz="2400" b="0" i="0" u="none" strike="noStrike" cap="none" normalizeH="0" baseline="0">
                <a:ln>
                  <a:noFill/>
                </a:ln>
                <a:solidFill>
                  <a:schemeClr val="tx1"/>
                </a:solidFill>
                <a:effectLst/>
                <a:latin typeface="Consolas" panose="020B0609020204030204" pitchFamily="49" charset="0"/>
              </a:rPr>
              <a:t>method; </a:t>
            </a:r>
            <a:br>
              <a:rPr kumimoji="0" lang="en-US" altLang="en-US" sz="2400" b="0" i="0" u="none" strike="noStrike" cap="none" normalizeH="0" baseline="0">
                <a:ln>
                  <a:noFill/>
                </a:ln>
                <a:solidFill>
                  <a:schemeClr val="tx1"/>
                </a:solidFill>
                <a:effectLst/>
                <a:latin typeface="Consolas" panose="020B0609020204030204" pitchFamily="49" charset="0"/>
              </a:rPr>
            </a:br>
            <a:r>
              <a:rPr kumimoji="0" lang="en-US" altLang="en-US" sz="2400" b="0" i="0" u="none" strike="noStrike" cap="none" normalizeH="0" baseline="0">
                <a:ln>
                  <a:noFill/>
                </a:ln>
                <a:solidFill>
                  <a:schemeClr val="tx1"/>
                </a:solidFill>
                <a:effectLst/>
                <a:latin typeface="Consolas" panose="020B0609020204030204" pitchFamily="49" charset="0"/>
              </a:rPr>
              <a:t>constructor;</a:t>
            </a:r>
            <a:br>
              <a:rPr kumimoji="0" lang="en-US" altLang="en-US" sz="2400" b="0" i="0" u="none" strike="noStrike" cap="none" normalizeH="0" baseline="0">
                <a:ln>
                  <a:noFill/>
                </a:ln>
                <a:solidFill>
                  <a:schemeClr val="tx1"/>
                </a:solidFill>
                <a:effectLst/>
                <a:latin typeface="Consolas" panose="020B0609020204030204" pitchFamily="49" charset="0"/>
              </a:rPr>
            </a:br>
            <a:r>
              <a:rPr kumimoji="0" lang="en-US" altLang="en-US" sz="2400" b="0" i="0" u="none" strike="noStrike" cap="none" normalizeH="0" baseline="0">
                <a:ln>
                  <a:noFill/>
                </a:ln>
                <a:solidFill>
                  <a:schemeClr val="tx1"/>
                </a:solidFill>
                <a:effectLst/>
                <a:latin typeface="Consolas" panose="020B0609020204030204" pitchFamily="49" charset="0"/>
              </a:rPr>
              <a:t>nested class;</a:t>
            </a:r>
            <a:br>
              <a:rPr kumimoji="0" lang="en-US" altLang="en-US" sz="2400" b="0" i="0" u="none" strike="noStrike" cap="none" normalizeH="0" baseline="0">
                <a:ln>
                  <a:noFill/>
                </a:ln>
                <a:solidFill>
                  <a:schemeClr val="tx1"/>
                </a:solidFill>
                <a:effectLst/>
                <a:latin typeface="Consolas" panose="020B0609020204030204" pitchFamily="49" charset="0"/>
              </a:rPr>
            </a:br>
            <a:r>
              <a:rPr kumimoji="0" lang="en-US" altLang="en-US" sz="2400" b="0" i="0" u="none" strike="noStrike" cap="none" normalizeH="0" baseline="0">
                <a:ln>
                  <a:noFill/>
                </a:ln>
                <a:solidFill>
                  <a:schemeClr val="tx1"/>
                </a:solidFill>
                <a:effectLst/>
                <a:latin typeface="Consolas" panose="020B0609020204030204" pitchFamily="49" charset="0"/>
              </a:rPr>
              <a:t>interface;</a:t>
            </a:r>
            <a:br>
              <a:rPr kumimoji="0" lang="en-US" altLang="en-US" sz="2400" b="0" i="0" u="none" strike="noStrike" cap="none" normalizeH="0" baseline="0">
                <a:ln>
                  <a:noFill/>
                </a:ln>
                <a:solidFill>
                  <a:schemeClr val="tx1"/>
                </a:solidFill>
                <a:effectLst/>
                <a:latin typeface="Consolas" panose="020B0609020204030204" pitchFamily="49" charset="0"/>
              </a:rPr>
            </a:br>
            <a:r>
              <a:rPr kumimoji="0" lang="en-US" altLang="en-US" sz="2400" b="0" i="0" u="none" strike="noStrike" cap="none" normalizeH="0" baseline="0">
                <a:ln>
                  <a:noFill/>
                </a:ln>
                <a:solidFill>
                  <a:schemeClr val="tx1"/>
                </a:solidFill>
                <a:effectLst/>
                <a:latin typeface="Consolas" panose="020B0609020204030204" pitchFamily="49" charset="0"/>
              </a:rPr>
              <a:t>}</a:t>
            </a:r>
            <a:r>
              <a:rPr kumimoji="0" lang="en-US" altLang="en-US" sz="1200" b="0" i="0" u="none" strike="noStrike" cap="none" normalizeH="0" baseline="0">
                <a:ln>
                  <a:noFill/>
                </a:ln>
                <a:solidFill>
                  <a:schemeClr val="tx1"/>
                </a:solidFill>
                <a:effectLst/>
              </a:rPr>
              <a:t> </a:t>
            </a:r>
            <a:endParaRPr kumimoji="0" lang="en-US" altLang="en-US" sz="36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F37F2738-D0EB-4F7A-29C4-D1B1A29A03DB}"/>
              </a:ext>
            </a:extLst>
          </p:cNvPr>
          <p:cNvSpPr txBox="1"/>
          <p:nvPr/>
        </p:nvSpPr>
        <p:spPr>
          <a:xfrm>
            <a:off x="6962273" y="1818416"/>
            <a:ext cx="4908884" cy="4801314"/>
          </a:xfrm>
          <a:prstGeom prst="rect">
            <a:avLst/>
          </a:prstGeom>
          <a:noFill/>
        </p:spPr>
        <p:txBody>
          <a:bodyPr wrap="square">
            <a:spAutoFit/>
          </a:bodyPr>
          <a:lstStyle/>
          <a:p>
            <a:r>
              <a:rPr lang="en-IN" dirty="0"/>
              <a:t>// Java Program for class example</a:t>
            </a:r>
          </a:p>
          <a:p>
            <a:endParaRPr lang="en-IN" dirty="0"/>
          </a:p>
          <a:p>
            <a:r>
              <a:rPr lang="en-IN" dirty="0"/>
              <a:t>class Student {</a:t>
            </a:r>
          </a:p>
          <a:p>
            <a:r>
              <a:rPr lang="en-IN" dirty="0"/>
              <a:t>    // data member (also instance variable)</a:t>
            </a:r>
          </a:p>
          <a:p>
            <a:r>
              <a:rPr lang="en-IN" dirty="0"/>
              <a:t>    int id;</a:t>
            </a:r>
          </a:p>
          <a:p>
            <a:r>
              <a:rPr lang="en-IN" dirty="0"/>
              <a:t>    // data member (also instance variable)</a:t>
            </a:r>
          </a:p>
          <a:p>
            <a:r>
              <a:rPr lang="en-IN" dirty="0"/>
              <a:t>    String name;</a:t>
            </a:r>
          </a:p>
          <a:p>
            <a:endParaRPr lang="en-IN" dirty="0"/>
          </a:p>
          <a:p>
            <a:r>
              <a:rPr lang="en-IN" dirty="0"/>
              <a:t>    public static void main(String </a:t>
            </a:r>
            <a:r>
              <a:rPr lang="en-IN" dirty="0" err="1"/>
              <a:t>args</a:t>
            </a:r>
            <a:r>
              <a:rPr lang="en-IN" dirty="0"/>
              <a:t>[])</a:t>
            </a:r>
          </a:p>
          <a:p>
            <a:r>
              <a:rPr lang="en-IN" dirty="0"/>
              <a:t>    {</a:t>
            </a:r>
          </a:p>
          <a:p>
            <a:r>
              <a:rPr lang="en-IN" dirty="0"/>
              <a:t>        // creating an object of</a:t>
            </a:r>
          </a:p>
          <a:p>
            <a:r>
              <a:rPr lang="en-IN" dirty="0"/>
              <a:t>        // Student</a:t>
            </a:r>
          </a:p>
          <a:p>
            <a:r>
              <a:rPr lang="en-IN" dirty="0"/>
              <a:t>        Student s1 = new Student();</a:t>
            </a:r>
          </a:p>
          <a:p>
            <a:r>
              <a:rPr lang="en-IN" dirty="0"/>
              <a:t>        </a:t>
            </a:r>
            <a:r>
              <a:rPr lang="en-IN" dirty="0" err="1"/>
              <a:t>System.out.println</a:t>
            </a:r>
            <a:r>
              <a:rPr lang="en-IN" dirty="0"/>
              <a:t>(s1.id);</a:t>
            </a:r>
          </a:p>
          <a:p>
            <a:r>
              <a:rPr lang="en-IN" dirty="0"/>
              <a:t>        </a:t>
            </a:r>
            <a:r>
              <a:rPr lang="en-IN" dirty="0" err="1"/>
              <a:t>System.out.println</a:t>
            </a:r>
            <a:r>
              <a:rPr lang="en-IN" dirty="0"/>
              <a:t>(s1.name);</a:t>
            </a:r>
          </a:p>
          <a:p>
            <a:r>
              <a:rPr lang="en-IN" dirty="0"/>
              <a:t>    }</a:t>
            </a:r>
          </a:p>
          <a:p>
            <a:r>
              <a:rPr lang="en-IN" dirty="0"/>
              <a:t>}</a:t>
            </a:r>
          </a:p>
        </p:txBody>
      </p:sp>
    </p:spTree>
    <p:extLst>
      <p:ext uri="{BB962C8B-B14F-4D97-AF65-F5344CB8AC3E}">
        <p14:creationId xmlns:p14="http://schemas.microsoft.com/office/powerpoint/2010/main" val="3455678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845-7452-3CEC-6BEC-710F9D92F01A}"/>
              </a:ext>
            </a:extLst>
          </p:cNvPr>
          <p:cNvSpPr>
            <a:spLocks noGrp="1"/>
          </p:cNvSpPr>
          <p:nvPr>
            <p:ph type="title"/>
          </p:nvPr>
        </p:nvSpPr>
        <p:spPr/>
        <p:txBody>
          <a:bodyPr/>
          <a:lstStyle/>
          <a:p>
            <a:r>
              <a:rPr lang="en-IN" dirty="0"/>
              <a:t>Components of Java Classes</a:t>
            </a:r>
          </a:p>
        </p:txBody>
      </p:sp>
      <p:sp>
        <p:nvSpPr>
          <p:cNvPr id="3" name="Content Placeholder 2">
            <a:extLst>
              <a:ext uri="{FF2B5EF4-FFF2-40B4-BE49-F238E27FC236}">
                <a16:creationId xmlns:a16="http://schemas.microsoft.com/office/drawing/2014/main" id="{AA2C5560-E5C4-FC00-2D74-E11151A25955}"/>
              </a:ext>
            </a:extLst>
          </p:cNvPr>
          <p:cNvSpPr>
            <a:spLocks noGrp="1"/>
          </p:cNvSpPr>
          <p:nvPr>
            <p:ph idx="1"/>
          </p:nvPr>
        </p:nvSpPr>
        <p:spPr/>
        <p:txBody>
          <a:bodyPr>
            <a:normAutofit fontScale="92500"/>
          </a:bodyPr>
          <a:lstStyle/>
          <a:p>
            <a:r>
              <a:rPr lang="en-US" dirty="0"/>
              <a:t>In general, class declarations can include these components, in order:</a:t>
            </a:r>
          </a:p>
          <a:p>
            <a:endParaRPr lang="en-US" dirty="0"/>
          </a:p>
          <a:p>
            <a:pPr marL="914400" lvl="1" indent="-457200">
              <a:buFont typeface="+mj-lt"/>
              <a:buAutoNum type="arabicPeriod"/>
            </a:pPr>
            <a:r>
              <a:rPr lang="en-US" dirty="0"/>
              <a:t> Modifiers  : A class can be public or has default access (Refer  this  for details). </a:t>
            </a:r>
          </a:p>
          <a:p>
            <a:pPr marL="914400" lvl="1" indent="-457200">
              <a:buFont typeface="+mj-lt"/>
              <a:buAutoNum type="arabicPeriod"/>
            </a:pPr>
            <a:r>
              <a:rPr lang="en-US" dirty="0"/>
              <a:t> Class keyword:  class keyword is used to create a class. </a:t>
            </a:r>
          </a:p>
          <a:p>
            <a:pPr marL="914400" lvl="1" indent="-457200">
              <a:buFont typeface="+mj-lt"/>
              <a:buAutoNum type="arabicPeriod"/>
            </a:pPr>
            <a:r>
              <a:rPr lang="en-US" dirty="0"/>
              <a:t> Class name:  The name should begin with an initial letter (capitalized by convention). </a:t>
            </a:r>
          </a:p>
          <a:p>
            <a:pPr marL="914400" lvl="1" indent="-457200">
              <a:buFont typeface="+mj-lt"/>
              <a:buAutoNum type="arabicPeriod"/>
            </a:pPr>
            <a:r>
              <a:rPr lang="en-US" dirty="0"/>
              <a:t> Superclass(if any):  The name of the class’s parent (superclass), if any, preceded by the keyword extends. A class can only extend (subclass) one parent. </a:t>
            </a:r>
          </a:p>
          <a:p>
            <a:pPr marL="914400" lvl="1" indent="-457200">
              <a:buFont typeface="+mj-lt"/>
              <a:buAutoNum type="arabicPeriod"/>
            </a:pPr>
            <a:r>
              <a:rPr lang="en-US" dirty="0"/>
              <a:t> Interfaces(if any):  A comma-separated list of interfaces implemented by the class, if any, preceded by the keyword implements. A class can implement more than one interface. </a:t>
            </a:r>
          </a:p>
          <a:p>
            <a:pPr marL="914400" lvl="1" indent="-457200">
              <a:buFont typeface="+mj-lt"/>
              <a:buAutoNum type="arabicPeriod"/>
            </a:pPr>
            <a:r>
              <a:rPr lang="en-US" dirty="0"/>
              <a:t> Body:  The class body is surrounded by braces, { }. </a:t>
            </a:r>
            <a:endParaRPr lang="en-IN" dirty="0"/>
          </a:p>
        </p:txBody>
      </p:sp>
    </p:spTree>
    <p:extLst>
      <p:ext uri="{BB962C8B-B14F-4D97-AF65-F5344CB8AC3E}">
        <p14:creationId xmlns:p14="http://schemas.microsoft.com/office/powerpoint/2010/main" val="1977398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0D2C8-430D-B874-DDFD-A0B045EECE1E}"/>
              </a:ext>
            </a:extLst>
          </p:cNvPr>
          <p:cNvSpPr>
            <a:spLocks noGrp="1"/>
          </p:cNvSpPr>
          <p:nvPr>
            <p:ph type="title"/>
          </p:nvPr>
        </p:nvSpPr>
        <p:spPr>
          <a:xfrm>
            <a:off x="465221" y="365126"/>
            <a:ext cx="10888579" cy="453022"/>
          </a:xfrm>
        </p:spPr>
        <p:txBody>
          <a:bodyPr>
            <a:normAutofit fontScale="90000"/>
          </a:bodyPr>
          <a:lstStyle/>
          <a:p>
            <a:r>
              <a:rPr lang="en-IN" dirty="0"/>
              <a:t>Java Objects</a:t>
            </a:r>
          </a:p>
        </p:txBody>
      </p:sp>
      <p:sp>
        <p:nvSpPr>
          <p:cNvPr id="3" name="Content Placeholder 2">
            <a:extLst>
              <a:ext uri="{FF2B5EF4-FFF2-40B4-BE49-F238E27FC236}">
                <a16:creationId xmlns:a16="http://schemas.microsoft.com/office/drawing/2014/main" id="{808EA45B-6FF7-F0C7-F42E-F50359D2FCBC}"/>
              </a:ext>
            </a:extLst>
          </p:cNvPr>
          <p:cNvSpPr>
            <a:spLocks noGrp="1"/>
          </p:cNvSpPr>
          <p:nvPr>
            <p:ph idx="1"/>
          </p:nvPr>
        </p:nvSpPr>
        <p:spPr>
          <a:xfrm>
            <a:off x="966536" y="975393"/>
            <a:ext cx="10888579" cy="3708901"/>
          </a:xfrm>
        </p:spPr>
        <p:txBody>
          <a:bodyPr>
            <a:normAutofit lnSpcReduction="10000"/>
          </a:bodyPr>
          <a:lstStyle/>
          <a:p>
            <a:r>
              <a:rPr lang="en-US" dirty="0"/>
              <a:t>An object in Java is a basic unit of Object-Oriented Programming and represents real-life entities. </a:t>
            </a:r>
          </a:p>
          <a:p>
            <a:r>
              <a:rPr lang="en-US" dirty="0"/>
              <a:t>Objects are the instances of a class that are created to use the attributes and methods of a class</a:t>
            </a:r>
          </a:p>
          <a:p>
            <a:pPr marL="914400" lvl="1" indent="-457200">
              <a:buFont typeface="+mj-lt"/>
              <a:buAutoNum type="arabicPeriod"/>
            </a:pPr>
            <a:r>
              <a:rPr lang="en-US" dirty="0"/>
              <a:t>State : It is represented by attributes of an object. It also reflects the properties of an object.</a:t>
            </a:r>
          </a:p>
          <a:p>
            <a:pPr marL="914400" lvl="1" indent="-457200">
              <a:buFont typeface="+mj-lt"/>
              <a:buAutoNum type="arabicPeriod"/>
            </a:pPr>
            <a:r>
              <a:rPr lang="en-US" dirty="0"/>
              <a:t>Behavior : It is represented by the methods of an object. It also reflects the response of an object with other objects.</a:t>
            </a:r>
          </a:p>
          <a:p>
            <a:pPr marL="914400" lvl="1" indent="-457200">
              <a:buFont typeface="+mj-lt"/>
              <a:buAutoNum type="arabicPeriod"/>
            </a:pPr>
            <a:r>
              <a:rPr lang="en-US" dirty="0"/>
              <a:t>Identity : It gives a unique name to an object and enables one object to interact with other objects.</a:t>
            </a:r>
            <a:endParaRPr lang="en-IN" dirty="0"/>
          </a:p>
        </p:txBody>
      </p:sp>
      <p:sp>
        <p:nvSpPr>
          <p:cNvPr id="5" name="TextBox 4">
            <a:extLst>
              <a:ext uri="{FF2B5EF4-FFF2-40B4-BE49-F238E27FC236}">
                <a16:creationId xmlns:a16="http://schemas.microsoft.com/office/drawing/2014/main" id="{68464DEF-78B2-A247-B409-DDEFB27F55A3}"/>
              </a:ext>
            </a:extLst>
          </p:cNvPr>
          <p:cNvSpPr txBox="1"/>
          <p:nvPr/>
        </p:nvSpPr>
        <p:spPr>
          <a:xfrm>
            <a:off x="336885" y="4472207"/>
            <a:ext cx="6096000" cy="369332"/>
          </a:xfrm>
          <a:prstGeom prst="rect">
            <a:avLst/>
          </a:prstGeom>
          <a:noFill/>
        </p:spPr>
        <p:txBody>
          <a:bodyPr wrap="square">
            <a:spAutoFit/>
          </a:bodyPr>
          <a:lstStyle/>
          <a:p>
            <a:r>
              <a:rPr lang="en-US" dirty="0"/>
              <a:t>Example of an object: dog</a:t>
            </a:r>
            <a:endParaRPr lang="en-IN" dirty="0"/>
          </a:p>
        </p:txBody>
      </p:sp>
      <p:pic>
        <p:nvPicPr>
          <p:cNvPr id="6" name="Picture 5">
            <a:extLst>
              <a:ext uri="{FF2B5EF4-FFF2-40B4-BE49-F238E27FC236}">
                <a16:creationId xmlns:a16="http://schemas.microsoft.com/office/drawing/2014/main" id="{37FDFC7B-6029-C56B-8EE9-3107CE41803F}"/>
              </a:ext>
            </a:extLst>
          </p:cNvPr>
          <p:cNvPicPr>
            <a:picLocks noChangeAspect="1"/>
          </p:cNvPicPr>
          <p:nvPr/>
        </p:nvPicPr>
        <p:blipFill>
          <a:blip r:embed="rId2"/>
          <a:srcRect l="3070" t="18338" r="3290" b="13380"/>
          <a:stretch/>
        </p:blipFill>
        <p:spPr>
          <a:xfrm>
            <a:off x="2807368" y="4841539"/>
            <a:ext cx="6849980" cy="1651973"/>
          </a:xfrm>
          <a:prstGeom prst="rect">
            <a:avLst/>
          </a:prstGeom>
        </p:spPr>
      </p:pic>
    </p:spTree>
    <p:extLst>
      <p:ext uri="{BB962C8B-B14F-4D97-AF65-F5344CB8AC3E}">
        <p14:creationId xmlns:p14="http://schemas.microsoft.com/office/powerpoint/2010/main" val="3972224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5E3D0-AC39-CCB8-9D20-371FD06CC222}"/>
              </a:ext>
            </a:extLst>
          </p:cNvPr>
          <p:cNvSpPr>
            <a:spLocks noGrp="1"/>
          </p:cNvSpPr>
          <p:nvPr>
            <p:ph type="title"/>
          </p:nvPr>
        </p:nvSpPr>
        <p:spPr/>
        <p:txBody>
          <a:bodyPr/>
          <a:lstStyle/>
          <a:p>
            <a:r>
              <a:rPr lang="en-US" dirty="0"/>
              <a:t>Declaring Objects (Also called instantiating a class)</a:t>
            </a:r>
            <a:endParaRPr lang="en-IN" dirty="0"/>
          </a:p>
        </p:txBody>
      </p:sp>
      <p:sp>
        <p:nvSpPr>
          <p:cNvPr id="3" name="Content Placeholder 2">
            <a:extLst>
              <a:ext uri="{FF2B5EF4-FFF2-40B4-BE49-F238E27FC236}">
                <a16:creationId xmlns:a16="http://schemas.microsoft.com/office/drawing/2014/main" id="{DCC8AEA5-1060-A9BC-C5DD-CC440E27B94B}"/>
              </a:ext>
            </a:extLst>
          </p:cNvPr>
          <p:cNvSpPr>
            <a:spLocks noGrp="1"/>
          </p:cNvSpPr>
          <p:nvPr>
            <p:ph idx="1"/>
          </p:nvPr>
        </p:nvSpPr>
        <p:spPr/>
        <p:txBody>
          <a:bodyPr/>
          <a:lstStyle/>
          <a:p>
            <a:r>
              <a:rPr lang="en-US" dirty="0"/>
              <a:t>When an object of a class is created, the class is said to be instantiated . All the instances share the attributes and the behavior of the class. But the values of those attributes, i.e. the state are unique for each object. A single class may have any number of instances.</a:t>
            </a:r>
            <a:endParaRPr lang="en-IN" dirty="0"/>
          </a:p>
        </p:txBody>
      </p:sp>
      <p:pic>
        <p:nvPicPr>
          <p:cNvPr id="4" name="Picture 3">
            <a:extLst>
              <a:ext uri="{FF2B5EF4-FFF2-40B4-BE49-F238E27FC236}">
                <a16:creationId xmlns:a16="http://schemas.microsoft.com/office/drawing/2014/main" id="{234469F9-E450-3FAF-9B6B-C9A577708A2D}"/>
              </a:ext>
            </a:extLst>
          </p:cNvPr>
          <p:cNvPicPr>
            <a:picLocks noChangeAspect="1"/>
          </p:cNvPicPr>
          <p:nvPr/>
        </p:nvPicPr>
        <p:blipFill>
          <a:blip r:embed="rId2"/>
          <a:stretch>
            <a:fillRect/>
          </a:stretch>
        </p:blipFill>
        <p:spPr>
          <a:xfrm>
            <a:off x="3593432" y="3436854"/>
            <a:ext cx="6112042" cy="3056021"/>
          </a:xfrm>
          <a:prstGeom prst="rect">
            <a:avLst/>
          </a:prstGeom>
        </p:spPr>
      </p:pic>
    </p:spTree>
    <p:extLst>
      <p:ext uri="{BB962C8B-B14F-4D97-AF65-F5344CB8AC3E}">
        <p14:creationId xmlns:p14="http://schemas.microsoft.com/office/powerpoint/2010/main" val="161588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3C089-0B6F-5B41-9713-6E02BBB6F81A}"/>
              </a:ext>
            </a:extLst>
          </p:cNvPr>
          <p:cNvSpPr>
            <a:spLocks noGrp="1"/>
          </p:cNvSpPr>
          <p:nvPr>
            <p:ph type="title"/>
          </p:nvPr>
        </p:nvSpPr>
        <p:spPr/>
        <p:txBody>
          <a:bodyPr/>
          <a:lstStyle/>
          <a:p>
            <a:r>
              <a:rPr lang="en-IN" dirty="0"/>
              <a:t>Initializing a Java object</a:t>
            </a:r>
          </a:p>
        </p:txBody>
      </p:sp>
      <p:sp>
        <p:nvSpPr>
          <p:cNvPr id="3" name="Content Placeholder 2">
            <a:extLst>
              <a:ext uri="{FF2B5EF4-FFF2-40B4-BE49-F238E27FC236}">
                <a16:creationId xmlns:a16="http://schemas.microsoft.com/office/drawing/2014/main" id="{37D0AEEF-16FF-B82A-4D10-BF8CE44FA6F0}"/>
              </a:ext>
            </a:extLst>
          </p:cNvPr>
          <p:cNvSpPr>
            <a:spLocks noGrp="1"/>
          </p:cNvSpPr>
          <p:nvPr>
            <p:ph idx="1"/>
          </p:nvPr>
        </p:nvSpPr>
        <p:spPr/>
        <p:txBody>
          <a:bodyPr/>
          <a:lstStyle/>
          <a:p>
            <a:r>
              <a:rPr lang="en-US" dirty="0"/>
              <a:t>The new operator instantiates a class by allocating memory for a new object and returning a reference to that memory. The new operator also invokes the class constructor.</a:t>
            </a:r>
            <a:endParaRPr lang="en-IN" dirty="0"/>
          </a:p>
        </p:txBody>
      </p:sp>
    </p:spTree>
    <p:extLst>
      <p:ext uri="{BB962C8B-B14F-4D97-AF65-F5344CB8AC3E}">
        <p14:creationId xmlns:p14="http://schemas.microsoft.com/office/powerpoint/2010/main" val="230347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F53C4-CF38-E23A-753C-EA4462372D37}"/>
              </a:ext>
            </a:extLst>
          </p:cNvPr>
          <p:cNvSpPr>
            <a:spLocks noGrp="1"/>
          </p:cNvSpPr>
          <p:nvPr>
            <p:ph type="title"/>
          </p:nvPr>
        </p:nvSpPr>
        <p:spPr>
          <a:xfrm>
            <a:off x="127819" y="0"/>
            <a:ext cx="10331245" cy="599307"/>
          </a:xfrm>
        </p:spPr>
        <p:txBody>
          <a:bodyPr>
            <a:normAutofit fontScale="90000"/>
          </a:bodyPr>
          <a:lstStyle/>
          <a:p>
            <a:r>
              <a:rPr lang="en-IN" dirty="0"/>
              <a:t>Example :1 </a:t>
            </a:r>
          </a:p>
        </p:txBody>
      </p:sp>
      <p:sp>
        <p:nvSpPr>
          <p:cNvPr id="5" name="Content Placeholder 4">
            <a:extLst>
              <a:ext uri="{FF2B5EF4-FFF2-40B4-BE49-F238E27FC236}">
                <a16:creationId xmlns:a16="http://schemas.microsoft.com/office/drawing/2014/main" id="{DF6977F7-544D-F248-C86D-F0696D110B84}"/>
              </a:ext>
            </a:extLst>
          </p:cNvPr>
          <p:cNvSpPr>
            <a:spLocks noGrp="1"/>
          </p:cNvSpPr>
          <p:nvPr>
            <p:ph idx="1"/>
          </p:nvPr>
        </p:nvSpPr>
        <p:spPr>
          <a:xfrm>
            <a:off x="501445" y="875071"/>
            <a:ext cx="11208774" cy="5633884"/>
          </a:xfrm>
        </p:spPr>
        <p:txBody>
          <a:bodyPr numCol="2">
            <a:normAutofit fontScale="40000" lnSpcReduction="20000"/>
          </a:bodyPr>
          <a:lstStyle/>
          <a:p>
            <a:pPr marL="0" indent="0">
              <a:buNone/>
            </a:pPr>
            <a:r>
              <a:rPr lang="en-IN" b="0" dirty="0">
                <a:solidFill>
                  <a:srgbClr val="008000"/>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pPr marL="0" indent="0">
              <a:buNone/>
            </a:pPr>
            <a:r>
              <a:rPr lang="en-IN" b="0" dirty="0">
                <a:solidFill>
                  <a:srgbClr val="008000"/>
                </a:solidFill>
                <a:effectLst/>
                <a:latin typeface="Consolas" panose="020B0609020204030204" pitchFamily="49" charset="0"/>
              </a:rPr>
              <a:t> * dog</a:t>
            </a:r>
            <a:endParaRPr lang="en-IN" b="0" dirty="0">
              <a:solidFill>
                <a:srgbClr val="000000"/>
              </a:solidFill>
              <a:effectLst/>
              <a:latin typeface="Consolas" panose="020B0609020204030204" pitchFamily="49" charset="0"/>
            </a:endParaRPr>
          </a:p>
          <a:p>
            <a:pPr marL="0" indent="0">
              <a:buNone/>
            </a:pPr>
            <a:r>
              <a:rPr lang="en-IN" b="0" dirty="0">
                <a:solidFill>
                  <a:srgbClr val="008000"/>
                </a:solidFill>
                <a:effectLst/>
                <a:latin typeface="Consolas" panose="020B0609020204030204" pitchFamily="49" charset="0"/>
              </a:rPr>
              <a:t> */</a:t>
            </a:r>
            <a:endParaRPr lang="en-IN" b="0" dirty="0">
              <a:solidFill>
                <a:srgbClr val="000000"/>
              </a:solidFill>
              <a:effectLst/>
              <a:latin typeface="Consolas" panose="020B0609020204030204" pitchFamily="49" charset="0"/>
            </a:endParaRPr>
          </a:p>
          <a:p>
            <a:pPr marL="0" indent="0">
              <a:buNone/>
            </a:pP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dog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Instance Variables</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name;</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breed;</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int</a:t>
            </a:r>
            <a:r>
              <a:rPr lang="en-IN" b="0" dirty="0">
                <a:solidFill>
                  <a:srgbClr val="000000"/>
                </a:solidFill>
                <a:effectLst/>
                <a:latin typeface="Consolas" panose="020B0609020204030204" pitchFamily="49" charset="0"/>
              </a:rPr>
              <a:t> age;</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color</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Constructor Declaration of Class</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dog(</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name,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breed, </a:t>
            </a:r>
            <a:r>
              <a:rPr lang="en-IN" b="0" dirty="0">
                <a:solidFill>
                  <a:srgbClr val="0000FF"/>
                </a:solidFill>
                <a:effectLst/>
                <a:latin typeface="Consolas" panose="020B0609020204030204" pitchFamily="49" charset="0"/>
              </a:rPr>
              <a:t>int</a:t>
            </a:r>
            <a:r>
              <a:rPr lang="en-IN" b="0" dirty="0">
                <a:solidFill>
                  <a:srgbClr val="000000"/>
                </a:solidFill>
                <a:effectLst/>
                <a:latin typeface="Consolas" panose="020B0609020204030204" pitchFamily="49" charset="0"/>
              </a:rPr>
              <a:t> age,</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color</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.name = name;</a:t>
            </a:r>
          </a:p>
          <a:p>
            <a:pPr marL="0" indent="0">
              <a:buNone/>
            </a:pP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.breed</a:t>
            </a:r>
            <a:r>
              <a:rPr lang="en-IN" b="0" dirty="0">
                <a:solidFill>
                  <a:srgbClr val="000000"/>
                </a:solidFill>
                <a:effectLst/>
                <a:latin typeface="Consolas" panose="020B0609020204030204" pitchFamily="49" charset="0"/>
              </a:rPr>
              <a:t> = breed;</a:t>
            </a:r>
          </a:p>
          <a:p>
            <a:pPr marL="0" indent="0">
              <a:buNone/>
            </a:pP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.age</a:t>
            </a:r>
            <a:r>
              <a:rPr lang="en-IN" b="0" dirty="0">
                <a:solidFill>
                  <a:srgbClr val="000000"/>
                </a:solidFill>
                <a:effectLst/>
                <a:latin typeface="Consolas" panose="020B0609020204030204" pitchFamily="49" charset="0"/>
              </a:rPr>
              <a:t> = age;</a:t>
            </a:r>
          </a:p>
          <a:p>
            <a:pPr marL="0" indent="0">
              <a:buNone/>
            </a:pP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.color</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color</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method 1</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getName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name;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method 2</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getBreed</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breed;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method 3</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int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getAge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age;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method 4</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getColor</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color</a:t>
            </a: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Override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toString</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"Hi my name is "</a:t>
            </a:r>
            <a:r>
              <a:rPr lang="en-IN" b="0" dirty="0">
                <a:solidFill>
                  <a:srgbClr val="000000"/>
                </a:solidFill>
                <a:effectLst/>
                <a:latin typeface="Consolas" panose="020B0609020204030204" pitchFamily="49" charset="0"/>
              </a:rPr>
              <a:t> +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.getName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nMy</a:t>
            </a:r>
            <a:r>
              <a:rPr lang="en-IN" b="0" dirty="0">
                <a:solidFill>
                  <a:srgbClr val="A31515"/>
                </a:solidFill>
                <a:effectLst/>
                <a:latin typeface="Consolas" panose="020B0609020204030204" pitchFamily="49" charset="0"/>
              </a:rPr>
              <a:t> </a:t>
            </a:r>
            <a:r>
              <a:rPr lang="en-IN" b="0" dirty="0" err="1">
                <a:solidFill>
                  <a:srgbClr val="A31515"/>
                </a:solidFill>
                <a:effectLst/>
                <a:latin typeface="Consolas" panose="020B0609020204030204" pitchFamily="49" charset="0"/>
              </a:rPr>
              <a:t>breed,age</a:t>
            </a:r>
            <a:r>
              <a:rPr lang="en-IN" b="0" dirty="0">
                <a:solidFill>
                  <a:srgbClr val="A31515"/>
                </a:solidFill>
                <a:effectLst/>
                <a:latin typeface="Consolas" panose="020B0609020204030204" pitchFamily="49" charset="0"/>
              </a:rPr>
              <a:t> and </a:t>
            </a:r>
            <a:r>
              <a:rPr lang="en-IN" b="0" dirty="0" err="1">
                <a:solidFill>
                  <a:srgbClr val="A31515"/>
                </a:solidFill>
                <a:effectLst/>
                <a:latin typeface="Consolas" panose="020B0609020204030204" pitchFamily="49" charset="0"/>
              </a:rPr>
              <a:t>color</a:t>
            </a:r>
            <a:r>
              <a:rPr lang="en-IN" b="0" dirty="0">
                <a:solidFill>
                  <a:srgbClr val="A31515"/>
                </a:solidFill>
                <a:effectLst/>
                <a:latin typeface="Consolas" panose="020B0609020204030204" pitchFamily="49" charset="0"/>
              </a:rPr>
              <a:t> are "</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.getBreed</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.getAge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.getColor</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void</a:t>
            </a:r>
            <a:r>
              <a:rPr lang="en-IN" b="0" dirty="0">
                <a:solidFill>
                  <a:srgbClr val="000000"/>
                </a:solidFill>
                <a:effectLst/>
                <a:latin typeface="Consolas" panose="020B0609020204030204" pitchFamily="49" charset="0"/>
              </a:rPr>
              <a:t> main(</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args</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dog </a:t>
            </a:r>
            <a:r>
              <a:rPr lang="en-IN" b="0" dirty="0" err="1">
                <a:solidFill>
                  <a:srgbClr val="000000"/>
                </a:solidFill>
                <a:effectLst/>
                <a:latin typeface="Consolas" panose="020B0609020204030204" pitchFamily="49" charset="0"/>
              </a:rPr>
              <a:t>tuffy</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dog(</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tuffy</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"papillon"</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"white"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System.out.println</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tuffy.toString</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endParaRPr lang="en-IN" dirty="0"/>
          </a:p>
        </p:txBody>
      </p:sp>
    </p:spTree>
    <p:extLst>
      <p:ext uri="{BB962C8B-B14F-4D97-AF65-F5344CB8AC3E}">
        <p14:creationId xmlns:p14="http://schemas.microsoft.com/office/powerpoint/2010/main" val="2656406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841EC-F060-EA29-C8BD-DD4D68DA6676}"/>
              </a:ext>
            </a:extLst>
          </p:cNvPr>
          <p:cNvSpPr>
            <a:spLocks noGrp="1"/>
          </p:cNvSpPr>
          <p:nvPr>
            <p:ph type="title"/>
          </p:nvPr>
        </p:nvSpPr>
        <p:spPr>
          <a:xfrm>
            <a:off x="838200" y="365126"/>
            <a:ext cx="10515600" cy="726256"/>
          </a:xfrm>
        </p:spPr>
        <p:txBody>
          <a:bodyPr>
            <a:normAutofit/>
          </a:bodyPr>
          <a:lstStyle/>
          <a:p>
            <a:r>
              <a:rPr lang="en-IN" sz="3600" dirty="0"/>
              <a:t>Example 2 : </a:t>
            </a:r>
            <a:r>
              <a:rPr lang="en-US" sz="3600" dirty="0"/>
              <a:t>Initialize by using method/function</a:t>
            </a:r>
            <a:endParaRPr lang="en-IN" sz="3600" dirty="0"/>
          </a:p>
        </p:txBody>
      </p:sp>
      <p:sp>
        <p:nvSpPr>
          <p:cNvPr id="3" name="Content Placeholder 2">
            <a:extLst>
              <a:ext uri="{FF2B5EF4-FFF2-40B4-BE49-F238E27FC236}">
                <a16:creationId xmlns:a16="http://schemas.microsoft.com/office/drawing/2014/main" id="{EC1CA76F-2188-A60E-6C0D-37EF6C619FDA}"/>
              </a:ext>
            </a:extLst>
          </p:cNvPr>
          <p:cNvSpPr>
            <a:spLocks noGrp="1"/>
          </p:cNvSpPr>
          <p:nvPr>
            <p:ph idx="1"/>
          </p:nvPr>
        </p:nvSpPr>
        <p:spPr/>
        <p:txBody>
          <a:bodyPr numCol="2">
            <a:normAutofit fontScale="55000" lnSpcReduction="20000"/>
          </a:bodyPr>
          <a:lstStyle/>
          <a:p>
            <a:pPr marL="0" indent="0">
              <a:buNone/>
            </a:pP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GFG {</a:t>
            </a:r>
          </a:p>
          <a:p>
            <a:pPr marL="0" indent="0">
              <a:buNone/>
            </a:pP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a:t>
            </a:r>
            <a:r>
              <a:rPr lang="en-IN" b="0" dirty="0" err="1">
                <a:solidFill>
                  <a:srgbClr val="008000"/>
                </a:solidFill>
                <a:effectLst/>
                <a:latin typeface="Consolas" panose="020B0609020204030204" pitchFamily="49" charset="0"/>
              </a:rPr>
              <a:t>sw</a:t>
            </a:r>
            <a:r>
              <a:rPr lang="en-IN" b="0" dirty="0">
                <a:solidFill>
                  <a:srgbClr val="008000"/>
                </a:solidFill>
                <a:effectLst/>
                <a:latin typeface="Consolas" panose="020B0609020204030204" pitchFamily="49" charset="0"/>
              </a:rPr>
              <a:t>=software</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sw_name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float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sw_price</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void</a:t>
            </a:r>
            <a:r>
              <a:rPr lang="en-IN" b="0" dirty="0">
                <a:solidFill>
                  <a:srgbClr val="000000"/>
                </a:solidFill>
                <a:effectLst/>
                <a:latin typeface="Consolas" panose="020B0609020204030204" pitchFamily="49" charset="0"/>
              </a:rPr>
              <a:t> set(</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n, </a:t>
            </a:r>
            <a:r>
              <a:rPr lang="en-IN" b="0" dirty="0">
                <a:solidFill>
                  <a:srgbClr val="0000FF"/>
                </a:solidFill>
                <a:effectLst/>
                <a:latin typeface="Consolas" panose="020B0609020204030204" pitchFamily="49" charset="0"/>
              </a:rPr>
              <a:t>float</a:t>
            </a:r>
            <a:r>
              <a:rPr lang="en-IN" b="0" dirty="0">
                <a:solidFill>
                  <a:srgbClr val="000000"/>
                </a:solidFill>
                <a:effectLst/>
                <a:latin typeface="Consolas" panose="020B0609020204030204" pitchFamily="49" charset="0"/>
              </a:rPr>
              <a:t> p)</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sw_name</a:t>
            </a:r>
            <a:r>
              <a:rPr lang="en-IN" b="0" dirty="0">
                <a:solidFill>
                  <a:srgbClr val="000000"/>
                </a:solidFill>
                <a:effectLst/>
                <a:latin typeface="Consolas" panose="020B0609020204030204" pitchFamily="49" charset="0"/>
              </a:rPr>
              <a:t> = n;</a:t>
            </a:r>
          </a:p>
          <a:p>
            <a:pPr marL="0" indent="0">
              <a:buNone/>
            </a:pP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sw_price</a:t>
            </a:r>
            <a:r>
              <a:rPr lang="en-IN" b="0" dirty="0">
                <a:solidFill>
                  <a:srgbClr val="000000"/>
                </a:solidFill>
                <a:effectLst/>
                <a:latin typeface="Consolas" panose="020B0609020204030204" pitchFamily="49" charset="0"/>
              </a:rPr>
              <a:t> = p;</a:t>
            </a: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void</a:t>
            </a:r>
            <a:r>
              <a:rPr lang="en-IN" b="0" dirty="0">
                <a:solidFill>
                  <a:srgbClr val="000000"/>
                </a:solidFill>
                <a:effectLst/>
                <a:latin typeface="Consolas" panose="020B0609020204030204" pitchFamily="49" charset="0"/>
              </a:rPr>
              <a:t> get()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System.out.println</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"Software name is: "</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sw_name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System.out.println</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"Software price is: "</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sw_price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public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void</a:t>
            </a:r>
            <a:r>
              <a:rPr lang="en-IN" b="0" dirty="0">
                <a:solidFill>
                  <a:srgbClr val="000000"/>
                </a:solidFill>
                <a:effectLst/>
                <a:latin typeface="Consolas" panose="020B0609020204030204" pitchFamily="49" charset="0"/>
              </a:rPr>
              <a:t> main(</a:t>
            </a:r>
            <a:r>
              <a:rPr lang="en-IN" b="0" dirty="0">
                <a:solidFill>
                  <a:srgbClr val="0000FF"/>
                </a:solidFill>
                <a:effectLst/>
                <a:latin typeface="Consolas" panose="020B0609020204030204" pitchFamily="49" charset="0"/>
              </a:rPr>
              <a:t>String</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args</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GFG.set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"Visual studio"</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0.0f</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GFG.get</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 </a:t>
            </a:r>
          </a:p>
          <a:p>
            <a:pPr marL="0" indent="0">
              <a:buNone/>
            </a:pP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147472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C5EC3-EB45-7605-F549-83B4929DD69E}"/>
              </a:ext>
            </a:extLst>
          </p:cNvPr>
          <p:cNvSpPr>
            <a:spLocks noGrp="1"/>
          </p:cNvSpPr>
          <p:nvPr>
            <p:ph type="title"/>
          </p:nvPr>
        </p:nvSpPr>
        <p:spPr/>
        <p:txBody>
          <a:bodyPr/>
          <a:lstStyle/>
          <a:p>
            <a:r>
              <a:rPr lang="en-US" dirty="0"/>
              <a:t>Ways to Create an Object of a Class</a:t>
            </a:r>
            <a:endParaRPr lang="en-IN" dirty="0"/>
          </a:p>
        </p:txBody>
      </p:sp>
      <p:sp>
        <p:nvSpPr>
          <p:cNvPr id="3" name="Content Placeholder 2">
            <a:extLst>
              <a:ext uri="{FF2B5EF4-FFF2-40B4-BE49-F238E27FC236}">
                <a16:creationId xmlns:a16="http://schemas.microsoft.com/office/drawing/2014/main" id="{896FBB8C-CC77-301F-2D3E-1D44A7906BA5}"/>
              </a:ext>
            </a:extLst>
          </p:cNvPr>
          <p:cNvSpPr>
            <a:spLocks noGrp="1"/>
          </p:cNvSpPr>
          <p:nvPr>
            <p:ph idx="1"/>
          </p:nvPr>
        </p:nvSpPr>
        <p:spPr/>
        <p:txBody>
          <a:bodyPr>
            <a:normAutofit/>
          </a:bodyPr>
          <a:lstStyle/>
          <a:p>
            <a:r>
              <a:rPr lang="en-US" dirty="0"/>
              <a:t>There are four ways to create objects in Java. Strictly speaking, there is only one way(by using a new keyword), and the rest internally use a new keyword.</a:t>
            </a:r>
          </a:p>
          <a:p>
            <a:r>
              <a:rPr lang="en-IN" dirty="0"/>
              <a:t>1. Using new keyword</a:t>
            </a:r>
          </a:p>
          <a:p>
            <a:pPr marL="457200" lvl="1" indent="0">
              <a:buNone/>
            </a:pPr>
            <a:r>
              <a:rPr lang="en-US" dirty="0"/>
              <a:t>// creating object of class Test</a:t>
            </a:r>
          </a:p>
          <a:p>
            <a:pPr marL="457200" lvl="1" indent="0">
              <a:buNone/>
            </a:pPr>
            <a:r>
              <a:rPr lang="en-US" dirty="0"/>
              <a:t>Test t = new Test();</a:t>
            </a:r>
            <a:endParaRPr lang="en-IN" dirty="0"/>
          </a:p>
        </p:txBody>
      </p:sp>
    </p:spTree>
    <p:extLst>
      <p:ext uri="{BB962C8B-B14F-4D97-AF65-F5344CB8AC3E}">
        <p14:creationId xmlns:p14="http://schemas.microsoft.com/office/powerpoint/2010/main" val="1066803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7AF430-9DBE-5369-203D-D7201F04A900}"/>
              </a:ext>
            </a:extLst>
          </p:cNvPr>
          <p:cNvSpPr>
            <a:spLocks noGrp="1"/>
          </p:cNvSpPr>
          <p:nvPr>
            <p:ph idx="1"/>
          </p:nvPr>
        </p:nvSpPr>
        <p:spPr>
          <a:xfrm>
            <a:off x="240632" y="228600"/>
            <a:ext cx="10856495" cy="5631531"/>
          </a:xfrm>
        </p:spPr>
        <p:txBody>
          <a:bodyPr>
            <a:normAutofit fontScale="85000" lnSpcReduction="20000"/>
          </a:bodyPr>
          <a:lstStyle/>
          <a:p>
            <a:r>
              <a:rPr lang="en-US" dirty="0"/>
              <a:t>2. There is a pre-defined class in </a:t>
            </a:r>
            <a:r>
              <a:rPr lang="en-US" dirty="0" err="1"/>
              <a:t>java.lang</a:t>
            </a:r>
            <a:r>
              <a:rPr lang="en-US" dirty="0"/>
              <a:t> package with name Class. The </a:t>
            </a:r>
            <a:r>
              <a:rPr lang="en-US" dirty="0" err="1"/>
              <a:t>forName</a:t>
            </a:r>
            <a:r>
              <a:rPr lang="en-US" dirty="0"/>
              <a:t>(String </a:t>
            </a:r>
            <a:r>
              <a:rPr lang="en-US" dirty="0" err="1"/>
              <a:t>className</a:t>
            </a:r>
            <a:r>
              <a:rPr lang="en-US" dirty="0"/>
              <a:t>) method returns the Class object associated with the class with the given string name. We have to give a fully qualified name for a class. On calling the new Instance() method on this Class object returns a new instance of the class with the given string</a:t>
            </a:r>
          </a:p>
          <a:p>
            <a:endParaRPr lang="en-US" dirty="0"/>
          </a:p>
          <a:p>
            <a:pPr lvl="1"/>
            <a:r>
              <a:rPr lang="en-US" dirty="0"/>
              <a:t>// creating object of public class Test</a:t>
            </a:r>
          </a:p>
          <a:p>
            <a:pPr lvl="1"/>
            <a:r>
              <a:rPr lang="en-US" dirty="0"/>
              <a:t>// consider class Test present in com.p1 package</a:t>
            </a:r>
          </a:p>
          <a:p>
            <a:pPr lvl="1"/>
            <a:r>
              <a:rPr lang="en-US" dirty="0"/>
              <a:t>Test obj = (Test)</a:t>
            </a:r>
            <a:r>
              <a:rPr lang="en-US" dirty="0" err="1"/>
              <a:t>Class.forName</a:t>
            </a:r>
            <a:r>
              <a:rPr lang="en-US" dirty="0"/>
              <a:t>("com.p1.Test").</a:t>
            </a:r>
            <a:r>
              <a:rPr lang="en-US" dirty="0" err="1"/>
              <a:t>newInstance</a:t>
            </a:r>
            <a:r>
              <a:rPr lang="en-US" dirty="0"/>
              <a:t>();</a:t>
            </a:r>
          </a:p>
          <a:p>
            <a:endParaRPr lang="en-US" dirty="0"/>
          </a:p>
          <a:p>
            <a:r>
              <a:rPr lang="en-US" dirty="0"/>
              <a:t>3. Using clone() method</a:t>
            </a:r>
          </a:p>
          <a:p>
            <a:r>
              <a:rPr lang="en-US" dirty="0"/>
              <a:t>clone() method is present in the Object class. It creates and returns a copy of the object.</a:t>
            </a:r>
          </a:p>
          <a:p>
            <a:endParaRPr lang="en-US" dirty="0"/>
          </a:p>
          <a:p>
            <a:pPr lvl="1"/>
            <a:r>
              <a:rPr lang="en-US" dirty="0"/>
              <a:t>// creating object of class Test</a:t>
            </a:r>
          </a:p>
          <a:p>
            <a:pPr lvl="1"/>
            <a:r>
              <a:rPr lang="en-US" dirty="0"/>
              <a:t>Test t1 = new Test();</a:t>
            </a:r>
          </a:p>
          <a:p>
            <a:pPr lvl="1"/>
            <a:r>
              <a:rPr lang="en-US" dirty="0"/>
              <a:t>// creating clone of above object</a:t>
            </a:r>
          </a:p>
          <a:p>
            <a:pPr lvl="1"/>
            <a:r>
              <a:rPr lang="en-US" dirty="0"/>
              <a:t>Test t2 = (Test)t1.clone();</a:t>
            </a:r>
          </a:p>
          <a:p>
            <a:endParaRPr lang="en-IN" dirty="0"/>
          </a:p>
        </p:txBody>
      </p:sp>
    </p:spTree>
    <p:extLst>
      <p:ext uri="{BB962C8B-B14F-4D97-AF65-F5344CB8AC3E}">
        <p14:creationId xmlns:p14="http://schemas.microsoft.com/office/powerpoint/2010/main" val="1350430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54961-FD1F-06D2-949F-86A3CBC0C200}"/>
              </a:ext>
            </a:extLst>
          </p:cNvPr>
          <p:cNvSpPr>
            <a:spLocks noGrp="1"/>
          </p:cNvSpPr>
          <p:nvPr>
            <p:ph type="title"/>
          </p:nvPr>
        </p:nvSpPr>
        <p:spPr/>
        <p:txBody>
          <a:bodyPr/>
          <a:lstStyle/>
          <a:p>
            <a:r>
              <a:rPr lang="en-IN" dirty="0"/>
              <a:t>4. Deserialization</a:t>
            </a:r>
          </a:p>
        </p:txBody>
      </p:sp>
      <p:sp>
        <p:nvSpPr>
          <p:cNvPr id="3" name="Content Placeholder 2">
            <a:extLst>
              <a:ext uri="{FF2B5EF4-FFF2-40B4-BE49-F238E27FC236}">
                <a16:creationId xmlns:a16="http://schemas.microsoft.com/office/drawing/2014/main" id="{26A66E9D-9F85-2A5A-6015-322361214BB3}"/>
              </a:ext>
            </a:extLst>
          </p:cNvPr>
          <p:cNvSpPr>
            <a:spLocks noGrp="1"/>
          </p:cNvSpPr>
          <p:nvPr>
            <p:ph idx="1"/>
          </p:nvPr>
        </p:nvSpPr>
        <p:spPr/>
        <p:txBody>
          <a:bodyPr/>
          <a:lstStyle/>
          <a:p>
            <a:r>
              <a:rPr lang="en-US" dirty="0"/>
              <a:t>De-serialization is a technique of reading an object from the saved state in a file</a:t>
            </a:r>
          </a:p>
          <a:p>
            <a:pPr lvl="1"/>
            <a:r>
              <a:rPr lang="en-US" dirty="0" err="1"/>
              <a:t>FileInputStream</a:t>
            </a:r>
            <a:r>
              <a:rPr lang="en-US" dirty="0"/>
              <a:t> file = new </a:t>
            </a:r>
            <a:r>
              <a:rPr lang="en-US" dirty="0" err="1"/>
              <a:t>FileInputStream</a:t>
            </a:r>
            <a:r>
              <a:rPr lang="en-US" dirty="0"/>
              <a:t>(filename);</a:t>
            </a:r>
          </a:p>
          <a:p>
            <a:pPr lvl="1"/>
            <a:r>
              <a:rPr lang="en-US" dirty="0" err="1"/>
              <a:t>ObjectInputStream</a:t>
            </a:r>
            <a:r>
              <a:rPr lang="en-US" dirty="0"/>
              <a:t> in = new </a:t>
            </a:r>
            <a:r>
              <a:rPr lang="en-US" dirty="0" err="1"/>
              <a:t>ObjectInputStream</a:t>
            </a:r>
            <a:r>
              <a:rPr lang="en-US" dirty="0"/>
              <a:t>(file);</a:t>
            </a:r>
          </a:p>
          <a:p>
            <a:pPr lvl="1"/>
            <a:r>
              <a:rPr lang="en-US" dirty="0"/>
              <a:t>Object obj = </a:t>
            </a:r>
            <a:r>
              <a:rPr lang="en-US" dirty="0" err="1"/>
              <a:t>in.readObject</a:t>
            </a:r>
            <a:r>
              <a:rPr lang="en-US" dirty="0"/>
              <a:t>();</a:t>
            </a:r>
            <a:endParaRPr lang="en-IN" dirty="0"/>
          </a:p>
        </p:txBody>
      </p:sp>
    </p:spTree>
    <p:extLst>
      <p:ext uri="{BB962C8B-B14F-4D97-AF65-F5344CB8AC3E}">
        <p14:creationId xmlns:p14="http://schemas.microsoft.com/office/powerpoint/2010/main" val="323564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6CD5A-9242-12C7-B396-764CE1C1330B}"/>
              </a:ext>
            </a:extLst>
          </p:cNvPr>
          <p:cNvSpPr>
            <a:spLocks noGrp="1"/>
          </p:cNvSpPr>
          <p:nvPr>
            <p:ph type="title"/>
          </p:nvPr>
        </p:nvSpPr>
        <p:spPr/>
        <p:txBody>
          <a:bodyPr/>
          <a:lstStyle/>
          <a:p>
            <a:r>
              <a:rPr lang="en-US" dirty="0"/>
              <a:t>Controlling Access to members of a class - access specifiers</a:t>
            </a:r>
            <a:endParaRPr lang="en-IN" dirty="0"/>
          </a:p>
        </p:txBody>
      </p:sp>
      <p:sp>
        <p:nvSpPr>
          <p:cNvPr id="3" name="Content Placeholder 2">
            <a:extLst>
              <a:ext uri="{FF2B5EF4-FFF2-40B4-BE49-F238E27FC236}">
                <a16:creationId xmlns:a16="http://schemas.microsoft.com/office/drawing/2014/main" id="{9433B01F-8EC3-02F0-1D24-781347814686}"/>
              </a:ext>
            </a:extLst>
          </p:cNvPr>
          <p:cNvSpPr>
            <a:spLocks noGrp="1"/>
          </p:cNvSpPr>
          <p:nvPr>
            <p:ph idx="1"/>
          </p:nvPr>
        </p:nvSpPr>
        <p:spPr>
          <a:xfrm>
            <a:off x="838200" y="1825625"/>
            <a:ext cx="10515600" cy="3227638"/>
          </a:xfrm>
        </p:spPr>
        <p:txBody>
          <a:bodyPr>
            <a:normAutofit fontScale="85000" lnSpcReduction="20000"/>
          </a:bodyPr>
          <a:lstStyle/>
          <a:p>
            <a:r>
              <a:rPr lang="en-US" dirty="0"/>
              <a:t>Access specifiers control access to members of a class within a java program.</a:t>
            </a:r>
          </a:p>
          <a:p>
            <a:r>
              <a:rPr lang="en-IN" dirty="0"/>
              <a:t>Private access specifiers denotes a variable or method as being private to the class and may not </a:t>
            </a:r>
            <a:r>
              <a:rPr lang="en-IN" dirty="0" err="1"/>
              <a:t>ve</a:t>
            </a:r>
            <a:r>
              <a:rPr lang="en-IN" dirty="0"/>
              <a:t> accessed outside the class.</a:t>
            </a:r>
          </a:p>
          <a:p>
            <a:r>
              <a:rPr lang="en-IN" dirty="0"/>
              <a:t>Protected specifier denotes a variable or method as being public to subclass but private to all other classes outside the current package.</a:t>
            </a:r>
          </a:p>
          <a:p>
            <a:r>
              <a:rPr lang="en-US" dirty="0"/>
              <a:t>All classes within the same package have access to protected variables regardless of whether they are subclasses </a:t>
            </a:r>
          </a:p>
          <a:p>
            <a:r>
              <a:rPr lang="en-US" dirty="0"/>
              <a:t>Public specifiers denotes a variable or method as being directly accessible from all other classes</a:t>
            </a:r>
          </a:p>
        </p:txBody>
      </p:sp>
      <p:pic>
        <p:nvPicPr>
          <p:cNvPr id="4" name="Picture 3">
            <a:extLst>
              <a:ext uri="{FF2B5EF4-FFF2-40B4-BE49-F238E27FC236}">
                <a16:creationId xmlns:a16="http://schemas.microsoft.com/office/drawing/2014/main" id="{EB961F99-0FE7-C80C-9F16-DF30637535B0}"/>
              </a:ext>
            </a:extLst>
          </p:cNvPr>
          <p:cNvPicPr>
            <a:picLocks noChangeAspect="1"/>
          </p:cNvPicPr>
          <p:nvPr/>
        </p:nvPicPr>
        <p:blipFill>
          <a:blip r:embed="rId2"/>
          <a:stretch>
            <a:fillRect/>
          </a:stretch>
        </p:blipFill>
        <p:spPr>
          <a:xfrm>
            <a:off x="3213660" y="4660650"/>
            <a:ext cx="7103804" cy="2077034"/>
          </a:xfrm>
          <a:prstGeom prst="rect">
            <a:avLst/>
          </a:prstGeom>
        </p:spPr>
      </p:pic>
    </p:spTree>
    <p:extLst>
      <p:ext uri="{BB962C8B-B14F-4D97-AF65-F5344CB8AC3E}">
        <p14:creationId xmlns:p14="http://schemas.microsoft.com/office/powerpoint/2010/main" val="975496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63AD4-E040-F262-F74A-BC8FA0AC5582}"/>
              </a:ext>
            </a:extLst>
          </p:cNvPr>
          <p:cNvSpPr>
            <a:spLocks noGrp="1"/>
          </p:cNvSpPr>
          <p:nvPr>
            <p:ph type="title"/>
          </p:nvPr>
        </p:nvSpPr>
        <p:spPr/>
        <p:txBody>
          <a:bodyPr/>
          <a:lstStyle/>
          <a:p>
            <a:r>
              <a:rPr lang="en-IN" dirty="0"/>
              <a:t>Access Specifier friendly(Default) </a:t>
            </a:r>
          </a:p>
        </p:txBody>
      </p:sp>
      <p:sp>
        <p:nvSpPr>
          <p:cNvPr id="7" name="Content Placeholder 6">
            <a:extLst>
              <a:ext uri="{FF2B5EF4-FFF2-40B4-BE49-F238E27FC236}">
                <a16:creationId xmlns:a16="http://schemas.microsoft.com/office/drawing/2014/main" id="{75658F3C-683F-66C3-163D-18C41E9AC7B4}"/>
              </a:ext>
            </a:extLst>
          </p:cNvPr>
          <p:cNvSpPr>
            <a:spLocks noGrp="1"/>
          </p:cNvSpPr>
          <p:nvPr>
            <p:ph idx="1"/>
          </p:nvPr>
        </p:nvSpPr>
        <p:spPr/>
        <p:txBody>
          <a:bodyPr/>
          <a:lstStyle/>
          <a:p>
            <a:r>
              <a:rPr lang="en-US" dirty="0"/>
              <a:t>The default access specifier is friendly, but it is not a keyword. Friendly means all friends (classes in the same package) can access it.</a:t>
            </a:r>
          </a:p>
          <a:p>
            <a:r>
              <a:rPr lang="en-US" dirty="0"/>
              <a:t>All these access specifiers are applicable to both the class variables (static variables) and instance variable and also to class methods (static method) and other methods.</a:t>
            </a:r>
            <a:endParaRPr lang="en-IN" dirty="0"/>
          </a:p>
        </p:txBody>
      </p:sp>
      <p:pic>
        <p:nvPicPr>
          <p:cNvPr id="9" name="Picture 8">
            <a:extLst>
              <a:ext uri="{FF2B5EF4-FFF2-40B4-BE49-F238E27FC236}">
                <a16:creationId xmlns:a16="http://schemas.microsoft.com/office/drawing/2014/main" id="{3C42AD8E-596A-431F-2DA9-EC472FAD2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209" y="4001294"/>
            <a:ext cx="10306640" cy="2491581"/>
          </a:xfrm>
          <a:prstGeom prst="rect">
            <a:avLst/>
          </a:prstGeom>
        </p:spPr>
      </p:pic>
    </p:spTree>
    <p:extLst>
      <p:ext uri="{BB962C8B-B14F-4D97-AF65-F5344CB8AC3E}">
        <p14:creationId xmlns:p14="http://schemas.microsoft.com/office/powerpoint/2010/main" val="934806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B0F97-EFD6-8DF8-9CA6-50E7FE7B25CB}"/>
              </a:ext>
            </a:extLst>
          </p:cNvPr>
          <p:cNvSpPr>
            <a:spLocks noGrp="1"/>
          </p:cNvSpPr>
          <p:nvPr>
            <p:ph type="title"/>
          </p:nvPr>
        </p:nvSpPr>
        <p:spPr/>
        <p:txBody>
          <a:bodyPr/>
          <a:lstStyle/>
          <a:p>
            <a:r>
              <a:rPr lang="en-IN" dirty="0"/>
              <a:t>Function/Method Definition </a:t>
            </a:r>
          </a:p>
        </p:txBody>
      </p:sp>
      <p:sp>
        <p:nvSpPr>
          <p:cNvPr id="3" name="Content Placeholder 2">
            <a:extLst>
              <a:ext uri="{FF2B5EF4-FFF2-40B4-BE49-F238E27FC236}">
                <a16:creationId xmlns:a16="http://schemas.microsoft.com/office/drawing/2014/main" id="{A4362CCD-2026-FF2D-3102-F238BCCCB0F6}"/>
              </a:ext>
            </a:extLst>
          </p:cNvPr>
          <p:cNvSpPr>
            <a:spLocks noGrp="1"/>
          </p:cNvSpPr>
          <p:nvPr>
            <p:ph idx="1"/>
          </p:nvPr>
        </p:nvSpPr>
        <p:spPr/>
        <p:txBody>
          <a:bodyPr>
            <a:normAutofit/>
          </a:bodyPr>
          <a:lstStyle/>
          <a:p>
            <a:r>
              <a:rPr lang="en-US" dirty="0"/>
              <a:t>In java, a function (or method) must be defined before it is used anywhere in the program. The general form of a function / method definition is as given below</a:t>
            </a:r>
          </a:p>
          <a:p>
            <a:pPr marL="457200" lvl="1" indent="0">
              <a:buNone/>
            </a:pPr>
            <a:r>
              <a:rPr lang="en-US" b="1" dirty="0"/>
              <a:t>[access-specifier] [modifier] return-type function-name (parameter list)</a:t>
            </a:r>
          </a:p>
          <a:p>
            <a:pPr marL="457200" lvl="1" indent="0">
              <a:buNone/>
            </a:pPr>
            <a:r>
              <a:rPr lang="en-US" b="1" dirty="0"/>
              <a:t>{</a:t>
            </a:r>
          </a:p>
          <a:p>
            <a:pPr marL="457200" lvl="1" indent="0">
              <a:buNone/>
            </a:pPr>
            <a:r>
              <a:rPr lang="en-US" b="1" dirty="0"/>
              <a:t>Body of the function </a:t>
            </a:r>
          </a:p>
          <a:p>
            <a:pPr marL="457200" lvl="1" indent="0">
              <a:buNone/>
            </a:pPr>
            <a:r>
              <a:rPr lang="en-US" b="1" dirty="0"/>
              <a:t>}</a:t>
            </a:r>
          </a:p>
          <a:p>
            <a:pPr lvl="1"/>
            <a:endParaRPr lang="en-IN" dirty="0"/>
          </a:p>
        </p:txBody>
      </p:sp>
    </p:spTree>
    <p:extLst>
      <p:ext uri="{BB962C8B-B14F-4D97-AF65-F5344CB8AC3E}">
        <p14:creationId xmlns:p14="http://schemas.microsoft.com/office/powerpoint/2010/main" val="2962611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77FE4-04C4-406C-B571-26317D32D33B}"/>
              </a:ext>
            </a:extLst>
          </p:cNvPr>
          <p:cNvSpPr>
            <a:spLocks noGrp="1"/>
          </p:cNvSpPr>
          <p:nvPr>
            <p:ph type="title"/>
          </p:nvPr>
        </p:nvSpPr>
        <p:spPr/>
        <p:txBody>
          <a:bodyPr/>
          <a:lstStyle/>
          <a:p>
            <a:r>
              <a:rPr lang="en-IN" dirty="0"/>
              <a:t>Where</a:t>
            </a:r>
            <a:br>
              <a:rPr lang="en-IN" dirty="0"/>
            </a:br>
            <a:endParaRPr lang="en-IN" dirty="0"/>
          </a:p>
        </p:txBody>
      </p:sp>
      <p:sp>
        <p:nvSpPr>
          <p:cNvPr id="3" name="Content Placeholder 2">
            <a:extLst>
              <a:ext uri="{FF2B5EF4-FFF2-40B4-BE49-F238E27FC236}">
                <a16:creationId xmlns:a16="http://schemas.microsoft.com/office/drawing/2014/main" id="{CAD06D72-DE50-9E52-BE6E-F78F9D735268}"/>
              </a:ext>
            </a:extLst>
          </p:cNvPr>
          <p:cNvSpPr>
            <a:spLocks noGrp="1"/>
          </p:cNvSpPr>
          <p:nvPr>
            <p:ph idx="1"/>
          </p:nvPr>
        </p:nvSpPr>
        <p:spPr/>
        <p:txBody>
          <a:bodyPr/>
          <a:lstStyle/>
          <a:p>
            <a:r>
              <a:rPr lang="en-US" b="1" dirty="0"/>
              <a:t>access specifier </a:t>
            </a:r>
            <a:r>
              <a:rPr lang="en-US" dirty="0"/>
              <a:t>can be either public or protected or private. These keywords are used to determine the type of access to the function. Default is friendly, which is not a keyword. </a:t>
            </a:r>
          </a:p>
          <a:p>
            <a:r>
              <a:rPr lang="en-US" b="1" dirty="0"/>
              <a:t>modifier</a:t>
            </a:r>
            <a:r>
              <a:rPr lang="en-US" dirty="0"/>
              <a:t> can be one of . final, native, synchronized, transient, volatile. A final method means that the functionality defined inside this very method can never be changed.</a:t>
            </a:r>
          </a:p>
          <a:p>
            <a:r>
              <a:rPr lang="en-US" b="1" dirty="0" err="1"/>
              <a:t>return_type</a:t>
            </a:r>
            <a:r>
              <a:rPr lang="en-US" b="1" dirty="0"/>
              <a:t> </a:t>
            </a:r>
            <a:r>
              <a:rPr lang="en-US" dirty="0"/>
              <a:t>specifies the type of value that the return statement of the function returns It may be of any valid Java data type. If no value is being returned, it should be void. </a:t>
            </a:r>
          </a:p>
          <a:p>
            <a:r>
              <a:rPr lang="en-US" dirty="0"/>
              <a:t>Function-name it ahs to be valid java identifier.</a:t>
            </a:r>
            <a:endParaRPr lang="en-IN" dirty="0"/>
          </a:p>
        </p:txBody>
      </p:sp>
    </p:spTree>
    <p:extLst>
      <p:ext uri="{BB962C8B-B14F-4D97-AF65-F5344CB8AC3E}">
        <p14:creationId xmlns:p14="http://schemas.microsoft.com/office/powerpoint/2010/main" val="2832347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E8BDD-A060-2811-C8A6-301CFD53BB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6BDCB1-EFCB-1C8C-6C34-337F0641D3E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29320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2A95F-25B8-8B10-DF8E-3EB7D3B679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3E16EFE-6CDB-B66F-2965-BF680048BA9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4843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1608</Words>
  <Application>Microsoft Office PowerPoint</Application>
  <PresentationFormat>Widescreen</PresentationFormat>
  <Paragraphs>164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Consolas</vt:lpstr>
      <vt:lpstr>Nunito</vt:lpstr>
      <vt:lpstr>Office Theme</vt:lpstr>
      <vt:lpstr>Oops using java </vt:lpstr>
      <vt:lpstr>Classes In Java</vt:lpstr>
      <vt:lpstr>Java Classes</vt:lpstr>
      <vt:lpstr>Class Declaration in Java</vt:lpstr>
      <vt:lpstr>Components of Java Classes</vt:lpstr>
      <vt:lpstr>Java Objects</vt:lpstr>
      <vt:lpstr>Declaring Objects (Also called instantiating a class)</vt:lpstr>
      <vt:lpstr>Initializing a Java object</vt:lpstr>
      <vt:lpstr>Example :1 </vt:lpstr>
      <vt:lpstr>Example 2 : Initialize by using method/function</vt:lpstr>
      <vt:lpstr>Ways to Create an Object of a Class</vt:lpstr>
      <vt:lpstr>PowerPoint Presentation</vt:lpstr>
      <vt:lpstr>4. Deserialization</vt:lpstr>
      <vt:lpstr>Controlling Access to members of a class - access specifiers</vt:lpstr>
      <vt:lpstr>Access Specifier friendly(Default) </vt:lpstr>
      <vt:lpstr>Function/Method Definition </vt:lpstr>
      <vt:lpstr>Where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Parmanand Kumar</dc:creator>
  <cp:lastModifiedBy>Parmanand Kumar</cp:lastModifiedBy>
  <cp:revision>15</cp:revision>
  <dcterms:created xsi:type="dcterms:W3CDTF">2024-10-12T01:53:56Z</dcterms:created>
  <dcterms:modified xsi:type="dcterms:W3CDTF">2024-10-13T01:41:14Z</dcterms:modified>
</cp:coreProperties>
</file>