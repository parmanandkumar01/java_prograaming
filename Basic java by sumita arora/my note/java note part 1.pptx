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69" r:id="rId15"/>
    <p:sldId id="272" r:id="rId16"/>
    <p:sldId id="273" r:id="rId17"/>
    <p:sldId id="274" r:id="rId18"/>
    <p:sldId id="275" r:id="rId19"/>
    <p:sldId id="278" r:id="rId20"/>
    <p:sldId id="276" r:id="rId21"/>
    <p:sldId id="277" r:id="rId22"/>
    <p:sldId id="270"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9" r:id="rId43"/>
    <p:sldId id="298" r:id="rId44"/>
    <p:sldId id="300" r:id="rId45"/>
    <p:sldId id="301" r:id="rId46"/>
    <p:sldId id="302" r:id="rId47"/>
    <p:sldId id="303" r:id="rId48"/>
    <p:sldId id="304" r:id="rId49"/>
    <p:sldId id="305" r:id="rId50"/>
    <p:sldId id="306" r:id="rId51"/>
    <p:sldId id="307" r:id="rId52"/>
    <p:sldId id="308" r:id="rId53"/>
    <p:sldId id="309" r:id="rId54"/>
    <p:sldId id="310" r:id="rId55"/>
    <p:sldId id="329" r:id="rId56"/>
    <p:sldId id="311" r:id="rId57"/>
    <p:sldId id="312" r:id="rId58"/>
    <p:sldId id="313" r:id="rId59"/>
    <p:sldId id="314" r:id="rId60"/>
    <p:sldId id="315" r:id="rId61"/>
    <p:sldId id="316" r:id="rId62"/>
    <p:sldId id="318" r:id="rId63"/>
    <p:sldId id="330" r:id="rId64"/>
    <p:sldId id="331" r:id="rId65"/>
    <p:sldId id="333" r:id="rId66"/>
    <p:sldId id="334"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8926826-A5BA-43B1-8447-0A275BBD1C05}">
          <p14:sldIdLst>
            <p14:sldId id="256"/>
            <p14:sldId id="257"/>
            <p14:sldId id="258"/>
            <p14:sldId id="259"/>
            <p14:sldId id="260"/>
            <p14:sldId id="261"/>
          </p14:sldIdLst>
        </p14:section>
        <p14:section name="keyword" id="{476311C1-5D96-42FA-B1EB-CF7697701931}">
          <p14:sldIdLst>
            <p14:sldId id="262"/>
          </p14:sldIdLst>
        </p14:section>
        <p14:section name="identifiers" id="{EEB85EFB-54EA-4845-B961-FB81924A691D}">
          <p14:sldIdLst>
            <p14:sldId id="263"/>
            <p14:sldId id="264"/>
          </p14:sldIdLst>
        </p14:section>
        <p14:section name="literals" id="{40CF9D1A-D244-471A-8DFA-9AC0A667C34B}">
          <p14:sldIdLst>
            <p14:sldId id="265"/>
            <p14:sldId id="266"/>
            <p14:sldId id="267"/>
            <p14:sldId id="271"/>
            <p14:sldId id="269"/>
            <p14:sldId id="272"/>
            <p14:sldId id="273"/>
            <p14:sldId id="274"/>
            <p14:sldId id="275"/>
            <p14:sldId id="278"/>
          </p14:sldIdLst>
        </p14:section>
        <p14:section name="data type" id="{F117638A-7DD5-43F1-9068-6CC0ADDC3948}">
          <p14:sldIdLst>
            <p14:sldId id="276"/>
            <p14:sldId id="277"/>
          </p14:sldIdLst>
        </p14:section>
        <p14:section name="primitive data type" id="{766B9199-6E3B-4E33-B2AC-10FCA26B9546}">
          <p14:sldIdLst>
            <p14:sldId id="270"/>
            <p14:sldId id="279"/>
            <p14:sldId id="280"/>
            <p14:sldId id="281"/>
            <p14:sldId id="282"/>
          </p14:sldIdLst>
        </p14:section>
        <p14:section name="referece datatype" id="{EFA5B9E4-1D20-47FE-80B1-8A5F3AD83251}">
          <p14:sldIdLst>
            <p14:sldId id="283"/>
            <p14:sldId id="284"/>
          </p14:sldIdLst>
        </p14:section>
        <p14:section name="variables" id="{D14A63D2-84A0-43C7-A006-0AE97EF7C2C8}">
          <p14:sldIdLst>
            <p14:sldId id="285"/>
            <p14:sldId id="286"/>
          </p14:sldIdLst>
        </p14:section>
        <p14:section name="constant" id="{C6528FBD-E01F-46F4-BB1E-76B81C0DE8A2}">
          <p14:sldIdLst>
            <p14:sldId id="287"/>
          </p14:sldIdLst>
        </p14:section>
        <p14:section name="operator" id="{1EEC8CA3-DBA0-4F13-9978-04858F769C0A}">
          <p14:sldIdLst>
            <p14:sldId id="288"/>
            <p14:sldId id="289"/>
            <p14:sldId id="290"/>
            <p14:sldId id="291"/>
            <p14:sldId id="292"/>
            <p14:sldId id="293"/>
            <p14:sldId id="294"/>
            <p14:sldId id="295"/>
            <p14:sldId id="296"/>
            <p14:sldId id="297"/>
            <p14:sldId id="299"/>
            <p14:sldId id="298"/>
            <p14:sldId id="300"/>
            <p14:sldId id="301"/>
          </p14:sldIdLst>
        </p14:section>
        <p14:section name="Expressions" id="{B1062E03-FA08-4F4E-8B22-02BE0381470E}">
          <p14:sldIdLst>
            <p14:sldId id="302"/>
          </p14:sldIdLst>
        </p14:section>
        <p14:section name="Math function available through math class" id="{478164AF-9806-48CE-B56D-80218134B480}">
          <p14:sldIdLst>
            <p14:sldId id="303"/>
          </p14:sldIdLst>
        </p14:section>
        <p14:section name="Type Conversion" id="{68FF5811-1C5D-4465-A585-382A1B55ED27}">
          <p14:sldIdLst>
            <p14:sldId id="304"/>
            <p14:sldId id="305"/>
            <p14:sldId id="306"/>
          </p14:sldIdLst>
        </p14:section>
        <p14:section name="flow of control" id="{4C6A587B-9A78-4772-8D7E-1BE11EA228C2}">
          <p14:sldIdLst>
            <p14:sldId id="307"/>
            <p14:sldId id="308"/>
            <p14:sldId id="309"/>
            <p14:sldId id="310"/>
            <p14:sldId id="329"/>
            <p14:sldId id="311"/>
            <p14:sldId id="312"/>
            <p14:sldId id="313"/>
            <p14:sldId id="314"/>
            <p14:sldId id="315"/>
            <p14:sldId id="316"/>
            <p14:sldId id="318"/>
            <p14:sldId id="330"/>
            <p14:sldId id="331"/>
            <p14:sldId id="333"/>
            <p14:sldId id="33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8" d="100"/>
          <a:sy n="48" d="100"/>
        </p:scale>
        <p:origin x="53" y="7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52371-0D69-54D4-8404-0DDA81CA32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994C3B1-BC95-3308-39C6-E46CBEF7E7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B5012AA-3E4C-27EF-81A9-96759E434326}"/>
              </a:ext>
            </a:extLst>
          </p:cNvPr>
          <p:cNvSpPr>
            <a:spLocks noGrp="1"/>
          </p:cNvSpPr>
          <p:nvPr>
            <p:ph type="dt" sz="half" idx="10"/>
          </p:nvPr>
        </p:nvSpPr>
        <p:spPr/>
        <p:txBody>
          <a:bodyPr/>
          <a:lstStyle/>
          <a:p>
            <a:fld id="{DF4CDC15-E956-4633-AE0C-D483297AC50E}" type="datetimeFigureOut">
              <a:rPr lang="en-IN" smtClean="0"/>
              <a:t>12-10-2024</a:t>
            </a:fld>
            <a:endParaRPr lang="en-IN"/>
          </a:p>
        </p:txBody>
      </p:sp>
      <p:sp>
        <p:nvSpPr>
          <p:cNvPr id="5" name="Footer Placeholder 4">
            <a:extLst>
              <a:ext uri="{FF2B5EF4-FFF2-40B4-BE49-F238E27FC236}">
                <a16:creationId xmlns:a16="http://schemas.microsoft.com/office/drawing/2014/main" id="{8BB78CBB-A800-9ACD-4920-BC1F9196DD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A7E55F-7FE1-758C-28EF-24FDD63658C8}"/>
              </a:ext>
            </a:extLst>
          </p:cNvPr>
          <p:cNvSpPr>
            <a:spLocks noGrp="1"/>
          </p:cNvSpPr>
          <p:nvPr>
            <p:ph type="sldNum" sz="quarter" idx="12"/>
          </p:nvPr>
        </p:nvSpPr>
        <p:spPr/>
        <p:txBody>
          <a:bodyPr/>
          <a:lstStyle/>
          <a:p>
            <a:fld id="{78F9033B-73B2-4468-8DC5-1435AC336F8C}" type="slidenum">
              <a:rPr lang="en-IN" smtClean="0"/>
              <a:t>‹#›</a:t>
            </a:fld>
            <a:endParaRPr lang="en-IN"/>
          </a:p>
        </p:txBody>
      </p:sp>
    </p:spTree>
    <p:extLst>
      <p:ext uri="{BB962C8B-B14F-4D97-AF65-F5344CB8AC3E}">
        <p14:creationId xmlns:p14="http://schemas.microsoft.com/office/powerpoint/2010/main" val="1571917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B06A9-EEF2-009D-31A6-328471F02C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37AD76C-DA9A-E848-9917-4B84F98655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30EE88-9B62-9D6F-741A-B62935A3CF6D}"/>
              </a:ext>
            </a:extLst>
          </p:cNvPr>
          <p:cNvSpPr>
            <a:spLocks noGrp="1"/>
          </p:cNvSpPr>
          <p:nvPr>
            <p:ph type="dt" sz="half" idx="10"/>
          </p:nvPr>
        </p:nvSpPr>
        <p:spPr/>
        <p:txBody>
          <a:bodyPr/>
          <a:lstStyle/>
          <a:p>
            <a:fld id="{DF4CDC15-E956-4633-AE0C-D483297AC50E}" type="datetimeFigureOut">
              <a:rPr lang="en-IN" smtClean="0"/>
              <a:t>12-10-2024</a:t>
            </a:fld>
            <a:endParaRPr lang="en-IN"/>
          </a:p>
        </p:txBody>
      </p:sp>
      <p:sp>
        <p:nvSpPr>
          <p:cNvPr id="5" name="Footer Placeholder 4">
            <a:extLst>
              <a:ext uri="{FF2B5EF4-FFF2-40B4-BE49-F238E27FC236}">
                <a16:creationId xmlns:a16="http://schemas.microsoft.com/office/drawing/2014/main" id="{DB952111-FA42-60E0-D899-E3AA3046BA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288D85-5054-804B-A099-95FF0527E59C}"/>
              </a:ext>
            </a:extLst>
          </p:cNvPr>
          <p:cNvSpPr>
            <a:spLocks noGrp="1"/>
          </p:cNvSpPr>
          <p:nvPr>
            <p:ph type="sldNum" sz="quarter" idx="12"/>
          </p:nvPr>
        </p:nvSpPr>
        <p:spPr/>
        <p:txBody>
          <a:bodyPr/>
          <a:lstStyle/>
          <a:p>
            <a:fld id="{78F9033B-73B2-4468-8DC5-1435AC336F8C}" type="slidenum">
              <a:rPr lang="en-IN" smtClean="0"/>
              <a:t>‹#›</a:t>
            </a:fld>
            <a:endParaRPr lang="en-IN"/>
          </a:p>
        </p:txBody>
      </p:sp>
    </p:spTree>
    <p:extLst>
      <p:ext uri="{BB962C8B-B14F-4D97-AF65-F5344CB8AC3E}">
        <p14:creationId xmlns:p14="http://schemas.microsoft.com/office/powerpoint/2010/main" val="3554758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939B3-7C5F-764B-816F-031FFE14D4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399B86D-DFF0-75AB-A3C4-84DCE9A02A2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49490D-37B9-F0C2-D8D5-9E8DCD2961FC}"/>
              </a:ext>
            </a:extLst>
          </p:cNvPr>
          <p:cNvSpPr>
            <a:spLocks noGrp="1"/>
          </p:cNvSpPr>
          <p:nvPr>
            <p:ph type="dt" sz="half" idx="10"/>
          </p:nvPr>
        </p:nvSpPr>
        <p:spPr/>
        <p:txBody>
          <a:bodyPr/>
          <a:lstStyle/>
          <a:p>
            <a:fld id="{DF4CDC15-E956-4633-AE0C-D483297AC50E}" type="datetimeFigureOut">
              <a:rPr lang="en-IN" smtClean="0"/>
              <a:t>12-10-2024</a:t>
            </a:fld>
            <a:endParaRPr lang="en-IN"/>
          </a:p>
        </p:txBody>
      </p:sp>
      <p:sp>
        <p:nvSpPr>
          <p:cNvPr id="5" name="Footer Placeholder 4">
            <a:extLst>
              <a:ext uri="{FF2B5EF4-FFF2-40B4-BE49-F238E27FC236}">
                <a16:creationId xmlns:a16="http://schemas.microsoft.com/office/drawing/2014/main" id="{8D4C92BF-628B-319C-B598-4DBFDCD7D5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4D7FAA-4A03-9B84-5C42-1990168E29F4}"/>
              </a:ext>
            </a:extLst>
          </p:cNvPr>
          <p:cNvSpPr>
            <a:spLocks noGrp="1"/>
          </p:cNvSpPr>
          <p:nvPr>
            <p:ph type="sldNum" sz="quarter" idx="12"/>
          </p:nvPr>
        </p:nvSpPr>
        <p:spPr/>
        <p:txBody>
          <a:bodyPr/>
          <a:lstStyle/>
          <a:p>
            <a:fld id="{78F9033B-73B2-4468-8DC5-1435AC336F8C}" type="slidenum">
              <a:rPr lang="en-IN" smtClean="0"/>
              <a:t>‹#›</a:t>
            </a:fld>
            <a:endParaRPr lang="en-IN"/>
          </a:p>
        </p:txBody>
      </p:sp>
    </p:spTree>
    <p:extLst>
      <p:ext uri="{BB962C8B-B14F-4D97-AF65-F5344CB8AC3E}">
        <p14:creationId xmlns:p14="http://schemas.microsoft.com/office/powerpoint/2010/main" val="24561064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2D331-11E4-3F3B-E36E-AA8459547E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7F9AF18-F91F-5FA7-E98A-EFD34FCFD0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7CD0AEB-28F4-3EC5-F14C-AE456022FE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139E4D-2886-68C5-DF5A-CFFBD706C6DC}"/>
              </a:ext>
            </a:extLst>
          </p:cNvPr>
          <p:cNvSpPr>
            <a:spLocks noGrp="1"/>
          </p:cNvSpPr>
          <p:nvPr>
            <p:ph type="dt" sz="half" idx="10"/>
          </p:nvPr>
        </p:nvSpPr>
        <p:spPr/>
        <p:txBody>
          <a:bodyPr/>
          <a:lstStyle/>
          <a:p>
            <a:fld id="{DF4CDC15-E956-4633-AE0C-D483297AC50E}" type="datetimeFigureOut">
              <a:rPr lang="en-IN" smtClean="0"/>
              <a:t>12-10-2024</a:t>
            </a:fld>
            <a:endParaRPr lang="en-IN"/>
          </a:p>
        </p:txBody>
      </p:sp>
      <p:sp>
        <p:nvSpPr>
          <p:cNvPr id="6" name="Footer Placeholder 5">
            <a:extLst>
              <a:ext uri="{FF2B5EF4-FFF2-40B4-BE49-F238E27FC236}">
                <a16:creationId xmlns:a16="http://schemas.microsoft.com/office/drawing/2014/main" id="{45B29801-8CB7-E9A0-FA38-8EC2654135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D59510-A1CB-60F3-BD6E-D842AE9D76BC}"/>
              </a:ext>
            </a:extLst>
          </p:cNvPr>
          <p:cNvSpPr>
            <a:spLocks noGrp="1"/>
          </p:cNvSpPr>
          <p:nvPr>
            <p:ph type="sldNum" sz="quarter" idx="12"/>
          </p:nvPr>
        </p:nvSpPr>
        <p:spPr/>
        <p:txBody>
          <a:bodyPr/>
          <a:lstStyle/>
          <a:p>
            <a:fld id="{78F9033B-73B2-4468-8DC5-1435AC336F8C}" type="slidenum">
              <a:rPr lang="en-IN" smtClean="0"/>
              <a:t>‹#›</a:t>
            </a:fld>
            <a:endParaRPr lang="en-IN"/>
          </a:p>
        </p:txBody>
      </p:sp>
    </p:spTree>
    <p:extLst>
      <p:ext uri="{BB962C8B-B14F-4D97-AF65-F5344CB8AC3E}">
        <p14:creationId xmlns:p14="http://schemas.microsoft.com/office/powerpoint/2010/main" val="2729595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640A3-7D16-0F96-D28A-9F15C0EB04B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D963E5-2CDF-1B22-0D9F-2BFACBE10B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D25665-A247-004C-74B6-0DFAE8F034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54D773E-5820-14A0-C8CA-1CEEC4F6FF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C9B60D-EE83-6702-BC48-2510C5F23A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52283CF-3A62-5DC4-AA64-E35A0D0DF5F1}"/>
              </a:ext>
            </a:extLst>
          </p:cNvPr>
          <p:cNvSpPr>
            <a:spLocks noGrp="1"/>
          </p:cNvSpPr>
          <p:nvPr>
            <p:ph type="dt" sz="half" idx="10"/>
          </p:nvPr>
        </p:nvSpPr>
        <p:spPr/>
        <p:txBody>
          <a:bodyPr/>
          <a:lstStyle/>
          <a:p>
            <a:fld id="{DF4CDC15-E956-4633-AE0C-D483297AC50E}" type="datetimeFigureOut">
              <a:rPr lang="en-IN" smtClean="0"/>
              <a:t>12-10-2024</a:t>
            </a:fld>
            <a:endParaRPr lang="en-IN"/>
          </a:p>
        </p:txBody>
      </p:sp>
      <p:sp>
        <p:nvSpPr>
          <p:cNvPr id="8" name="Footer Placeholder 7">
            <a:extLst>
              <a:ext uri="{FF2B5EF4-FFF2-40B4-BE49-F238E27FC236}">
                <a16:creationId xmlns:a16="http://schemas.microsoft.com/office/drawing/2014/main" id="{16D28827-61CF-36DE-BCEB-9784A15EBF5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AC69599-A2FA-55C2-C483-396ED4990B86}"/>
              </a:ext>
            </a:extLst>
          </p:cNvPr>
          <p:cNvSpPr>
            <a:spLocks noGrp="1"/>
          </p:cNvSpPr>
          <p:nvPr>
            <p:ph type="sldNum" sz="quarter" idx="12"/>
          </p:nvPr>
        </p:nvSpPr>
        <p:spPr/>
        <p:txBody>
          <a:bodyPr/>
          <a:lstStyle/>
          <a:p>
            <a:fld id="{78F9033B-73B2-4468-8DC5-1435AC336F8C}" type="slidenum">
              <a:rPr lang="en-IN" smtClean="0"/>
              <a:t>‹#›</a:t>
            </a:fld>
            <a:endParaRPr lang="en-IN"/>
          </a:p>
        </p:txBody>
      </p:sp>
    </p:spTree>
    <p:extLst>
      <p:ext uri="{BB962C8B-B14F-4D97-AF65-F5344CB8AC3E}">
        <p14:creationId xmlns:p14="http://schemas.microsoft.com/office/powerpoint/2010/main" val="1797276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5C8CA-A864-D02C-2DD4-384EFEC3FC2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AAD5A72-5119-DE0B-91D6-17BB8D21A99B}"/>
              </a:ext>
            </a:extLst>
          </p:cNvPr>
          <p:cNvSpPr>
            <a:spLocks noGrp="1"/>
          </p:cNvSpPr>
          <p:nvPr>
            <p:ph type="dt" sz="half" idx="10"/>
          </p:nvPr>
        </p:nvSpPr>
        <p:spPr/>
        <p:txBody>
          <a:bodyPr/>
          <a:lstStyle/>
          <a:p>
            <a:fld id="{DF4CDC15-E956-4633-AE0C-D483297AC50E}" type="datetimeFigureOut">
              <a:rPr lang="en-IN" smtClean="0"/>
              <a:t>12-10-2024</a:t>
            </a:fld>
            <a:endParaRPr lang="en-IN"/>
          </a:p>
        </p:txBody>
      </p:sp>
      <p:sp>
        <p:nvSpPr>
          <p:cNvPr id="4" name="Footer Placeholder 3">
            <a:extLst>
              <a:ext uri="{FF2B5EF4-FFF2-40B4-BE49-F238E27FC236}">
                <a16:creationId xmlns:a16="http://schemas.microsoft.com/office/drawing/2014/main" id="{612FD93B-40CC-670A-8E70-6888B56F8E5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7429C4D-A472-23BC-6462-4F93BAB92F11}"/>
              </a:ext>
            </a:extLst>
          </p:cNvPr>
          <p:cNvSpPr>
            <a:spLocks noGrp="1"/>
          </p:cNvSpPr>
          <p:nvPr>
            <p:ph type="sldNum" sz="quarter" idx="12"/>
          </p:nvPr>
        </p:nvSpPr>
        <p:spPr/>
        <p:txBody>
          <a:bodyPr/>
          <a:lstStyle/>
          <a:p>
            <a:fld id="{78F9033B-73B2-4468-8DC5-1435AC336F8C}" type="slidenum">
              <a:rPr lang="en-IN" smtClean="0"/>
              <a:t>‹#›</a:t>
            </a:fld>
            <a:endParaRPr lang="en-IN"/>
          </a:p>
        </p:txBody>
      </p:sp>
    </p:spTree>
    <p:extLst>
      <p:ext uri="{BB962C8B-B14F-4D97-AF65-F5344CB8AC3E}">
        <p14:creationId xmlns:p14="http://schemas.microsoft.com/office/powerpoint/2010/main" val="32096220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A49949-D392-2FEF-2838-41954927A025}"/>
              </a:ext>
            </a:extLst>
          </p:cNvPr>
          <p:cNvSpPr>
            <a:spLocks noGrp="1"/>
          </p:cNvSpPr>
          <p:nvPr>
            <p:ph type="dt" sz="half" idx="10"/>
          </p:nvPr>
        </p:nvSpPr>
        <p:spPr/>
        <p:txBody>
          <a:bodyPr/>
          <a:lstStyle/>
          <a:p>
            <a:fld id="{DF4CDC15-E956-4633-AE0C-D483297AC50E}" type="datetimeFigureOut">
              <a:rPr lang="en-IN" smtClean="0"/>
              <a:t>12-10-2024</a:t>
            </a:fld>
            <a:endParaRPr lang="en-IN"/>
          </a:p>
        </p:txBody>
      </p:sp>
      <p:sp>
        <p:nvSpPr>
          <p:cNvPr id="3" name="Footer Placeholder 2">
            <a:extLst>
              <a:ext uri="{FF2B5EF4-FFF2-40B4-BE49-F238E27FC236}">
                <a16:creationId xmlns:a16="http://schemas.microsoft.com/office/drawing/2014/main" id="{7B6D2923-8F00-2EDB-868F-D2B620F2101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A6D3A25-C5E0-D52E-BA65-1BF7C0005B73}"/>
              </a:ext>
            </a:extLst>
          </p:cNvPr>
          <p:cNvSpPr>
            <a:spLocks noGrp="1"/>
          </p:cNvSpPr>
          <p:nvPr>
            <p:ph type="sldNum" sz="quarter" idx="12"/>
          </p:nvPr>
        </p:nvSpPr>
        <p:spPr/>
        <p:txBody>
          <a:bodyPr/>
          <a:lstStyle/>
          <a:p>
            <a:fld id="{78F9033B-73B2-4468-8DC5-1435AC336F8C}" type="slidenum">
              <a:rPr lang="en-IN" smtClean="0"/>
              <a:t>‹#›</a:t>
            </a:fld>
            <a:endParaRPr lang="en-IN"/>
          </a:p>
        </p:txBody>
      </p:sp>
    </p:spTree>
    <p:extLst>
      <p:ext uri="{BB962C8B-B14F-4D97-AF65-F5344CB8AC3E}">
        <p14:creationId xmlns:p14="http://schemas.microsoft.com/office/powerpoint/2010/main" val="1446368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F129B-28F2-087B-67C4-2FB0BFAD23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C897033-C651-2FDB-213E-B8D02DA658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5A20EDF-3BB6-81A0-E17C-E82FE6ACAA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26DD04-E819-9A9F-D40E-605F46D88AE4}"/>
              </a:ext>
            </a:extLst>
          </p:cNvPr>
          <p:cNvSpPr>
            <a:spLocks noGrp="1"/>
          </p:cNvSpPr>
          <p:nvPr>
            <p:ph type="dt" sz="half" idx="10"/>
          </p:nvPr>
        </p:nvSpPr>
        <p:spPr/>
        <p:txBody>
          <a:bodyPr/>
          <a:lstStyle/>
          <a:p>
            <a:fld id="{DF4CDC15-E956-4633-AE0C-D483297AC50E}" type="datetimeFigureOut">
              <a:rPr lang="en-IN" smtClean="0"/>
              <a:t>12-10-2024</a:t>
            </a:fld>
            <a:endParaRPr lang="en-IN"/>
          </a:p>
        </p:txBody>
      </p:sp>
      <p:sp>
        <p:nvSpPr>
          <p:cNvPr id="6" name="Footer Placeholder 5">
            <a:extLst>
              <a:ext uri="{FF2B5EF4-FFF2-40B4-BE49-F238E27FC236}">
                <a16:creationId xmlns:a16="http://schemas.microsoft.com/office/drawing/2014/main" id="{736C2500-E5B1-A5A4-EA5A-9AC5E4D2D80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EAC96F-ADBA-9EA1-7CA1-4F5680DA4606}"/>
              </a:ext>
            </a:extLst>
          </p:cNvPr>
          <p:cNvSpPr>
            <a:spLocks noGrp="1"/>
          </p:cNvSpPr>
          <p:nvPr>
            <p:ph type="sldNum" sz="quarter" idx="12"/>
          </p:nvPr>
        </p:nvSpPr>
        <p:spPr/>
        <p:txBody>
          <a:bodyPr/>
          <a:lstStyle/>
          <a:p>
            <a:fld id="{78F9033B-73B2-4468-8DC5-1435AC336F8C}" type="slidenum">
              <a:rPr lang="en-IN" smtClean="0"/>
              <a:t>‹#›</a:t>
            </a:fld>
            <a:endParaRPr lang="en-IN"/>
          </a:p>
        </p:txBody>
      </p:sp>
    </p:spTree>
    <p:extLst>
      <p:ext uri="{BB962C8B-B14F-4D97-AF65-F5344CB8AC3E}">
        <p14:creationId xmlns:p14="http://schemas.microsoft.com/office/powerpoint/2010/main" val="2473323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09DC4-B691-2A4C-CD36-87F3893644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CCD82F2-38D3-B83A-A1A4-EC6C3F0DA3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9FE375E-70A4-9A53-2489-595CABCC2C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E9A8F6-8936-43AD-0CF6-9A9EAC2B5AD8}"/>
              </a:ext>
            </a:extLst>
          </p:cNvPr>
          <p:cNvSpPr>
            <a:spLocks noGrp="1"/>
          </p:cNvSpPr>
          <p:nvPr>
            <p:ph type="dt" sz="half" idx="10"/>
          </p:nvPr>
        </p:nvSpPr>
        <p:spPr/>
        <p:txBody>
          <a:bodyPr/>
          <a:lstStyle/>
          <a:p>
            <a:fld id="{DF4CDC15-E956-4633-AE0C-D483297AC50E}" type="datetimeFigureOut">
              <a:rPr lang="en-IN" smtClean="0"/>
              <a:t>12-10-2024</a:t>
            </a:fld>
            <a:endParaRPr lang="en-IN"/>
          </a:p>
        </p:txBody>
      </p:sp>
      <p:sp>
        <p:nvSpPr>
          <p:cNvPr id="6" name="Footer Placeholder 5">
            <a:extLst>
              <a:ext uri="{FF2B5EF4-FFF2-40B4-BE49-F238E27FC236}">
                <a16:creationId xmlns:a16="http://schemas.microsoft.com/office/drawing/2014/main" id="{44ED7170-ECE9-DCEC-1EF2-F512A62508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0C8E06C-1C38-7BE7-6A10-3F2CAC3B5D29}"/>
              </a:ext>
            </a:extLst>
          </p:cNvPr>
          <p:cNvSpPr>
            <a:spLocks noGrp="1"/>
          </p:cNvSpPr>
          <p:nvPr>
            <p:ph type="sldNum" sz="quarter" idx="12"/>
          </p:nvPr>
        </p:nvSpPr>
        <p:spPr/>
        <p:txBody>
          <a:bodyPr/>
          <a:lstStyle/>
          <a:p>
            <a:fld id="{78F9033B-73B2-4468-8DC5-1435AC336F8C}" type="slidenum">
              <a:rPr lang="en-IN" smtClean="0"/>
              <a:t>‹#›</a:t>
            </a:fld>
            <a:endParaRPr lang="en-IN"/>
          </a:p>
        </p:txBody>
      </p:sp>
    </p:spTree>
    <p:extLst>
      <p:ext uri="{BB962C8B-B14F-4D97-AF65-F5344CB8AC3E}">
        <p14:creationId xmlns:p14="http://schemas.microsoft.com/office/powerpoint/2010/main" val="1420528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D0FC0-928D-7E91-F584-CC10A3DCBF8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9A4296B-17E1-ED69-82D8-49510F5445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B7245B-049E-1F34-32AD-B0CAB9D4DA6E}"/>
              </a:ext>
            </a:extLst>
          </p:cNvPr>
          <p:cNvSpPr>
            <a:spLocks noGrp="1"/>
          </p:cNvSpPr>
          <p:nvPr>
            <p:ph type="dt" sz="half" idx="10"/>
          </p:nvPr>
        </p:nvSpPr>
        <p:spPr/>
        <p:txBody>
          <a:bodyPr/>
          <a:lstStyle/>
          <a:p>
            <a:fld id="{DF4CDC15-E956-4633-AE0C-D483297AC50E}" type="datetimeFigureOut">
              <a:rPr lang="en-IN" smtClean="0"/>
              <a:t>12-10-2024</a:t>
            </a:fld>
            <a:endParaRPr lang="en-IN"/>
          </a:p>
        </p:txBody>
      </p:sp>
      <p:sp>
        <p:nvSpPr>
          <p:cNvPr id="5" name="Footer Placeholder 4">
            <a:extLst>
              <a:ext uri="{FF2B5EF4-FFF2-40B4-BE49-F238E27FC236}">
                <a16:creationId xmlns:a16="http://schemas.microsoft.com/office/drawing/2014/main" id="{A43EF3C7-91FD-2B93-56AD-1CD310821F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C21DC5-9E0B-AD7A-15E6-A18F1C7CFCE5}"/>
              </a:ext>
            </a:extLst>
          </p:cNvPr>
          <p:cNvSpPr>
            <a:spLocks noGrp="1"/>
          </p:cNvSpPr>
          <p:nvPr>
            <p:ph type="sldNum" sz="quarter" idx="12"/>
          </p:nvPr>
        </p:nvSpPr>
        <p:spPr/>
        <p:txBody>
          <a:bodyPr/>
          <a:lstStyle/>
          <a:p>
            <a:fld id="{78F9033B-73B2-4468-8DC5-1435AC336F8C}" type="slidenum">
              <a:rPr lang="en-IN" smtClean="0"/>
              <a:t>‹#›</a:t>
            </a:fld>
            <a:endParaRPr lang="en-IN"/>
          </a:p>
        </p:txBody>
      </p:sp>
    </p:spTree>
    <p:extLst>
      <p:ext uri="{BB962C8B-B14F-4D97-AF65-F5344CB8AC3E}">
        <p14:creationId xmlns:p14="http://schemas.microsoft.com/office/powerpoint/2010/main" val="2671761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0D5102-FC41-1140-02C3-08D8B0BEF71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163E685-E247-8193-6012-106B9E46BF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164CFF-446E-3187-EA1E-ED324B6B90E5}"/>
              </a:ext>
            </a:extLst>
          </p:cNvPr>
          <p:cNvSpPr>
            <a:spLocks noGrp="1"/>
          </p:cNvSpPr>
          <p:nvPr>
            <p:ph type="dt" sz="half" idx="10"/>
          </p:nvPr>
        </p:nvSpPr>
        <p:spPr/>
        <p:txBody>
          <a:bodyPr/>
          <a:lstStyle/>
          <a:p>
            <a:fld id="{DF4CDC15-E956-4633-AE0C-D483297AC50E}" type="datetimeFigureOut">
              <a:rPr lang="en-IN" smtClean="0"/>
              <a:t>12-10-2024</a:t>
            </a:fld>
            <a:endParaRPr lang="en-IN"/>
          </a:p>
        </p:txBody>
      </p:sp>
      <p:sp>
        <p:nvSpPr>
          <p:cNvPr id="5" name="Footer Placeholder 4">
            <a:extLst>
              <a:ext uri="{FF2B5EF4-FFF2-40B4-BE49-F238E27FC236}">
                <a16:creationId xmlns:a16="http://schemas.microsoft.com/office/drawing/2014/main" id="{708C5DDA-6454-B326-76AE-C725E423B2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1E12B5-6FDB-D6A3-CBF8-E3F42C419078}"/>
              </a:ext>
            </a:extLst>
          </p:cNvPr>
          <p:cNvSpPr>
            <a:spLocks noGrp="1"/>
          </p:cNvSpPr>
          <p:nvPr>
            <p:ph type="sldNum" sz="quarter" idx="12"/>
          </p:nvPr>
        </p:nvSpPr>
        <p:spPr/>
        <p:txBody>
          <a:bodyPr/>
          <a:lstStyle/>
          <a:p>
            <a:fld id="{78F9033B-73B2-4468-8DC5-1435AC336F8C}" type="slidenum">
              <a:rPr lang="en-IN" smtClean="0"/>
              <a:t>‹#›</a:t>
            </a:fld>
            <a:endParaRPr lang="en-IN"/>
          </a:p>
        </p:txBody>
      </p:sp>
    </p:spTree>
    <p:extLst>
      <p:ext uri="{BB962C8B-B14F-4D97-AF65-F5344CB8AC3E}">
        <p14:creationId xmlns:p14="http://schemas.microsoft.com/office/powerpoint/2010/main" val="3656570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1E7136-55D3-75C2-7057-7BCA1FA0AE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A2AB1E6-7250-DC61-70F9-AC2F246261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62C70A-043A-1C41-4C8A-EE147C1990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4CDC15-E956-4633-AE0C-D483297AC50E}" type="datetimeFigureOut">
              <a:rPr lang="en-IN" smtClean="0"/>
              <a:t>12-10-2024</a:t>
            </a:fld>
            <a:endParaRPr lang="en-IN"/>
          </a:p>
        </p:txBody>
      </p:sp>
      <p:sp>
        <p:nvSpPr>
          <p:cNvPr id="5" name="Footer Placeholder 4">
            <a:extLst>
              <a:ext uri="{FF2B5EF4-FFF2-40B4-BE49-F238E27FC236}">
                <a16:creationId xmlns:a16="http://schemas.microsoft.com/office/drawing/2014/main" id="{C6DE22B3-97AB-F623-9FD7-E26268F5CA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F54C802-8DF1-2D35-1F43-F6BABCCDB0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F9033B-73B2-4468-8DC5-1435AC336F8C}" type="slidenum">
              <a:rPr lang="en-IN" smtClean="0"/>
              <a:t>‹#›</a:t>
            </a:fld>
            <a:endParaRPr lang="en-IN"/>
          </a:p>
        </p:txBody>
      </p:sp>
    </p:spTree>
    <p:extLst>
      <p:ext uri="{BB962C8B-B14F-4D97-AF65-F5344CB8AC3E}">
        <p14:creationId xmlns:p14="http://schemas.microsoft.com/office/powerpoint/2010/main" val="8273801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5477C-4D9E-2D56-73A6-3B1977425301}"/>
              </a:ext>
            </a:extLst>
          </p:cNvPr>
          <p:cNvSpPr>
            <a:spLocks noGrp="1"/>
          </p:cNvSpPr>
          <p:nvPr>
            <p:ph type="ctrTitle"/>
          </p:nvPr>
        </p:nvSpPr>
        <p:spPr/>
        <p:txBody>
          <a:bodyPr/>
          <a:lstStyle/>
          <a:p>
            <a:r>
              <a:rPr lang="en-US" dirty="0"/>
              <a:t>Java note</a:t>
            </a:r>
            <a:endParaRPr lang="en-IN" dirty="0"/>
          </a:p>
        </p:txBody>
      </p:sp>
      <p:sp>
        <p:nvSpPr>
          <p:cNvPr id="3" name="Subtitle 2">
            <a:extLst>
              <a:ext uri="{FF2B5EF4-FFF2-40B4-BE49-F238E27FC236}">
                <a16:creationId xmlns:a16="http://schemas.microsoft.com/office/drawing/2014/main" id="{8F3A93E8-5B3A-E104-9DEE-21355E6B5D64}"/>
              </a:ext>
            </a:extLst>
          </p:cNvPr>
          <p:cNvSpPr>
            <a:spLocks noGrp="1"/>
          </p:cNvSpPr>
          <p:nvPr>
            <p:ph type="subTitle" idx="1"/>
          </p:nvPr>
        </p:nvSpPr>
        <p:spPr/>
        <p:txBody>
          <a:bodyPr/>
          <a:lstStyle/>
          <a:p>
            <a:r>
              <a:rPr lang="en-US" dirty="0"/>
              <a:t>By ER </a:t>
            </a:r>
            <a:r>
              <a:rPr lang="en-US" dirty="0" err="1"/>
              <a:t>parnanand</a:t>
            </a:r>
            <a:r>
              <a:rPr lang="en-US" dirty="0"/>
              <a:t>  kumar</a:t>
            </a:r>
            <a:endParaRPr lang="en-IN" dirty="0"/>
          </a:p>
        </p:txBody>
      </p:sp>
    </p:spTree>
    <p:extLst>
      <p:ext uri="{BB962C8B-B14F-4D97-AF65-F5344CB8AC3E}">
        <p14:creationId xmlns:p14="http://schemas.microsoft.com/office/powerpoint/2010/main" val="1191909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22429-2456-3E7D-5BD0-4B0673E61E26}"/>
              </a:ext>
            </a:extLst>
          </p:cNvPr>
          <p:cNvSpPr>
            <a:spLocks noGrp="1"/>
          </p:cNvSpPr>
          <p:nvPr>
            <p:ph type="title"/>
          </p:nvPr>
        </p:nvSpPr>
        <p:spPr/>
        <p:txBody>
          <a:bodyPr/>
          <a:lstStyle/>
          <a:p>
            <a:r>
              <a:rPr lang="en-IN" dirty="0"/>
              <a:t>Introduction </a:t>
            </a:r>
          </a:p>
        </p:txBody>
      </p:sp>
      <p:sp>
        <p:nvSpPr>
          <p:cNvPr id="3" name="Content Placeholder 2">
            <a:extLst>
              <a:ext uri="{FF2B5EF4-FFF2-40B4-BE49-F238E27FC236}">
                <a16:creationId xmlns:a16="http://schemas.microsoft.com/office/drawing/2014/main" id="{ED8150F9-0210-96C7-B7A0-641C382B269E}"/>
              </a:ext>
            </a:extLst>
          </p:cNvPr>
          <p:cNvSpPr>
            <a:spLocks noGrp="1"/>
          </p:cNvSpPr>
          <p:nvPr>
            <p:ph idx="1"/>
          </p:nvPr>
        </p:nvSpPr>
        <p:spPr/>
        <p:txBody>
          <a:bodyPr/>
          <a:lstStyle/>
          <a:p>
            <a:r>
              <a:rPr lang="en-US" dirty="0"/>
              <a:t>Java is a popular third-generation programming language, which can be used to do any of the thousands of things that a computer software can do. </a:t>
            </a:r>
            <a:endParaRPr lang="en-IN" dirty="0"/>
          </a:p>
        </p:txBody>
      </p:sp>
    </p:spTree>
    <p:extLst>
      <p:ext uri="{BB962C8B-B14F-4D97-AF65-F5344CB8AC3E}">
        <p14:creationId xmlns:p14="http://schemas.microsoft.com/office/powerpoint/2010/main" val="460035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821CD-EBE8-CE13-A0D4-D5B992DD2F59}"/>
              </a:ext>
            </a:extLst>
          </p:cNvPr>
          <p:cNvSpPr>
            <a:spLocks noGrp="1"/>
          </p:cNvSpPr>
          <p:nvPr>
            <p:ph type="title"/>
          </p:nvPr>
        </p:nvSpPr>
        <p:spPr/>
        <p:txBody>
          <a:bodyPr/>
          <a:lstStyle/>
          <a:p>
            <a:r>
              <a:rPr lang="en-IN" dirty="0"/>
              <a:t>Simple Java Program </a:t>
            </a:r>
          </a:p>
        </p:txBody>
      </p:sp>
      <p:sp>
        <p:nvSpPr>
          <p:cNvPr id="3" name="Content Placeholder 2">
            <a:extLst>
              <a:ext uri="{FF2B5EF4-FFF2-40B4-BE49-F238E27FC236}">
                <a16:creationId xmlns:a16="http://schemas.microsoft.com/office/drawing/2014/main" id="{F0A3DE7A-4412-A83A-9008-AE20B4ECAF7D}"/>
              </a:ext>
            </a:extLst>
          </p:cNvPr>
          <p:cNvSpPr>
            <a:spLocks noGrp="1"/>
          </p:cNvSpPr>
          <p:nvPr>
            <p:ph idx="1"/>
          </p:nvPr>
        </p:nvSpPr>
        <p:spPr/>
        <p:txBody>
          <a:bodyPr>
            <a:normAutofit lnSpcReduction="10000"/>
          </a:bodyPr>
          <a:lstStyle/>
          <a:p>
            <a:pPr marL="0" indent="0">
              <a:buNone/>
            </a:pPr>
            <a:r>
              <a:rPr lang="en-IN" b="0" dirty="0">
                <a:solidFill>
                  <a:srgbClr val="6A9955"/>
                </a:solidFill>
                <a:effectLst/>
                <a:latin typeface="Consolas" panose="020B0609020204030204" pitchFamily="49" charset="0"/>
              </a:rPr>
              <a:t>/* program Helloworld.java */</a:t>
            </a:r>
            <a:endParaRPr lang="en-IN" b="0" dirty="0">
              <a:solidFill>
                <a:srgbClr val="D4D4D4"/>
              </a:solidFill>
              <a:effectLst/>
              <a:latin typeface="Consolas" panose="020B0609020204030204" pitchFamily="49" charset="0"/>
            </a:endParaRPr>
          </a:p>
          <a:p>
            <a:pPr marL="0" indent="0">
              <a:buNone/>
            </a:pPr>
            <a:br>
              <a:rPr lang="en-IN" b="0" dirty="0">
                <a:solidFill>
                  <a:srgbClr val="D4D4D4"/>
                </a:solidFill>
                <a:effectLst/>
                <a:latin typeface="Consolas" panose="020B0609020204030204" pitchFamily="49" charset="0"/>
              </a:rPr>
            </a:br>
            <a:r>
              <a:rPr lang="en-IN" b="0" dirty="0">
                <a:solidFill>
                  <a:srgbClr val="569CD6"/>
                </a:solidFill>
                <a:effectLst/>
                <a:latin typeface="Consolas" panose="020B0609020204030204" pitchFamily="49" charset="0"/>
              </a:rPr>
              <a:t>public</a:t>
            </a:r>
            <a:r>
              <a:rPr lang="en-IN" b="0" dirty="0">
                <a:solidFill>
                  <a:srgbClr val="D4D4D4"/>
                </a:solidFill>
                <a:effectLst/>
                <a:latin typeface="Consolas" panose="020B0609020204030204" pitchFamily="49" charset="0"/>
              </a:rPr>
              <a:t> </a:t>
            </a:r>
            <a:r>
              <a:rPr lang="en-IN" b="0" dirty="0">
                <a:solidFill>
                  <a:srgbClr val="569CD6"/>
                </a:solidFill>
                <a:effectLst/>
                <a:latin typeface="Consolas" panose="020B0609020204030204" pitchFamily="49" charset="0"/>
              </a:rPr>
              <a:t>class</a:t>
            </a:r>
            <a:r>
              <a:rPr lang="en-IN" b="0" dirty="0">
                <a:solidFill>
                  <a:srgbClr val="D4D4D4"/>
                </a:solidFill>
                <a:effectLst/>
                <a:latin typeface="Consolas" panose="020B0609020204030204" pitchFamily="49" charset="0"/>
              </a:rPr>
              <a:t> </a:t>
            </a:r>
            <a:r>
              <a:rPr lang="en-IN" b="0" dirty="0" err="1">
                <a:solidFill>
                  <a:srgbClr val="4EC9B0"/>
                </a:solidFill>
                <a:effectLst/>
                <a:latin typeface="Consolas" panose="020B0609020204030204" pitchFamily="49" charset="0"/>
              </a:rPr>
              <a:t>helloWorld</a:t>
            </a:r>
            <a:r>
              <a:rPr lang="en-IN" b="0" dirty="0">
                <a:solidFill>
                  <a:srgbClr val="D4D4D4"/>
                </a:solidFill>
                <a:effectLst/>
                <a:latin typeface="Consolas" panose="020B0609020204030204" pitchFamily="49" charset="0"/>
              </a:rPr>
              <a:t> {</a:t>
            </a:r>
          </a:p>
          <a:p>
            <a:pPr marL="0" indent="0">
              <a:buNone/>
            </a:pPr>
            <a:br>
              <a:rPr lang="en-IN" b="0" dirty="0">
                <a:solidFill>
                  <a:srgbClr val="D4D4D4"/>
                </a:solidFill>
                <a:effectLst/>
                <a:latin typeface="Consolas" panose="020B0609020204030204" pitchFamily="49" charset="0"/>
              </a:rPr>
            </a:br>
            <a:r>
              <a:rPr lang="en-IN" b="0" dirty="0">
                <a:solidFill>
                  <a:srgbClr val="D4D4D4"/>
                </a:solidFill>
                <a:effectLst/>
                <a:latin typeface="Consolas" panose="020B0609020204030204" pitchFamily="49" charset="0"/>
              </a:rPr>
              <a:t>  </a:t>
            </a:r>
            <a:r>
              <a:rPr lang="en-IN" b="0" dirty="0">
                <a:solidFill>
                  <a:srgbClr val="569CD6"/>
                </a:solidFill>
                <a:effectLst/>
                <a:latin typeface="Consolas" panose="020B0609020204030204" pitchFamily="49" charset="0"/>
              </a:rPr>
              <a:t>public</a:t>
            </a:r>
            <a:r>
              <a:rPr lang="en-IN" b="0" dirty="0">
                <a:solidFill>
                  <a:srgbClr val="D4D4D4"/>
                </a:solidFill>
                <a:effectLst/>
                <a:latin typeface="Consolas" panose="020B0609020204030204" pitchFamily="49" charset="0"/>
              </a:rPr>
              <a:t> </a:t>
            </a:r>
            <a:r>
              <a:rPr lang="en-IN" b="0" dirty="0">
                <a:solidFill>
                  <a:srgbClr val="569CD6"/>
                </a:solidFill>
                <a:effectLst/>
                <a:latin typeface="Consolas" panose="020B0609020204030204" pitchFamily="49" charset="0"/>
              </a:rPr>
              <a:t>static</a:t>
            </a:r>
            <a:r>
              <a:rPr lang="en-IN" b="0" dirty="0">
                <a:solidFill>
                  <a:srgbClr val="D4D4D4"/>
                </a:solidFill>
                <a:effectLst/>
                <a:latin typeface="Consolas" panose="020B0609020204030204" pitchFamily="49" charset="0"/>
              </a:rPr>
              <a:t> </a:t>
            </a:r>
            <a:r>
              <a:rPr lang="en-IN" b="0" dirty="0">
                <a:solidFill>
                  <a:srgbClr val="569CD6"/>
                </a:solidFill>
                <a:effectLst/>
                <a:latin typeface="Consolas" panose="020B0609020204030204" pitchFamily="49" charset="0"/>
              </a:rPr>
              <a:t>void</a:t>
            </a:r>
            <a:r>
              <a:rPr lang="en-IN" b="0" dirty="0">
                <a:solidFill>
                  <a:srgbClr val="D4D4D4"/>
                </a:solidFill>
                <a:effectLst/>
                <a:latin typeface="Consolas" panose="020B0609020204030204" pitchFamily="49" charset="0"/>
              </a:rPr>
              <a:t> </a:t>
            </a:r>
            <a:r>
              <a:rPr lang="en-IN" b="0" dirty="0">
                <a:solidFill>
                  <a:srgbClr val="C8C8C8"/>
                </a:solidFill>
                <a:effectLst/>
                <a:latin typeface="Consolas" panose="020B0609020204030204" pitchFamily="49" charset="0"/>
              </a:rPr>
              <a:t>main</a:t>
            </a:r>
            <a:r>
              <a:rPr lang="en-IN" b="0" dirty="0">
                <a:solidFill>
                  <a:srgbClr val="D4D4D4"/>
                </a:solidFill>
                <a:effectLst/>
                <a:latin typeface="Consolas" panose="020B0609020204030204" pitchFamily="49" charset="0"/>
              </a:rPr>
              <a:t>(</a:t>
            </a:r>
            <a:r>
              <a:rPr lang="en-IN" b="0" dirty="0">
                <a:solidFill>
                  <a:srgbClr val="4EC9B0"/>
                </a:solidFill>
                <a:effectLst/>
                <a:latin typeface="Consolas" panose="020B0609020204030204" pitchFamily="49" charset="0"/>
              </a:rPr>
              <a:t>String</a:t>
            </a:r>
            <a:r>
              <a:rPr lang="en-IN" b="0" dirty="0">
                <a:solidFill>
                  <a:srgbClr val="D4D4D4"/>
                </a:solidFill>
                <a:effectLst/>
                <a:latin typeface="Consolas" panose="020B0609020204030204" pitchFamily="49" charset="0"/>
              </a:rPr>
              <a:t>[] </a:t>
            </a:r>
            <a:r>
              <a:rPr lang="en-IN" b="0" dirty="0" err="1">
                <a:solidFill>
                  <a:srgbClr val="7F7F7F"/>
                </a:solidFill>
                <a:effectLst/>
                <a:latin typeface="Consolas" panose="020B0609020204030204" pitchFamily="49" charset="0"/>
              </a:rPr>
              <a:t>args</a:t>
            </a:r>
            <a:r>
              <a:rPr lang="en-IN" b="0" dirty="0">
                <a:solidFill>
                  <a:srgbClr val="D4D4D4"/>
                </a:solidFill>
                <a:effectLst/>
                <a:latin typeface="Consolas" panose="020B0609020204030204" pitchFamily="49" charset="0"/>
              </a:rPr>
              <a:t>) {</a:t>
            </a:r>
          </a:p>
          <a:p>
            <a:pPr marL="0" indent="0">
              <a:buNone/>
            </a:pPr>
            <a:r>
              <a:rPr lang="en-IN" b="0" dirty="0">
                <a:solidFill>
                  <a:srgbClr val="D4D4D4"/>
                </a:solidFill>
                <a:effectLst/>
                <a:latin typeface="Consolas" panose="020B0609020204030204" pitchFamily="49" charset="0"/>
              </a:rPr>
              <a:t>    </a:t>
            </a:r>
            <a:r>
              <a:rPr lang="en-IN" b="0" dirty="0" err="1">
                <a:solidFill>
                  <a:srgbClr val="4EC9B0"/>
                </a:solidFill>
                <a:effectLst/>
                <a:latin typeface="Consolas" panose="020B0609020204030204" pitchFamily="49" charset="0"/>
              </a:rPr>
              <a:t>System</a:t>
            </a:r>
            <a:r>
              <a:rPr lang="en-IN" b="0" dirty="0" err="1">
                <a:solidFill>
                  <a:srgbClr val="D4D4D4"/>
                </a:solidFill>
                <a:effectLst/>
                <a:latin typeface="Consolas" panose="020B0609020204030204" pitchFamily="49" charset="0"/>
              </a:rPr>
              <a:t>.</a:t>
            </a:r>
            <a:r>
              <a:rPr lang="en-IN" b="0" dirty="0" err="1">
                <a:solidFill>
                  <a:srgbClr val="C8C8C8"/>
                </a:solidFill>
                <a:effectLst/>
                <a:latin typeface="Consolas" panose="020B0609020204030204" pitchFamily="49" charset="0"/>
              </a:rPr>
              <a:t>out</a:t>
            </a:r>
            <a:r>
              <a:rPr lang="en-IN" b="0" dirty="0" err="1">
                <a:solidFill>
                  <a:srgbClr val="D4D4D4"/>
                </a:solidFill>
                <a:effectLst/>
                <a:latin typeface="Consolas" panose="020B0609020204030204" pitchFamily="49" charset="0"/>
              </a:rPr>
              <a:t>.</a:t>
            </a:r>
            <a:r>
              <a:rPr lang="en-IN" b="0" dirty="0" err="1">
                <a:solidFill>
                  <a:srgbClr val="C8C8C8"/>
                </a:solidFill>
                <a:effectLst/>
                <a:latin typeface="Consolas" panose="020B0609020204030204" pitchFamily="49" charset="0"/>
              </a:rPr>
              <a:t>println</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"Hello </a:t>
            </a:r>
            <a:r>
              <a:rPr lang="en-IN" b="0" dirty="0" err="1">
                <a:solidFill>
                  <a:srgbClr val="CE9178"/>
                </a:solidFill>
                <a:effectLst/>
                <a:latin typeface="Consolas" panose="020B0609020204030204" pitchFamily="49" charset="0"/>
              </a:rPr>
              <a:t>Parnand</a:t>
            </a:r>
            <a:r>
              <a:rPr lang="en-IN" b="0" dirty="0">
                <a:solidFill>
                  <a:srgbClr val="CE9178"/>
                </a:solidFill>
                <a:effectLst/>
                <a:latin typeface="Consolas" panose="020B0609020204030204" pitchFamily="49" charset="0"/>
              </a:rPr>
              <a:t> Sir"</a:t>
            </a:r>
            <a:r>
              <a:rPr lang="en-IN" b="0" dirty="0">
                <a:solidFill>
                  <a:srgbClr val="D4D4D4"/>
                </a:solidFill>
                <a:effectLst/>
                <a:latin typeface="Consolas" panose="020B0609020204030204" pitchFamily="49" charset="0"/>
              </a:rPr>
              <a:t>);</a:t>
            </a:r>
          </a:p>
          <a:p>
            <a:pPr marL="0" indent="0">
              <a:buNone/>
            </a:pPr>
            <a:r>
              <a:rPr lang="en-IN" b="0" dirty="0">
                <a:solidFill>
                  <a:srgbClr val="D4D4D4"/>
                </a:solidFill>
                <a:effectLst/>
                <a:latin typeface="Consolas" panose="020B0609020204030204" pitchFamily="49" charset="0"/>
              </a:rPr>
              <a:t>  }</a:t>
            </a:r>
          </a:p>
          <a:p>
            <a:pPr marL="0" indent="0">
              <a:buNone/>
            </a:pPr>
            <a:r>
              <a:rPr lang="en-IN" b="0" dirty="0">
                <a:solidFill>
                  <a:srgbClr val="D4D4D4"/>
                </a:solidFill>
                <a:effectLst/>
                <a:latin typeface="Consolas" panose="020B0609020204030204" pitchFamily="49" charset="0"/>
              </a:rPr>
              <a:t>}</a:t>
            </a:r>
            <a:r>
              <a:rPr lang="en-IN" b="0" dirty="0">
                <a:solidFill>
                  <a:srgbClr val="6A9955"/>
                </a:solidFill>
                <a:effectLst/>
                <a:latin typeface="Consolas" panose="020B0609020204030204" pitchFamily="49" charset="0"/>
              </a:rPr>
              <a:t>//main ends here</a:t>
            </a:r>
            <a:endParaRPr lang="en-IN" b="0" dirty="0">
              <a:solidFill>
                <a:srgbClr val="D4D4D4"/>
              </a:solidFill>
              <a:effectLst/>
              <a:latin typeface="Consolas" panose="020B0609020204030204" pitchFamily="49" charset="0"/>
            </a:endParaRPr>
          </a:p>
          <a:p>
            <a:pPr marL="0" indent="0">
              <a:buNone/>
            </a:pPr>
            <a:br>
              <a:rPr lang="en-IN" b="0" dirty="0">
                <a:solidFill>
                  <a:srgbClr val="D4D4D4"/>
                </a:solidFill>
                <a:effectLst/>
                <a:latin typeface="Consolas" panose="020B0609020204030204" pitchFamily="49" charset="0"/>
              </a:rPr>
            </a:br>
            <a:endParaRPr lang="en-IN" b="0" dirty="0">
              <a:solidFill>
                <a:srgbClr val="D4D4D4"/>
              </a:solidFill>
              <a:effectLst/>
              <a:latin typeface="Consolas" panose="020B0609020204030204" pitchFamily="49" charset="0"/>
            </a:endParaRPr>
          </a:p>
          <a:p>
            <a:endParaRPr lang="en-IN" dirty="0"/>
          </a:p>
        </p:txBody>
      </p:sp>
    </p:spTree>
    <p:extLst>
      <p:ext uri="{BB962C8B-B14F-4D97-AF65-F5344CB8AC3E}">
        <p14:creationId xmlns:p14="http://schemas.microsoft.com/office/powerpoint/2010/main" val="1902116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CBD48-02D5-B49B-2A49-AFBACBCC5BF2}"/>
              </a:ext>
            </a:extLst>
          </p:cNvPr>
          <p:cNvSpPr>
            <a:spLocks noGrp="1"/>
          </p:cNvSpPr>
          <p:nvPr>
            <p:ph type="title"/>
          </p:nvPr>
        </p:nvSpPr>
        <p:spPr/>
        <p:txBody>
          <a:bodyPr/>
          <a:lstStyle/>
          <a:p>
            <a:r>
              <a:rPr lang="en-IN" dirty="0"/>
              <a:t>Types of Java Programs </a:t>
            </a:r>
          </a:p>
        </p:txBody>
      </p:sp>
      <p:sp>
        <p:nvSpPr>
          <p:cNvPr id="3" name="Content Placeholder 2">
            <a:extLst>
              <a:ext uri="{FF2B5EF4-FFF2-40B4-BE49-F238E27FC236}">
                <a16:creationId xmlns:a16="http://schemas.microsoft.com/office/drawing/2014/main" id="{4CBAA38A-8366-0AAF-29CD-FCAB89B222B7}"/>
              </a:ext>
            </a:extLst>
          </p:cNvPr>
          <p:cNvSpPr>
            <a:spLocks noGrp="1"/>
          </p:cNvSpPr>
          <p:nvPr>
            <p:ph idx="1"/>
          </p:nvPr>
        </p:nvSpPr>
        <p:spPr/>
        <p:txBody>
          <a:bodyPr/>
          <a:lstStyle/>
          <a:p>
            <a:r>
              <a:rPr lang="en-US" dirty="0"/>
              <a:t>There are two types of Java programs </a:t>
            </a:r>
          </a:p>
          <a:p>
            <a:pPr lvl="1"/>
            <a:r>
              <a:rPr lang="en-US" dirty="0"/>
              <a:t>Internet applets </a:t>
            </a:r>
          </a:p>
          <a:p>
            <a:pPr lvl="1"/>
            <a:r>
              <a:rPr lang="en-US" dirty="0"/>
              <a:t> Stand alone applications. </a:t>
            </a:r>
          </a:p>
          <a:p>
            <a:endParaRPr lang="en-IN" dirty="0"/>
          </a:p>
        </p:txBody>
      </p:sp>
    </p:spTree>
    <p:extLst>
      <p:ext uri="{BB962C8B-B14F-4D97-AF65-F5344CB8AC3E}">
        <p14:creationId xmlns:p14="http://schemas.microsoft.com/office/powerpoint/2010/main" val="775897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757A9-6CD3-1178-323B-BED294046CEE}"/>
              </a:ext>
            </a:extLst>
          </p:cNvPr>
          <p:cNvSpPr>
            <a:spLocks noGrp="1"/>
          </p:cNvSpPr>
          <p:nvPr>
            <p:ph type="title"/>
          </p:nvPr>
        </p:nvSpPr>
        <p:spPr/>
        <p:txBody>
          <a:bodyPr/>
          <a:lstStyle/>
          <a:p>
            <a:r>
              <a:rPr lang="en-IN" dirty="0"/>
              <a:t>Java Character Set </a:t>
            </a:r>
          </a:p>
        </p:txBody>
      </p:sp>
      <p:sp>
        <p:nvSpPr>
          <p:cNvPr id="3" name="Content Placeholder 2">
            <a:extLst>
              <a:ext uri="{FF2B5EF4-FFF2-40B4-BE49-F238E27FC236}">
                <a16:creationId xmlns:a16="http://schemas.microsoft.com/office/drawing/2014/main" id="{35EAAE55-A2B6-37DC-E4C0-FEEAF522BC10}"/>
              </a:ext>
            </a:extLst>
          </p:cNvPr>
          <p:cNvSpPr>
            <a:spLocks noGrp="1"/>
          </p:cNvSpPr>
          <p:nvPr>
            <p:ph idx="1"/>
          </p:nvPr>
        </p:nvSpPr>
        <p:spPr/>
        <p:txBody>
          <a:bodyPr>
            <a:normAutofit fontScale="92500" lnSpcReduction="10000"/>
          </a:bodyPr>
          <a:lstStyle/>
          <a:p>
            <a:r>
              <a:rPr lang="en-US" dirty="0"/>
              <a:t>Character set is a set of valid characters that a language can </a:t>
            </a:r>
            <a:r>
              <a:rPr lang="en-US" dirty="0" err="1"/>
              <a:t>recognise</a:t>
            </a:r>
            <a:r>
              <a:rPr lang="en-US" dirty="0"/>
              <a:t>.</a:t>
            </a:r>
          </a:p>
          <a:p>
            <a:r>
              <a:rPr lang="en-US" dirty="0"/>
              <a:t>A character represents any letter, digit or any other sign Java uses the Unicode character set, </a:t>
            </a:r>
          </a:p>
          <a:p>
            <a:r>
              <a:rPr lang="en-US" dirty="0"/>
              <a:t>Unicode is a two-byte character code set that has characters representing almost all characters in almost all human alphabets and </a:t>
            </a:r>
            <a:r>
              <a:rPr lang="en-US" dirty="0" err="1"/>
              <a:t>wniting</a:t>
            </a:r>
            <a:r>
              <a:rPr lang="en-US" dirty="0"/>
              <a:t> systems around the world including English, Arabic, Chinese and many more</a:t>
            </a:r>
          </a:p>
          <a:p>
            <a:r>
              <a:rPr lang="en-US" dirty="0"/>
              <a:t>The first 128 characters in the Unicode character set are identical to the common ASCII </a:t>
            </a:r>
          </a:p>
          <a:p>
            <a:r>
              <a:rPr lang="en-US" dirty="0"/>
              <a:t>The second 128 characters are identical to the upper 128 characters of the Iso Latin-1 extended ASCII character set</a:t>
            </a:r>
          </a:p>
          <a:p>
            <a:r>
              <a:rPr lang="en-US" dirty="0"/>
              <a:t> It’s the next 65,280 characters that present problems, </a:t>
            </a:r>
          </a:p>
          <a:p>
            <a:endParaRPr lang="en-IN" dirty="0"/>
          </a:p>
        </p:txBody>
      </p:sp>
    </p:spTree>
    <p:extLst>
      <p:ext uri="{BB962C8B-B14F-4D97-AF65-F5344CB8AC3E}">
        <p14:creationId xmlns:p14="http://schemas.microsoft.com/office/powerpoint/2010/main" val="3235103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6F524-8389-948C-1B20-26CC324D9F09}"/>
              </a:ext>
            </a:extLst>
          </p:cNvPr>
          <p:cNvSpPr>
            <a:spLocks noGrp="1"/>
          </p:cNvSpPr>
          <p:nvPr>
            <p:ph type="title"/>
          </p:nvPr>
        </p:nvSpPr>
        <p:spPr/>
        <p:txBody>
          <a:bodyPr/>
          <a:lstStyle/>
          <a:p>
            <a:r>
              <a:rPr lang="en-IN" dirty="0">
                <a:solidFill>
                  <a:srgbClr val="FF0000"/>
                </a:solidFill>
              </a:rPr>
              <a:t>Tokens </a:t>
            </a:r>
          </a:p>
        </p:txBody>
      </p:sp>
      <p:sp>
        <p:nvSpPr>
          <p:cNvPr id="3" name="Content Placeholder 2">
            <a:extLst>
              <a:ext uri="{FF2B5EF4-FFF2-40B4-BE49-F238E27FC236}">
                <a16:creationId xmlns:a16="http://schemas.microsoft.com/office/drawing/2014/main" id="{54268E30-029C-797A-48D5-02F878257DC4}"/>
              </a:ext>
            </a:extLst>
          </p:cNvPr>
          <p:cNvSpPr>
            <a:spLocks noGrp="1"/>
          </p:cNvSpPr>
          <p:nvPr>
            <p:ph idx="1"/>
          </p:nvPr>
        </p:nvSpPr>
        <p:spPr/>
        <p:txBody>
          <a:bodyPr/>
          <a:lstStyle/>
          <a:p>
            <a:r>
              <a:rPr lang="en-US" dirty="0"/>
              <a:t>The smallest individual unit in a program is known as a Token. </a:t>
            </a:r>
          </a:p>
          <a:p>
            <a:r>
              <a:rPr lang="en-US" dirty="0"/>
              <a:t>Java has following tokens</a:t>
            </a:r>
          </a:p>
          <a:p>
            <a:pPr lvl="1"/>
            <a:r>
              <a:rPr lang="en-US" dirty="0"/>
              <a:t>Keywords </a:t>
            </a:r>
          </a:p>
          <a:p>
            <a:pPr lvl="1"/>
            <a:r>
              <a:rPr lang="en-US" dirty="0"/>
              <a:t>Identifiers</a:t>
            </a:r>
          </a:p>
          <a:p>
            <a:pPr lvl="1"/>
            <a:r>
              <a:rPr lang="en-US" dirty="0"/>
              <a:t>Literals</a:t>
            </a:r>
          </a:p>
          <a:p>
            <a:pPr lvl="1"/>
            <a:r>
              <a:rPr lang="en-US" dirty="0"/>
              <a:t>Punctuators</a:t>
            </a:r>
          </a:p>
          <a:p>
            <a:pPr lvl="1"/>
            <a:r>
              <a:rPr lang="en-US" dirty="0"/>
              <a:t>Operator</a:t>
            </a:r>
            <a:endParaRPr lang="en-IN" dirty="0"/>
          </a:p>
        </p:txBody>
      </p:sp>
    </p:spTree>
    <p:extLst>
      <p:ext uri="{BB962C8B-B14F-4D97-AF65-F5344CB8AC3E}">
        <p14:creationId xmlns:p14="http://schemas.microsoft.com/office/powerpoint/2010/main" val="3054647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416D4-2955-0180-BF25-4C6B393FE625}"/>
              </a:ext>
            </a:extLst>
          </p:cNvPr>
          <p:cNvSpPr>
            <a:spLocks noGrp="1"/>
          </p:cNvSpPr>
          <p:nvPr>
            <p:ph type="title"/>
          </p:nvPr>
        </p:nvSpPr>
        <p:spPr>
          <a:xfrm>
            <a:off x="208547" y="288758"/>
            <a:ext cx="10696074" cy="808372"/>
          </a:xfrm>
        </p:spPr>
        <p:txBody>
          <a:bodyPr/>
          <a:lstStyle/>
          <a:p>
            <a:r>
              <a:rPr lang="en-IN" dirty="0"/>
              <a:t>Keywords </a:t>
            </a:r>
          </a:p>
        </p:txBody>
      </p:sp>
      <p:sp>
        <p:nvSpPr>
          <p:cNvPr id="3" name="Content Placeholder 2">
            <a:extLst>
              <a:ext uri="{FF2B5EF4-FFF2-40B4-BE49-F238E27FC236}">
                <a16:creationId xmlns:a16="http://schemas.microsoft.com/office/drawing/2014/main" id="{90933593-7E10-2B23-0724-0244C3C1379C}"/>
              </a:ext>
            </a:extLst>
          </p:cNvPr>
          <p:cNvSpPr>
            <a:spLocks noGrp="1"/>
          </p:cNvSpPr>
          <p:nvPr>
            <p:ph idx="1"/>
          </p:nvPr>
        </p:nvSpPr>
        <p:spPr>
          <a:xfrm>
            <a:off x="683794" y="1097130"/>
            <a:ext cx="10824411" cy="1767807"/>
          </a:xfrm>
        </p:spPr>
        <p:txBody>
          <a:bodyPr/>
          <a:lstStyle/>
          <a:p>
            <a:r>
              <a:rPr lang="en-US" dirty="0"/>
              <a:t>Keywords are the words that convey a special meaning to the language compiler. </a:t>
            </a:r>
          </a:p>
          <a:p>
            <a:r>
              <a:rPr lang="en-US" dirty="0"/>
              <a:t>These are reserved for special purpose and must not be used as normal identifier names </a:t>
            </a:r>
            <a:endParaRPr lang="en-IN" dirty="0"/>
          </a:p>
        </p:txBody>
      </p:sp>
      <p:sp>
        <p:nvSpPr>
          <p:cNvPr id="5" name="TextBox 4">
            <a:extLst>
              <a:ext uri="{FF2B5EF4-FFF2-40B4-BE49-F238E27FC236}">
                <a16:creationId xmlns:a16="http://schemas.microsoft.com/office/drawing/2014/main" id="{4F872B36-2978-DAF7-8C2A-DA3E1CD217E2}"/>
              </a:ext>
            </a:extLst>
          </p:cNvPr>
          <p:cNvSpPr txBox="1"/>
          <p:nvPr/>
        </p:nvSpPr>
        <p:spPr>
          <a:xfrm>
            <a:off x="2061812" y="2898548"/>
            <a:ext cx="8552848" cy="2862322"/>
          </a:xfrm>
          <a:prstGeom prst="rect">
            <a:avLst/>
          </a:prstGeom>
          <a:noFill/>
        </p:spPr>
        <p:txBody>
          <a:bodyPr wrap="square">
            <a:spAutoFit/>
          </a:bodyPr>
          <a:lstStyle/>
          <a:p>
            <a:r>
              <a:rPr lang="en-IN" dirty="0"/>
              <a:t>abstract 		default		 if 		Private		 this </a:t>
            </a:r>
          </a:p>
          <a:p>
            <a:r>
              <a:rPr lang="en-IN" dirty="0" err="1"/>
              <a:t>boolean</a:t>
            </a:r>
            <a:r>
              <a:rPr lang="en-IN" dirty="0"/>
              <a:t> 		do		 implements	 protected	 throw </a:t>
            </a:r>
          </a:p>
          <a:p>
            <a:r>
              <a:rPr lang="en-IN" dirty="0"/>
              <a:t>break 		double 		import 		public 		throws </a:t>
            </a:r>
          </a:p>
          <a:p>
            <a:r>
              <a:rPr lang="en-IN" dirty="0"/>
              <a:t>byte 		else 		</a:t>
            </a:r>
            <a:r>
              <a:rPr lang="en-IN" dirty="0" err="1"/>
              <a:t>instanceof</a:t>
            </a:r>
            <a:r>
              <a:rPr lang="en-IN" dirty="0"/>
              <a:t> 	</a:t>
            </a:r>
            <a:r>
              <a:rPr lang="en-IN" dirty="0" err="1"/>
              <a:t>retum</a:t>
            </a:r>
            <a:r>
              <a:rPr lang="en-IN" dirty="0"/>
              <a:t> 		transient </a:t>
            </a:r>
          </a:p>
          <a:p>
            <a:r>
              <a:rPr lang="en-IN" dirty="0"/>
              <a:t>case 		extends 		int		 short		 try </a:t>
            </a:r>
          </a:p>
          <a:p>
            <a:r>
              <a:rPr lang="en-IN" dirty="0"/>
              <a:t>Catch		 final		 interface 	static 		void </a:t>
            </a:r>
          </a:p>
          <a:p>
            <a:r>
              <a:rPr lang="en-IN" dirty="0"/>
              <a:t>char 		finally 		long 		</a:t>
            </a:r>
            <a:r>
              <a:rPr lang="en-IN" dirty="0" err="1"/>
              <a:t>strictEp</a:t>
            </a:r>
            <a:r>
              <a:rPr lang="en-IN" dirty="0"/>
              <a:t> 		volatile </a:t>
            </a:r>
          </a:p>
          <a:p>
            <a:r>
              <a:rPr lang="en-IN" dirty="0"/>
              <a:t>Class		 float 		native		 super		 while </a:t>
            </a:r>
          </a:p>
          <a:p>
            <a:r>
              <a:rPr lang="en-IN" dirty="0" err="1"/>
              <a:t>const</a:t>
            </a:r>
            <a:r>
              <a:rPr lang="en-IN" dirty="0"/>
              <a:t> 		for 		new 		switch </a:t>
            </a:r>
          </a:p>
          <a:p>
            <a:r>
              <a:rPr lang="en-IN" dirty="0" err="1"/>
              <a:t>Conhinue</a:t>
            </a:r>
            <a:r>
              <a:rPr lang="en-IN" dirty="0"/>
              <a:t>		 </a:t>
            </a:r>
            <a:r>
              <a:rPr lang="en-IN" dirty="0" err="1"/>
              <a:t>goto</a:t>
            </a:r>
            <a:r>
              <a:rPr lang="en-IN" dirty="0"/>
              <a:t> 		package 		synchronized</a:t>
            </a:r>
          </a:p>
        </p:txBody>
      </p:sp>
    </p:spTree>
    <p:extLst>
      <p:ext uri="{BB962C8B-B14F-4D97-AF65-F5344CB8AC3E}">
        <p14:creationId xmlns:p14="http://schemas.microsoft.com/office/powerpoint/2010/main" val="2126847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6D53A-0A0D-9821-9E96-F86FFA37C97B}"/>
              </a:ext>
            </a:extLst>
          </p:cNvPr>
          <p:cNvSpPr>
            <a:spLocks noGrp="1"/>
          </p:cNvSpPr>
          <p:nvPr>
            <p:ph type="title"/>
          </p:nvPr>
        </p:nvSpPr>
        <p:spPr/>
        <p:txBody>
          <a:bodyPr/>
          <a:lstStyle/>
          <a:p>
            <a:r>
              <a:rPr lang="en-IN" dirty="0"/>
              <a:t>Identifiers:- </a:t>
            </a:r>
          </a:p>
        </p:txBody>
      </p:sp>
      <p:sp>
        <p:nvSpPr>
          <p:cNvPr id="3" name="Content Placeholder 2">
            <a:extLst>
              <a:ext uri="{FF2B5EF4-FFF2-40B4-BE49-F238E27FC236}">
                <a16:creationId xmlns:a16="http://schemas.microsoft.com/office/drawing/2014/main" id="{D9335B4F-2250-BB4C-4A02-6D470A42F33C}"/>
              </a:ext>
            </a:extLst>
          </p:cNvPr>
          <p:cNvSpPr>
            <a:spLocks noGrp="1"/>
          </p:cNvSpPr>
          <p:nvPr>
            <p:ph idx="1"/>
          </p:nvPr>
        </p:nvSpPr>
        <p:spPr>
          <a:xfrm>
            <a:off x="838200" y="1825625"/>
            <a:ext cx="10789920" cy="4351338"/>
          </a:xfrm>
        </p:spPr>
        <p:txBody>
          <a:bodyPr>
            <a:normAutofit fontScale="92500" lnSpcReduction="10000"/>
          </a:bodyPr>
          <a:lstStyle/>
          <a:p>
            <a:r>
              <a:rPr lang="en-US" dirty="0"/>
              <a:t>Identifiers are fundamental building blocks of a program and are used as the general terminology for the names given to different parts of the program </a:t>
            </a:r>
            <a:r>
              <a:rPr lang="en-US" dirty="0" err="1"/>
              <a:t>vz</a:t>
            </a:r>
            <a:r>
              <a:rPr lang="en-US" dirty="0"/>
              <a:t> variables, objects, classes, functions, arrays </a:t>
            </a:r>
            <a:r>
              <a:rPr lang="en-US" dirty="0" err="1"/>
              <a:t>etc</a:t>
            </a:r>
            <a:endParaRPr lang="en-US" dirty="0"/>
          </a:p>
          <a:p>
            <a:r>
              <a:rPr lang="en-US" dirty="0"/>
              <a:t> Identifier forming rules of Java state the following : </a:t>
            </a:r>
          </a:p>
          <a:p>
            <a:pPr marL="0" indent="0">
              <a:buNone/>
            </a:pPr>
            <a:r>
              <a:rPr lang="en-US" dirty="0"/>
              <a:t>1. Identifiers can have alphabets, digits and underscore and </a:t>
            </a:r>
            <a:r>
              <a:rPr lang="en-US" dirty="0" err="1"/>
              <a:t>doller</a:t>
            </a:r>
            <a:r>
              <a:rPr lang="en-US" dirty="0"/>
              <a:t> sign characters </a:t>
            </a:r>
          </a:p>
          <a:p>
            <a:pPr marL="0" indent="0">
              <a:buNone/>
            </a:pPr>
            <a:r>
              <a:rPr lang="en-US" dirty="0"/>
              <a:t>2. They must not be a keyword or </a:t>
            </a:r>
            <a:r>
              <a:rPr lang="en-US" dirty="0" err="1"/>
              <a:t>boolean</a:t>
            </a:r>
            <a:r>
              <a:rPr lang="en-US" dirty="0"/>
              <a:t> literal or null literal. </a:t>
            </a:r>
          </a:p>
          <a:p>
            <a:pPr marL="0" indent="0">
              <a:buNone/>
            </a:pPr>
            <a:r>
              <a:rPr lang="en-US" dirty="0"/>
              <a:t>3. They must not begin with a digit. </a:t>
            </a:r>
          </a:p>
          <a:p>
            <a:pPr marL="0" indent="0">
              <a:buNone/>
            </a:pPr>
            <a:r>
              <a:rPr lang="en-US" dirty="0"/>
              <a:t>4. They can be of any length </a:t>
            </a:r>
          </a:p>
          <a:p>
            <a:pPr marL="0" indent="0">
              <a:buNone/>
            </a:pPr>
            <a:r>
              <a:rPr lang="en-US" dirty="0"/>
              <a:t>5. Java is case sensitive 1 e., upper-case letters and lower-case letters are treated differently. </a:t>
            </a:r>
            <a:endParaRPr lang="en-IN" dirty="0"/>
          </a:p>
        </p:txBody>
      </p:sp>
    </p:spTree>
    <p:extLst>
      <p:ext uri="{BB962C8B-B14F-4D97-AF65-F5344CB8AC3E}">
        <p14:creationId xmlns:p14="http://schemas.microsoft.com/office/powerpoint/2010/main" val="106053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F511D-24B8-EAAB-E280-3C89A81BF3A3}"/>
              </a:ext>
            </a:extLst>
          </p:cNvPr>
          <p:cNvSpPr>
            <a:spLocks noGrp="1"/>
          </p:cNvSpPr>
          <p:nvPr>
            <p:ph type="title"/>
          </p:nvPr>
        </p:nvSpPr>
        <p:spPr>
          <a:xfrm>
            <a:off x="563880" y="365125"/>
            <a:ext cx="10789920" cy="823595"/>
          </a:xfrm>
        </p:spPr>
        <p:txBody>
          <a:bodyPr/>
          <a:lstStyle/>
          <a:p>
            <a:r>
              <a:rPr lang="en-IN" dirty="0"/>
              <a:t>Identifier Naming Conventions </a:t>
            </a:r>
          </a:p>
        </p:txBody>
      </p:sp>
      <p:sp>
        <p:nvSpPr>
          <p:cNvPr id="3" name="Content Placeholder 2">
            <a:extLst>
              <a:ext uri="{FF2B5EF4-FFF2-40B4-BE49-F238E27FC236}">
                <a16:creationId xmlns:a16="http://schemas.microsoft.com/office/drawing/2014/main" id="{D776A1A7-72C5-0C1D-45E0-FF700A2A88D9}"/>
              </a:ext>
            </a:extLst>
          </p:cNvPr>
          <p:cNvSpPr>
            <a:spLocks noGrp="1"/>
          </p:cNvSpPr>
          <p:nvPr>
            <p:ph idx="1"/>
          </p:nvPr>
        </p:nvSpPr>
        <p:spPr>
          <a:xfrm>
            <a:off x="563880" y="1325880"/>
            <a:ext cx="11186160" cy="5379720"/>
          </a:xfrm>
        </p:spPr>
        <p:txBody>
          <a:bodyPr>
            <a:normAutofit lnSpcReduction="10000"/>
          </a:bodyPr>
          <a:lstStyle/>
          <a:p>
            <a:r>
              <a:rPr lang="en-US" dirty="0"/>
              <a:t>While making identifier names, certain conventions are followed. These are . </a:t>
            </a:r>
          </a:p>
          <a:p>
            <a:pPr marL="514350" indent="-514350">
              <a:buFont typeface="+mj-lt"/>
              <a:buAutoNum type="arabicPeriod"/>
            </a:pPr>
            <a:r>
              <a:rPr lang="en-US" dirty="0"/>
              <a:t>The names of public methods and instance variables should begin with a lower case letter </a:t>
            </a:r>
            <a:r>
              <a:rPr lang="en-US" dirty="0" err="1"/>
              <a:t>e.g</a:t>
            </a:r>
            <a:r>
              <a:rPr lang="en-US" dirty="0"/>
              <a:t>,  maximum sum </a:t>
            </a:r>
          </a:p>
          <a:p>
            <a:pPr marL="514350" indent="-514350">
              <a:buFont typeface="+mj-lt"/>
              <a:buAutoNum type="arabicPeriod"/>
            </a:pPr>
            <a:r>
              <a:rPr lang="en-US" dirty="0"/>
              <a:t>For names having multiple words, second and subsequent words beginning character is made capital so as to enhance readability  				</a:t>
            </a:r>
            <a:r>
              <a:rPr lang="en-US" dirty="0" err="1"/>
              <a:t>e.g</a:t>
            </a:r>
            <a:r>
              <a:rPr lang="en-US" dirty="0"/>
              <a:t>, </a:t>
            </a:r>
            <a:r>
              <a:rPr lang="en-US" dirty="0" err="1"/>
              <a:t>avgSalaryOfEmployees</a:t>
            </a:r>
            <a:r>
              <a:rPr lang="en-US" dirty="0"/>
              <a:t>, </a:t>
            </a:r>
            <a:r>
              <a:rPr lang="en-US" dirty="0" err="1"/>
              <a:t>dateOfBirth</a:t>
            </a:r>
            <a:r>
              <a:rPr lang="en-US" dirty="0"/>
              <a:t> </a:t>
            </a:r>
          </a:p>
          <a:p>
            <a:pPr marL="514350" indent="-514350">
              <a:buFont typeface="+mj-lt"/>
              <a:buAutoNum type="arabicPeriod"/>
            </a:pPr>
            <a:r>
              <a:rPr lang="en-US" dirty="0"/>
              <a:t>Private and local variables should use lower case letters 				e.g., width, result, </a:t>
            </a:r>
            <a:r>
              <a:rPr lang="en-US" dirty="0" err="1"/>
              <a:t>final_score</a:t>
            </a:r>
            <a:r>
              <a:rPr lang="en-US" dirty="0"/>
              <a:t> </a:t>
            </a:r>
          </a:p>
          <a:p>
            <a:pPr marL="514350" indent="-514350">
              <a:buFont typeface="+mj-lt"/>
              <a:buAutoNum type="arabicPeriod"/>
            </a:pPr>
            <a:r>
              <a:rPr lang="en-US" dirty="0"/>
              <a:t>The class names and interface names begin with an upper case letter			 e.g. </a:t>
            </a:r>
            <a:r>
              <a:rPr lang="en-US" dirty="0" err="1"/>
              <a:t>InitialClass</a:t>
            </a:r>
            <a:r>
              <a:rPr lang="en-US" dirty="0"/>
              <a:t>, Employee, Student </a:t>
            </a:r>
          </a:p>
          <a:p>
            <a:pPr marL="514350" indent="-514350">
              <a:buFont typeface="+mj-lt"/>
              <a:buAutoNum type="arabicPeriod"/>
            </a:pPr>
            <a:r>
              <a:rPr lang="en-US" dirty="0"/>
              <a:t>The constants should be named using all capital letters and underscores		 e.g., MAX_VALUE, MAX_MARKS, SPECIAL SALARY, TOTA</a:t>
            </a:r>
            <a:endParaRPr lang="en-IN" dirty="0"/>
          </a:p>
        </p:txBody>
      </p:sp>
    </p:spTree>
    <p:extLst>
      <p:ext uri="{BB962C8B-B14F-4D97-AF65-F5344CB8AC3E}">
        <p14:creationId xmlns:p14="http://schemas.microsoft.com/office/powerpoint/2010/main" val="4251206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DD607-07C1-CAE7-98E8-FF282608F344}"/>
              </a:ext>
            </a:extLst>
          </p:cNvPr>
          <p:cNvSpPr>
            <a:spLocks noGrp="1"/>
          </p:cNvSpPr>
          <p:nvPr>
            <p:ph type="title"/>
          </p:nvPr>
        </p:nvSpPr>
        <p:spPr/>
        <p:txBody>
          <a:bodyPr/>
          <a:lstStyle/>
          <a:p>
            <a:r>
              <a:rPr lang="en-IN" dirty="0"/>
              <a:t>Literals </a:t>
            </a:r>
          </a:p>
        </p:txBody>
      </p:sp>
      <p:sp>
        <p:nvSpPr>
          <p:cNvPr id="3" name="Content Placeholder 2">
            <a:extLst>
              <a:ext uri="{FF2B5EF4-FFF2-40B4-BE49-F238E27FC236}">
                <a16:creationId xmlns:a16="http://schemas.microsoft.com/office/drawing/2014/main" id="{3AE20CF5-CD50-F7AA-09C8-028EF2BB5A73}"/>
              </a:ext>
            </a:extLst>
          </p:cNvPr>
          <p:cNvSpPr>
            <a:spLocks noGrp="1"/>
          </p:cNvSpPr>
          <p:nvPr>
            <p:ph idx="1"/>
          </p:nvPr>
        </p:nvSpPr>
        <p:spPr/>
        <p:txBody>
          <a:bodyPr>
            <a:normAutofit lnSpcReduction="10000"/>
          </a:bodyPr>
          <a:lstStyle/>
          <a:p>
            <a:r>
              <a:rPr lang="en-IN" dirty="0"/>
              <a:t>Literals (often referred to as constant) are data items that are fixed data value.</a:t>
            </a:r>
          </a:p>
          <a:p>
            <a:r>
              <a:rPr lang="en-IN" dirty="0"/>
              <a:t>Java allows several kinds of literals</a:t>
            </a:r>
          </a:p>
          <a:p>
            <a:pPr marL="514350" indent="-514350">
              <a:buFont typeface="+mj-lt"/>
              <a:buAutoNum type="arabicPeriod"/>
            </a:pPr>
            <a:r>
              <a:rPr lang="en-IN" dirty="0"/>
              <a:t>Integer-literal</a:t>
            </a:r>
          </a:p>
          <a:p>
            <a:pPr marL="514350" indent="-514350">
              <a:buFont typeface="+mj-lt"/>
              <a:buAutoNum type="arabicPeriod"/>
            </a:pPr>
            <a:r>
              <a:rPr lang="en-IN" dirty="0"/>
              <a:t>Floating –literal</a:t>
            </a:r>
          </a:p>
          <a:p>
            <a:pPr marL="514350" indent="-514350">
              <a:buFont typeface="+mj-lt"/>
              <a:buAutoNum type="arabicPeriod"/>
            </a:pPr>
            <a:r>
              <a:rPr lang="en-IN" dirty="0"/>
              <a:t>Character-literal</a:t>
            </a:r>
          </a:p>
          <a:p>
            <a:pPr marL="514350" indent="-514350">
              <a:buFont typeface="+mj-lt"/>
              <a:buAutoNum type="arabicPeriod"/>
            </a:pPr>
            <a:r>
              <a:rPr lang="en-IN" dirty="0"/>
              <a:t>String-literal</a:t>
            </a:r>
          </a:p>
          <a:p>
            <a:pPr marL="514350" indent="-514350">
              <a:buFont typeface="+mj-lt"/>
              <a:buAutoNum type="arabicPeriod"/>
            </a:pPr>
            <a:r>
              <a:rPr lang="en-IN" dirty="0"/>
              <a:t>Boolean-literal</a:t>
            </a:r>
          </a:p>
          <a:p>
            <a:pPr marL="514350" indent="-514350">
              <a:buFont typeface="+mj-lt"/>
              <a:buAutoNum type="arabicPeriod"/>
            </a:pPr>
            <a:r>
              <a:rPr lang="en-IN" dirty="0"/>
              <a:t>The null-literal</a:t>
            </a:r>
          </a:p>
        </p:txBody>
      </p:sp>
    </p:spTree>
    <p:extLst>
      <p:ext uri="{BB962C8B-B14F-4D97-AF65-F5344CB8AC3E}">
        <p14:creationId xmlns:p14="http://schemas.microsoft.com/office/powerpoint/2010/main" val="2407485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C7B21-4184-6B93-BBB6-E82207A0DD6F}"/>
              </a:ext>
            </a:extLst>
          </p:cNvPr>
          <p:cNvSpPr>
            <a:spLocks noGrp="1"/>
          </p:cNvSpPr>
          <p:nvPr>
            <p:ph type="title"/>
          </p:nvPr>
        </p:nvSpPr>
        <p:spPr/>
        <p:txBody>
          <a:bodyPr/>
          <a:lstStyle/>
          <a:p>
            <a:r>
              <a:rPr lang="en-IN" dirty="0"/>
              <a:t>(</a:t>
            </a:r>
            <a:r>
              <a:rPr lang="en-IN" dirty="0" err="1"/>
              <a:t>i</a:t>
            </a:r>
            <a:r>
              <a:rPr lang="en-IN" dirty="0"/>
              <a:t>) Integer Literals </a:t>
            </a:r>
          </a:p>
        </p:txBody>
      </p:sp>
      <p:sp>
        <p:nvSpPr>
          <p:cNvPr id="3" name="Content Placeholder 2">
            <a:extLst>
              <a:ext uri="{FF2B5EF4-FFF2-40B4-BE49-F238E27FC236}">
                <a16:creationId xmlns:a16="http://schemas.microsoft.com/office/drawing/2014/main" id="{E80B712E-59F0-5AB8-9C21-9EB6FE11ED3B}"/>
              </a:ext>
            </a:extLst>
          </p:cNvPr>
          <p:cNvSpPr>
            <a:spLocks noGrp="1"/>
          </p:cNvSpPr>
          <p:nvPr>
            <p:ph idx="1"/>
          </p:nvPr>
        </p:nvSpPr>
        <p:spPr>
          <a:xfrm>
            <a:off x="838200" y="1825625"/>
            <a:ext cx="10713720" cy="3706495"/>
          </a:xfrm>
        </p:spPr>
        <p:txBody>
          <a:bodyPr/>
          <a:lstStyle/>
          <a:p>
            <a:r>
              <a:rPr lang="en-US" dirty="0"/>
              <a:t>Integer literals are whole numbers without any fractional part. </a:t>
            </a:r>
          </a:p>
          <a:p>
            <a:r>
              <a:rPr lang="en-US" dirty="0"/>
              <a:t>The method of writing integer constants has been specified in the following rule. </a:t>
            </a:r>
          </a:p>
          <a:p>
            <a:r>
              <a:rPr lang="en-US" dirty="0"/>
              <a:t>An integer constant must have at least one digit and must not contain any decimal Point.</a:t>
            </a:r>
          </a:p>
          <a:p>
            <a:r>
              <a:rPr lang="en-US" dirty="0"/>
              <a:t>It may contain either + or — sign.</a:t>
            </a:r>
          </a:p>
          <a:p>
            <a:r>
              <a:rPr lang="en-US" dirty="0"/>
              <a:t> A number with no sign is assumed to be positive Commas cannot appear in an integer constant </a:t>
            </a:r>
          </a:p>
          <a:p>
            <a:endParaRPr lang="en-US" dirty="0"/>
          </a:p>
          <a:p>
            <a:endParaRPr lang="en-IN" dirty="0"/>
          </a:p>
        </p:txBody>
      </p:sp>
    </p:spTree>
    <p:extLst>
      <p:ext uri="{BB962C8B-B14F-4D97-AF65-F5344CB8AC3E}">
        <p14:creationId xmlns:p14="http://schemas.microsoft.com/office/powerpoint/2010/main" val="2183916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78692-CD90-C9E5-0F06-F8BC8C89B07C}"/>
              </a:ext>
            </a:extLst>
          </p:cNvPr>
          <p:cNvSpPr>
            <a:spLocks noGrp="1"/>
          </p:cNvSpPr>
          <p:nvPr>
            <p:ph type="title"/>
          </p:nvPr>
        </p:nvSpPr>
        <p:spPr>
          <a:xfrm>
            <a:off x="137160" y="365125"/>
            <a:ext cx="11216640" cy="716915"/>
          </a:xfrm>
        </p:spPr>
        <p:txBody>
          <a:bodyPr/>
          <a:lstStyle/>
          <a:p>
            <a:r>
              <a:rPr lang="en-US" dirty="0">
                <a:solidFill>
                  <a:srgbClr val="FF0000"/>
                </a:solidFill>
              </a:rPr>
              <a:t>Java allows three types of integer literals </a:t>
            </a:r>
            <a:endParaRPr lang="en-IN" dirty="0">
              <a:solidFill>
                <a:srgbClr val="FF0000"/>
              </a:solidFill>
            </a:endParaRPr>
          </a:p>
        </p:txBody>
      </p:sp>
      <p:sp>
        <p:nvSpPr>
          <p:cNvPr id="3" name="Content Placeholder 2">
            <a:extLst>
              <a:ext uri="{FF2B5EF4-FFF2-40B4-BE49-F238E27FC236}">
                <a16:creationId xmlns:a16="http://schemas.microsoft.com/office/drawing/2014/main" id="{B6341457-FE74-BDE0-A242-BF28CC086A4F}"/>
              </a:ext>
            </a:extLst>
          </p:cNvPr>
          <p:cNvSpPr>
            <a:spLocks noGrp="1"/>
          </p:cNvSpPr>
          <p:nvPr>
            <p:ph idx="1"/>
          </p:nvPr>
        </p:nvSpPr>
        <p:spPr>
          <a:xfrm>
            <a:off x="685800" y="1253331"/>
            <a:ext cx="10515600" cy="4351338"/>
          </a:xfrm>
        </p:spPr>
        <p:txBody>
          <a:bodyPr/>
          <a:lstStyle/>
          <a:p>
            <a:r>
              <a:rPr lang="en-US" dirty="0"/>
              <a:t>1. Decimal (base 10)  2. Octal (base 8)  3. Hexadecimal (base 16) </a:t>
            </a:r>
            <a:endParaRPr lang="en-IN" dirty="0"/>
          </a:p>
        </p:txBody>
      </p:sp>
      <p:sp>
        <p:nvSpPr>
          <p:cNvPr id="4" name="Content Placeholder 2">
            <a:extLst>
              <a:ext uri="{FF2B5EF4-FFF2-40B4-BE49-F238E27FC236}">
                <a16:creationId xmlns:a16="http://schemas.microsoft.com/office/drawing/2014/main" id="{7C1E0192-3794-1B4C-063B-AA534193085E}"/>
              </a:ext>
            </a:extLst>
          </p:cNvPr>
          <p:cNvSpPr txBox="1">
            <a:spLocks/>
          </p:cNvSpPr>
          <p:nvPr/>
        </p:nvSpPr>
        <p:spPr>
          <a:xfrm>
            <a:off x="990600" y="1978025"/>
            <a:ext cx="10515600" cy="435133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Decimal Integer Literals</a:t>
            </a:r>
            <a:r>
              <a:rPr lang="en-US"/>
              <a:t>. An integer literal consisting of a sequence of digits ts taken to be decimal integer constant unless it begins with 0 (digit zero), For instance, 1234, 41, + 97, —17 are decimal integer literals. </a:t>
            </a:r>
          </a:p>
          <a:p>
            <a:r>
              <a:rPr lang="en-US" b="1"/>
              <a:t>Octal Integer Literals. </a:t>
            </a:r>
            <a:r>
              <a:rPr lang="en-US"/>
              <a:t>A sequence of digits starting with 0 (digit zero) is taken to be an octal integer 							For instance, decimal integer 8 will be written as 10 as octal integer (8</a:t>
            </a:r>
            <a:r>
              <a:rPr lang="en-US" sz="1400"/>
              <a:t>10</a:t>
            </a:r>
            <a:r>
              <a:rPr lang="en-US"/>
              <a:t>=10</a:t>
            </a:r>
            <a:r>
              <a:rPr lang="en-US" sz="1800"/>
              <a:t>8</a:t>
            </a:r>
            <a:r>
              <a:rPr lang="en-US"/>
              <a:t>)</a:t>
            </a:r>
          </a:p>
          <a:p>
            <a:r>
              <a:rPr lang="en-US" b="1"/>
              <a:t>Hexadecimal Integer Literals</a:t>
            </a:r>
            <a:r>
              <a:rPr lang="en-US"/>
              <a:t>. A sequence of digits preceded by 0x or 0X is taken to be an hexadecimal integer. For instance, decimal 12 will be written as 0XC as hexadecimal integer. But with Hexadecimal constants only 0-9 and A-F can be used. </a:t>
            </a:r>
            <a:endParaRPr lang="en-US" dirty="0"/>
          </a:p>
        </p:txBody>
      </p:sp>
    </p:spTree>
    <p:extLst>
      <p:ext uri="{BB962C8B-B14F-4D97-AF65-F5344CB8AC3E}">
        <p14:creationId xmlns:p14="http://schemas.microsoft.com/office/powerpoint/2010/main" val="1654965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885EE-E2A5-7202-5913-E05A14650482}"/>
              </a:ext>
            </a:extLst>
          </p:cNvPr>
          <p:cNvSpPr>
            <a:spLocks noGrp="1"/>
          </p:cNvSpPr>
          <p:nvPr>
            <p:ph type="title"/>
          </p:nvPr>
        </p:nvSpPr>
        <p:spPr/>
        <p:txBody>
          <a:bodyPr/>
          <a:lstStyle/>
          <a:p>
            <a:r>
              <a:rPr lang="en-IN" dirty="0"/>
              <a:t>(ii) Floating Literals </a:t>
            </a:r>
          </a:p>
        </p:txBody>
      </p:sp>
      <p:sp>
        <p:nvSpPr>
          <p:cNvPr id="3" name="Content Placeholder 2">
            <a:extLst>
              <a:ext uri="{FF2B5EF4-FFF2-40B4-BE49-F238E27FC236}">
                <a16:creationId xmlns:a16="http://schemas.microsoft.com/office/drawing/2014/main" id="{3191A9E1-4800-8795-C9C8-B39D55497DFC}"/>
              </a:ext>
            </a:extLst>
          </p:cNvPr>
          <p:cNvSpPr>
            <a:spLocks noGrp="1"/>
          </p:cNvSpPr>
          <p:nvPr>
            <p:ph idx="1"/>
          </p:nvPr>
        </p:nvSpPr>
        <p:spPr/>
        <p:txBody>
          <a:bodyPr>
            <a:normAutofit lnSpcReduction="10000"/>
          </a:bodyPr>
          <a:lstStyle/>
          <a:p>
            <a:r>
              <a:rPr lang="en-US" dirty="0"/>
              <a:t>Floating literals are also called real literals.</a:t>
            </a:r>
          </a:p>
          <a:p>
            <a:r>
              <a:rPr lang="en-US" dirty="0"/>
              <a:t>Real literals are numbers having fractional parts .These may be written in one of the two forms called fractional form or the exponent form. </a:t>
            </a:r>
          </a:p>
          <a:p>
            <a:r>
              <a:rPr lang="en-US" dirty="0"/>
              <a:t>A real literal in fraction form consists of signed or unsigned digits including a decimal point between digits. </a:t>
            </a:r>
          </a:p>
          <a:p>
            <a:r>
              <a:rPr lang="en-US" dirty="0"/>
              <a:t>The rule for writing a real constant in fractional form is given below : </a:t>
            </a:r>
          </a:p>
          <a:p>
            <a:pPr lvl="1"/>
            <a:r>
              <a:rPr lang="en-US" dirty="0"/>
              <a:t>A real literal in fractional form must have at least one digit before a decimal point and at least one digit after the decimal point. </a:t>
            </a:r>
          </a:p>
          <a:p>
            <a:pPr lvl="1"/>
            <a:r>
              <a:rPr lang="en-US" dirty="0"/>
              <a:t>It may also have either + or - sign preceding it.</a:t>
            </a:r>
          </a:p>
          <a:p>
            <a:pPr lvl="1"/>
            <a:r>
              <a:rPr lang="en-US" dirty="0"/>
              <a:t> A literal with no sign 1s assumed to be positive. </a:t>
            </a:r>
            <a:endParaRPr lang="en-IN" dirty="0"/>
          </a:p>
        </p:txBody>
      </p:sp>
    </p:spTree>
    <p:extLst>
      <p:ext uri="{BB962C8B-B14F-4D97-AF65-F5344CB8AC3E}">
        <p14:creationId xmlns:p14="http://schemas.microsoft.com/office/powerpoint/2010/main" val="1796167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76C0E-7531-CEE7-437E-FDF5BB9679C3}"/>
              </a:ext>
            </a:extLst>
          </p:cNvPr>
          <p:cNvSpPr>
            <a:spLocks noGrp="1"/>
          </p:cNvSpPr>
          <p:nvPr>
            <p:ph type="title"/>
          </p:nvPr>
        </p:nvSpPr>
        <p:spPr/>
        <p:txBody>
          <a:bodyPr/>
          <a:lstStyle/>
          <a:p>
            <a:r>
              <a:rPr lang="en-IN" dirty="0"/>
              <a:t>(iv) Boolean Literals </a:t>
            </a:r>
            <a:br>
              <a:rPr lang="en-IN" dirty="0"/>
            </a:br>
            <a:endParaRPr lang="en-IN" dirty="0"/>
          </a:p>
        </p:txBody>
      </p:sp>
      <p:sp>
        <p:nvSpPr>
          <p:cNvPr id="3" name="Content Placeholder 2">
            <a:extLst>
              <a:ext uri="{FF2B5EF4-FFF2-40B4-BE49-F238E27FC236}">
                <a16:creationId xmlns:a16="http://schemas.microsoft.com/office/drawing/2014/main" id="{6AEBD6B7-6BC5-0F08-A9CA-79B858E4CF41}"/>
              </a:ext>
            </a:extLst>
          </p:cNvPr>
          <p:cNvSpPr>
            <a:spLocks noGrp="1"/>
          </p:cNvSpPr>
          <p:nvPr>
            <p:ph idx="1"/>
          </p:nvPr>
        </p:nvSpPr>
        <p:spPr/>
        <p:txBody>
          <a:bodyPr/>
          <a:lstStyle/>
          <a:p>
            <a:r>
              <a:rPr lang="en-US" dirty="0"/>
              <a:t>The </a:t>
            </a:r>
            <a:r>
              <a:rPr lang="en-US" dirty="0" err="1"/>
              <a:t>boolean</a:t>
            </a:r>
            <a:r>
              <a:rPr lang="en-US" dirty="0"/>
              <a:t> type has two values, represented by the literals true and false, formed from ASCII letters.</a:t>
            </a:r>
          </a:p>
          <a:p>
            <a:r>
              <a:rPr lang="en-US" dirty="0"/>
              <a:t>A </a:t>
            </a:r>
            <a:r>
              <a:rPr lang="en-US" dirty="0" err="1"/>
              <a:t>boolean</a:t>
            </a:r>
            <a:r>
              <a:rPr lang="en-US" dirty="0"/>
              <a:t> literal is always of type </a:t>
            </a:r>
            <a:r>
              <a:rPr lang="en-US" dirty="0" err="1"/>
              <a:t>boolean</a:t>
            </a:r>
            <a:r>
              <a:rPr lang="en-US" dirty="0"/>
              <a:t>. It is either </a:t>
            </a:r>
            <a:r>
              <a:rPr lang="en-US" dirty="0" err="1"/>
              <a:t>boolean</a:t>
            </a:r>
            <a:r>
              <a:rPr lang="en-US" dirty="0"/>
              <a:t> value true or </a:t>
            </a:r>
            <a:r>
              <a:rPr lang="en-US" dirty="0" err="1"/>
              <a:t>boolean</a:t>
            </a:r>
            <a:r>
              <a:rPr lang="en-US" dirty="0"/>
              <a:t> value false. </a:t>
            </a:r>
            <a:endParaRPr lang="en-IN" dirty="0"/>
          </a:p>
        </p:txBody>
      </p:sp>
    </p:spTree>
    <p:extLst>
      <p:ext uri="{BB962C8B-B14F-4D97-AF65-F5344CB8AC3E}">
        <p14:creationId xmlns:p14="http://schemas.microsoft.com/office/powerpoint/2010/main" val="514241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5D810-12B3-698A-FCEB-54690CFE0F2D}"/>
              </a:ext>
            </a:extLst>
          </p:cNvPr>
          <p:cNvSpPr>
            <a:spLocks noGrp="1"/>
          </p:cNvSpPr>
          <p:nvPr>
            <p:ph type="title"/>
          </p:nvPr>
        </p:nvSpPr>
        <p:spPr/>
        <p:txBody>
          <a:bodyPr/>
          <a:lstStyle/>
          <a:p>
            <a:r>
              <a:rPr lang="en-IN" dirty="0"/>
              <a:t>(iv) Character Literals </a:t>
            </a:r>
            <a:br>
              <a:rPr lang="en-IN" dirty="0"/>
            </a:br>
            <a:endParaRPr lang="en-IN" dirty="0"/>
          </a:p>
        </p:txBody>
      </p:sp>
      <p:sp>
        <p:nvSpPr>
          <p:cNvPr id="3" name="Content Placeholder 2">
            <a:extLst>
              <a:ext uri="{FF2B5EF4-FFF2-40B4-BE49-F238E27FC236}">
                <a16:creationId xmlns:a16="http://schemas.microsoft.com/office/drawing/2014/main" id="{A69C7514-288B-E275-66EC-B50C52ABB0AC}"/>
              </a:ext>
            </a:extLst>
          </p:cNvPr>
          <p:cNvSpPr>
            <a:spLocks noGrp="1"/>
          </p:cNvSpPr>
          <p:nvPr>
            <p:ph idx="1"/>
          </p:nvPr>
        </p:nvSpPr>
        <p:spPr>
          <a:xfrm>
            <a:off x="617220" y="1334454"/>
            <a:ext cx="10904220" cy="5158422"/>
          </a:xfrm>
        </p:spPr>
        <p:txBody>
          <a:bodyPr>
            <a:normAutofit lnSpcReduction="10000"/>
          </a:bodyPr>
          <a:lstStyle/>
          <a:p>
            <a:r>
              <a:rPr lang="en-US" dirty="0"/>
              <a:t>A character literal is one character enclosed in single quotes, as in ‘z’.</a:t>
            </a:r>
          </a:p>
          <a:p>
            <a:r>
              <a:rPr lang="en-US" dirty="0"/>
              <a:t> The rule for writing character constant is given below : </a:t>
            </a:r>
          </a:p>
          <a:p>
            <a:pPr lvl="1"/>
            <a:r>
              <a:rPr lang="en-US" dirty="0"/>
              <a:t>A character literal in Java must contain one character and must be enclosed in single quotation marks. </a:t>
            </a:r>
          </a:p>
          <a:p>
            <a:r>
              <a:rPr lang="en-US" dirty="0"/>
              <a:t>java allows you to have certain nongraphic characters in character constants .</a:t>
            </a:r>
          </a:p>
          <a:p>
            <a:r>
              <a:rPr lang="en-US" dirty="0"/>
              <a:t>Nongraphic character are those characters that </a:t>
            </a:r>
            <a:r>
              <a:rPr lang="en-US" dirty="0" err="1"/>
              <a:t>connot</a:t>
            </a:r>
            <a:r>
              <a:rPr lang="en-US" dirty="0"/>
              <a:t> be typed directly from keyboard.</a:t>
            </a:r>
          </a:p>
          <a:p>
            <a:pPr lvl="1"/>
            <a:r>
              <a:rPr lang="en-US" dirty="0" err="1"/>
              <a:t>Eg</a:t>
            </a:r>
            <a:r>
              <a:rPr lang="en-US" dirty="0"/>
              <a:t> backspace, tabs, carriage return </a:t>
            </a:r>
            <a:r>
              <a:rPr lang="en-US" dirty="0" err="1"/>
              <a:t>e.t.c</a:t>
            </a:r>
            <a:endParaRPr lang="en-US" dirty="0"/>
          </a:p>
          <a:p>
            <a:r>
              <a:rPr lang="en-US" dirty="0"/>
              <a:t>Those non-graphic characters can be represented by using escape sequence.</a:t>
            </a:r>
          </a:p>
          <a:p>
            <a:r>
              <a:rPr lang="en-US" dirty="0"/>
              <a:t>An escape sequence is represented by a backslash (\) followed by on or more characters.</a:t>
            </a:r>
          </a:p>
          <a:p>
            <a:endParaRPr lang="en-IN" dirty="0"/>
          </a:p>
        </p:txBody>
      </p:sp>
    </p:spTree>
    <p:extLst>
      <p:ext uri="{BB962C8B-B14F-4D97-AF65-F5344CB8AC3E}">
        <p14:creationId xmlns:p14="http://schemas.microsoft.com/office/powerpoint/2010/main" val="3419518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C5118-3324-C578-950E-60383CF501E3}"/>
              </a:ext>
            </a:extLst>
          </p:cNvPr>
          <p:cNvSpPr>
            <a:spLocks noGrp="1"/>
          </p:cNvSpPr>
          <p:nvPr>
            <p:ph type="title"/>
          </p:nvPr>
        </p:nvSpPr>
        <p:spPr/>
        <p:txBody>
          <a:bodyPr/>
          <a:lstStyle/>
          <a:p>
            <a:r>
              <a:rPr lang="en-IN" dirty="0"/>
              <a:t>listing of escape sequences -</a:t>
            </a:r>
          </a:p>
        </p:txBody>
      </p:sp>
      <p:sp>
        <p:nvSpPr>
          <p:cNvPr id="3" name="Content Placeholder 2">
            <a:extLst>
              <a:ext uri="{FF2B5EF4-FFF2-40B4-BE49-F238E27FC236}">
                <a16:creationId xmlns:a16="http://schemas.microsoft.com/office/drawing/2014/main" id="{26CB56C9-D7E7-B42C-F897-6644CB4A9EE2}"/>
              </a:ext>
            </a:extLst>
          </p:cNvPr>
          <p:cNvSpPr>
            <a:spLocks noGrp="1"/>
          </p:cNvSpPr>
          <p:nvPr>
            <p:ph idx="1"/>
          </p:nvPr>
        </p:nvSpPr>
        <p:spPr>
          <a:xfrm>
            <a:off x="838200" y="1690688"/>
            <a:ext cx="10515600" cy="4351338"/>
          </a:xfrm>
        </p:spPr>
        <p:txBody>
          <a:bodyPr>
            <a:normAutofit fontScale="47500" lnSpcReduction="20000"/>
          </a:bodyPr>
          <a:lstStyle/>
          <a:p>
            <a:pPr marL="0" indent="0">
              <a:buNone/>
            </a:pPr>
            <a:r>
              <a:rPr lang="en-IN" dirty="0"/>
              <a:t>Escape Sequence		 Nongraphic Character —__ </a:t>
            </a:r>
          </a:p>
          <a:p>
            <a:pPr marL="0" indent="0">
              <a:buNone/>
            </a:pPr>
            <a:r>
              <a:rPr lang="en-IN" dirty="0"/>
              <a:t>\a 			Audible bell (alert) </a:t>
            </a:r>
          </a:p>
          <a:p>
            <a:pPr marL="0" indent="0">
              <a:buNone/>
            </a:pPr>
            <a:r>
              <a:rPr lang="en-IN" dirty="0"/>
              <a:t>\b 			Backspace </a:t>
            </a:r>
          </a:p>
          <a:p>
            <a:pPr marL="0" indent="0">
              <a:buNone/>
            </a:pPr>
            <a:r>
              <a:rPr lang="en-IN" dirty="0"/>
              <a:t>\f 			</a:t>
            </a:r>
            <a:r>
              <a:rPr lang="en-IN" dirty="0" err="1"/>
              <a:t>Formfeed</a:t>
            </a:r>
            <a:r>
              <a:rPr lang="en-IN" dirty="0"/>
              <a:t> </a:t>
            </a:r>
          </a:p>
          <a:p>
            <a:pPr marL="0" indent="0">
              <a:buNone/>
            </a:pPr>
            <a:r>
              <a:rPr lang="en-IN" dirty="0"/>
              <a:t>\n			 Newline or linefeed </a:t>
            </a:r>
          </a:p>
          <a:p>
            <a:pPr marL="0" indent="0">
              <a:buNone/>
            </a:pPr>
            <a:r>
              <a:rPr lang="en-IN" dirty="0"/>
              <a:t>\r 			Carnage Return </a:t>
            </a:r>
          </a:p>
          <a:p>
            <a:pPr marL="0" indent="0">
              <a:buNone/>
            </a:pPr>
            <a:r>
              <a:rPr lang="en-IN" dirty="0"/>
              <a:t>\t			 Horizontal tab </a:t>
            </a:r>
          </a:p>
          <a:p>
            <a:pPr marL="0" indent="0">
              <a:buNone/>
            </a:pPr>
            <a:r>
              <a:rPr lang="en-IN" dirty="0"/>
              <a:t>\v			 Vertical tab </a:t>
            </a:r>
          </a:p>
          <a:p>
            <a:pPr marL="0" indent="0">
              <a:buNone/>
            </a:pPr>
            <a:r>
              <a:rPr lang="en-IN" dirty="0"/>
              <a:t>\\			 Backslash </a:t>
            </a:r>
          </a:p>
          <a:p>
            <a:pPr marL="0" indent="0">
              <a:buNone/>
            </a:pPr>
            <a:r>
              <a:rPr lang="en-IN" dirty="0"/>
              <a:t>\’ 			Single quote </a:t>
            </a:r>
          </a:p>
          <a:p>
            <a:pPr marL="0" indent="0">
              <a:buNone/>
            </a:pPr>
            <a:r>
              <a:rPr lang="en-IN" dirty="0"/>
              <a:t>\” 			Double quote </a:t>
            </a:r>
          </a:p>
          <a:p>
            <a:pPr marL="0" indent="0">
              <a:buNone/>
            </a:pPr>
            <a:r>
              <a:rPr lang="en-IN" dirty="0"/>
              <a:t>\?			 Question mark </a:t>
            </a:r>
          </a:p>
          <a:p>
            <a:pPr marL="0" indent="0">
              <a:buNone/>
            </a:pPr>
            <a:r>
              <a:rPr lang="en-IN" dirty="0"/>
              <a:t>\On			 Octal number (On represents the number in octal) </a:t>
            </a:r>
          </a:p>
          <a:p>
            <a:pPr marL="0" indent="0">
              <a:buNone/>
            </a:pPr>
            <a:r>
              <a:rPr lang="en-IN" dirty="0"/>
              <a:t>\</a:t>
            </a:r>
            <a:r>
              <a:rPr lang="en-IN" dirty="0" err="1"/>
              <a:t>xHn</a:t>
            </a:r>
            <a:r>
              <a:rPr lang="en-IN" dirty="0"/>
              <a:t> 			Hexadecimal number (</a:t>
            </a:r>
            <a:r>
              <a:rPr lang="en-IN" dirty="0" err="1"/>
              <a:t>Hn</a:t>
            </a:r>
            <a:r>
              <a:rPr lang="en-IN" dirty="0"/>
              <a:t> represents the number in hexadecimal) </a:t>
            </a:r>
          </a:p>
          <a:p>
            <a:pPr marL="0" indent="0">
              <a:buNone/>
            </a:pPr>
            <a:r>
              <a:rPr lang="en-IN" dirty="0"/>
              <a:t>\</a:t>
            </a:r>
            <a:r>
              <a:rPr lang="en-IN" dirty="0" err="1"/>
              <a:t>uHn</a:t>
            </a:r>
            <a:r>
              <a:rPr lang="en-IN" dirty="0"/>
              <a:t> 			Unicode character represented through its hexadecimal code </a:t>
            </a:r>
            <a:r>
              <a:rPr lang="en-IN" dirty="0" err="1"/>
              <a:t>Hn</a:t>
            </a:r>
            <a:r>
              <a:rPr lang="en-IN" dirty="0"/>
              <a:t> </a:t>
            </a:r>
          </a:p>
          <a:p>
            <a:pPr marL="0" indent="0">
              <a:buNone/>
            </a:pPr>
            <a:r>
              <a:rPr lang="en-IN" dirty="0"/>
              <a:t>\0			 Null </a:t>
            </a:r>
          </a:p>
        </p:txBody>
      </p:sp>
    </p:spTree>
    <p:extLst>
      <p:ext uri="{BB962C8B-B14F-4D97-AF65-F5344CB8AC3E}">
        <p14:creationId xmlns:p14="http://schemas.microsoft.com/office/powerpoint/2010/main" val="3900724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37FD2-E19D-F4E8-F044-CFCF131844CE}"/>
              </a:ext>
            </a:extLst>
          </p:cNvPr>
          <p:cNvSpPr>
            <a:spLocks noGrp="1"/>
          </p:cNvSpPr>
          <p:nvPr>
            <p:ph type="title"/>
          </p:nvPr>
        </p:nvSpPr>
        <p:spPr/>
        <p:txBody>
          <a:bodyPr/>
          <a:lstStyle/>
          <a:p>
            <a:r>
              <a:rPr lang="en-IN" dirty="0"/>
              <a:t>(v) String Literals </a:t>
            </a:r>
          </a:p>
        </p:txBody>
      </p:sp>
      <p:sp>
        <p:nvSpPr>
          <p:cNvPr id="3" name="Content Placeholder 2">
            <a:extLst>
              <a:ext uri="{FF2B5EF4-FFF2-40B4-BE49-F238E27FC236}">
                <a16:creationId xmlns:a16="http://schemas.microsoft.com/office/drawing/2014/main" id="{6A890517-C47E-3216-B304-7E6AFE46F1BA}"/>
              </a:ext>
            </a:extLst>
          </p:cNvPr>
          <p:cNvSpPr>
            <a:spLocks noGrp="1"/>
          </p:cNvSpPr>
          <p:nvPr>
            <p:ph idx="1"/>
          </p:nvPr>
        </p:nvSpPr>
        <p:spPr/>
        <p:txBody>
          <a:bodyPr/>
          <a:lstStyle/>
          <a:p>
            <a:r>
              <a:rPr lang="en-US" dirty="0"/>
              <a:t>‘Multiple Character’ constants are treated as string-literals. </a:t>
            </a:r>
          </a:p>
          <a:p>
            <a:r>
              <a:rPr lang="en-US" dirty="0"/>
              <a:t>The rule for writing string-literal given below : </a:t>
            </a:r>
          </a:p>
          <a:p>
            <a:r>
              <a:rPr lang="en-US" dirty="0"/>
              <a:t> A string </a:t>
            </a:r>
            <a:r>
              <a:rPr lang="en-US" dirty="0" err="1"/>
              <a:t>literallis</a:t>
            </a:r>
            <a:r>
              <a:rPr lang="en-US" dirty="0"/>
              <a:t> a sequence of Zero or more characters surrounded by double quotes. </a:t>
            </a:r>
          </a:p>
          <a:p>
            <a:r>
              <a:rPr lang="en-US" dirty="0"/>
              <a:t>Each character may be represented by an escape sequence, </a:t>
            </a:r>
          </a:p>
          <a:p>
            <a:pPr lvl="1"/>
            <a:r>
              <a:rPr lang="en-US" dirty="0"/>
              <a:t>"</a:t>
            </a:r>
            <a:r>
              <a:rPr lang="en-US" dirty="0" err="1"/>
              <a:t>abc</a:t>
            </a:r>
            <a:r>
              <a:rPr lang="en-US" dirty="0"/>
              <a:t>” 		 size 6 bytes (each character takes 2 bytes) </a:t>
            </a:r>
          </a:p>
          <a:p>
            <a:pPr lvl="1"/>
            <a:r>
              <a:rPr lang="en-US" dirty="0"/>
              <a:t>"\ab“		 size 4 bytes ( \a is one character) </a:t>
            </a:r>
            <a:endParaRPr lang="en-IN" dirty="0"/>
          </a:p>
        </p:txBody>
      </p:sp>
    </p:spTree>
    <p:extLst>
      <p:ext uri="{BB962C8B-B14F-4D97-AF65-F5344CB8AC3E}">
        <p14:creationId xmlns:p14="http://schemas.microsoft.com/office/powerpoint/2010/main" val="6906490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9E273-BC07-1C87-E996-BAE62CF349DA}"/>
              </a:ext>
            </a:extLst>
          </p:cNvPr>
          <p:cNvSpPr>
            <a:spLocks noGrp="1"/>
          </p:cNvSpPr>
          <p:nvPr>
            <p:ph type="title"/>
          </p:nvPr>
        </p:nvSpPr>
        <p:spPr/>
        <p:txBody>
          <a:bodyPr/>
          <a:lstStyle/>
          <a:p>
            <a:r>
              <a:rPr lang="en-US" dirty="0"/>
              <a:t>(vi) The Null Literal </a:t>
            </a:r>
            <a:br>
              <a:rPr lang="en-US" dirty="0"/>
            </a:br>
            <a:endParaRPr lang="en-IN" dirty="0"/>
          </a:p>
        </p:txBody>
      </p:sp>
      <p:sp>
        <p:nvSpPr>
          <p:cNvPr id="3" name="Content Placeholder 2">
            <a:extLst>
              <a:ext uri="{FF2B5EF4-FFF2-40B4-BE49-F238E27FC236}">
                <a16:creationId xmlns:a16="http://schemas.microsoft.com/office/drawing/2014/main" id="{8F503F45-6FF2-1630-0B65-7FE6DB23376F}"/>
              </a:ext>
            </a:extLst>
          </p:cNvPr>
          <p:cNvSpPr>
            <a:spLocks noGrp="1"/>
          </p:cNvSpPr>
          <p:nvPr>
            <p:ph idx="1"/>
          </p:nvPr>
        </p:nvSpPr>
        <p:spPr/>
        <p:txBody>
          <a:bodyPr/>
          <a:lstStyle/>
          <a:p>
            <a:r>
              <a:rPr lang="en-US" dirty="0"/>
              <a:t>The null type has one value, the null reference, represented by the literal null, which is formed from ASCII characters. A null literal is always of the null type </a:t>
            </a:r>
            <a:endParaRPr lang="en-IN" dirty="0"/>
          </a:p>
        </p:txBody>
      </p:sp>
    </p:spTree>
    <p:extLst>
      <p:ext uri="{BB962C8B-B14F-4D97-AF65-F5344CB8AC3E}">
        <p14:creationId xmlns:p14="http://schemas.microsoft.com/office/powerpoint/2010/main" val="23035856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4B39C-F7CE-7AC8-CFE4-110751C3A729}"/>
              </a:ext>
            </a:extLst>
          </p:cNvPr>
          <p:cNvSpPr>
            <a:spLocks noGrp="1"/>
          </p:cNvSpPr>
          <p:nvPr>
            <p:ph type="title"/>
          </p:nvPr>
        </p:nvSpPr>
        <p:spPr>
          <a:xfrm>
            <a:off x="838200" y="331304"/>
            <a:ext cx="2037522" cy="463826"/>
          </a:xfrm>
        </p:spPr>
        <p:txBody>
          <a:bodyPr>
            <a:noAutofit/>
          </a:bodyPr>
          <a:lstStyle/>
          <a:p>
            <a:r>
              <a:rPr lang="en-IN" sz="2000" b="1" dirty="0">
                <a:solidFill>
                  <a:srgbClr val="FF0000"/>
                </a:solidFill>
              </a:rPr>
              <a:t>Separators</a:t>
            </a:r>
          </a:p>
        </p:txBody>
      </p:sp>
      <p:sp>
        <p:nvSpPr>
          <p:cNvPr id="3" name="Content Placeholder 2">
            <a:extLst>
              <a:ext uri="{FF2B5EF4-FFF2-40B4-BE49-F238E27FC236}">
                <a16:creationId xmlns:a16="http://schemas.microsoft.com/office/drawing/2014/main" id="{44DC26D6-61A7-0BD0-6564-A5F05761F04D}"/>
              </a:ext>
            </a:extLst>
          </p:cNvPr>
          <p:cNvSpPr>
            <a:spLocks noGrp="1"/>
          </p:cNvSpPr>
          <p:nvPr>
            <p:ph idx="1"/>
          </p:nvPr>
        </p:nvSpPr>
        <p:spPr>
          <a:xfrm>
            <a:off x="838200" y="795130"/>
            <a:ext cx="10515600" cy="1325564"/>
          </a:xfrm>
        </p:spPr>
        <p:txBody>
          <a:bodyPr>
            <a:normAutofit fontScale="62500" lnSpcReduction="20000"/>
          </a:bodyPr>
          <a:lstStyle/>
          <a:p>
            <a:r>
              <a:rPr lang="en-US" dirty="0"/>
              <a:t>The following nine ASCII characters are the separators (punctuators) . </a:t>
            </a:r>
          </a:p>
          <a:p>
            <a:r>
              <a:rPr lang="en-US" dirty="0"/>
              <a:t>() 		{}		[] </a:t>
            </a:r>
          </a:p>
          <a:p>
            <a:pPr marL="0" indent="0">
              <a:buNone/>
            </a:pPr>
            <a:r>
              <a:rPr lang="en-IN" dirty="0">
                <a:solidFill>
                  <a:srgbClr val="FF0000"/>
                </a:solidFill>
              </a:rPr>
              <a:t>Operators </a:t>
            </a:r>
          </a:p>
          <a:p>
            <a:r>
              <a:rPr lang="en-US" dirty="0">
                <a:solidFill>
                  <a:schemeClr val="tx1">
                    <a:lumMod val="75000"/>
                    <a:lumOff val="25000"/>
                  </a:schemeClr>
                </a:solidFill>
              </a:rPr>
              <a:t>The following 37 tokens are the operators, formed from ASCII characters </a:t>
            </a:r>
          </a:p>
          <a:p>
            <a:endParaRPr lang="en-IN" dirty="0">
              <a:solidFill>
                <a:schemeClr val="tx1">
                  <a:lumMod val="75000"/>
                  <a:lumOff val="25000"/>
                </a:schemeClr>
              </a:solidFill>
            </a:endParaRPr>
          </a:p>
        </p:txBody>
      </p:sp>
      <p:graphicFrame>
        <p:nvGraphicFramePr>
          <p:cNvPr id="4" name="Table 3">
            <a:extLst>
              <a:ext uri="{FF2B5EF4-FFF2-40B4-BE49-F238E27FC236}">
                <a16:creationId xmlns:a16="http://schemas.microsoft.com/office/drawing/2014/main" id="{8D15566C-4EC7-63BE-39C9-2FA880E03E8D}"/>
              </a:ext>
            </a:extLst>
          </p:cNvPr>
          <p:cNvGraphicFramePr>
            <a:graphicFrameLocks noGrp="1"/>
          </p:cNvGraphicFramePr>
          <p:nvPr>
            <p:extLst>
              <p:ext uri="{D42A27DB-BD31-4B8C-83A1-F6EECF244321}">
                <p14:modId xmlns:p14="http://schemas.microsoft.com/office/powerpoint/2010/main" val="3966026396"/>
              </p:ext>
            </p:extLst>
          </p:nvPr>
        </p:nvGraphicFramePr>
        <p:xfrm>
          <a:off x="1856961" y="2787005"/>
          <a:ext cx="8128000" cy="222504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20310736"/>
                    </a:ext>
                  </a:extLst>
                </a:gridCol>
                <a:gridCol w="1016000">
                  <a:extLst>
                    <a:ext uri="{9D8B030D-6E8A-4147-A177-3AD203B41FA5}">
                      <a16:colId xmlns:a16="http://schemas.microsoft.com/office/drawing/2014/main" val="870560332"/>
                    </a:ext>
                  </a:extLst>
                </a:gridCol>
                <a:gridCol w="1016000">
                  <a:extLst>
                    <a:ext uri="{9D8B030D-6E8A-4147-A177-3AD203B41FA5}">
                      <a16:colId xmlns:a16="http://schemas.microsoft.com/office/drawing/2014/main" val="1582918663"/>
                    </a:ext>
                  </a:extLst>
                </a:gridCol>
                <a:gridCol w="1016000">
                  <a:extLst>
                    <a:ext uri="{9D8B030D-6E8A-4147-A177-3AD203B41FA5}">
                      <a16:colId xmlns:a16="http://schemas.microsoft.com/office/drawing/2014/main" val="3796009718"/>
                    </a:ext>
                  </a:extLst>
                </a:gridCol>
                <a:gridCol w="1016000">
                  <a:extLst>
                    <a:ext uri="{9D8B030D-6E8A-4147-A177-3AD203B41FA5}">
                      <a16:colId xmlns:a16="http://schemas.microsoft.com/office/drawing/2014/main" val="479306447"/>
                    </a:ext>
                  </a:extLst>
                </a:gridCol>
                <a:gridCol w="1016000">
                  <a:extLst>
                    <a:ext uri="{9D8B030D-6E8A-4147-A177-3AD203B41FA5}">
                      <a16:colId xmlns:a16="http://schemas.microsoft.com/office/drawing/2014/main" val="841202102"/>
                    </a:ext>
                  </a:extLst>
                </a:gridCol>
                <a:gridCol w="1016000">
                  <a:extLst>
                    <a:ext uri="{9D8B030D-6E8A-4147-A177-3AD203B41FA5}">
                      <a16:colId xmlns:a16="http://schemas.microsoft.com/office/drawing/2014/main" val="4053188378"/>
                    </a:ext>
                  </a:extLst>
                </a:gridCol>
                <a:gridCol w="1016000">
                  <a:extLst>
                    <a:ext uri="{9D8B030D-6E8A-4147-A177-3AD203B41FA5}">
                      <a16:colId xmlns:a16="http://schemas.microsoft.com/office/drawing/2014/main" val="1545647229"/>
                    </a:ext>
                  </a:extLst>
                </a:gridCol>
              </a:tblGrid>
              <a:tr h="370840">
                <a:tc>
                  <a:txBody>
                    <a:bodyPr/>
                    <a:lstStyle/>
                    <a:p>
                      <a:r>
                        <a:rPr lang="en-IN" dirty="0"/>
                        <a:t>=</a:t>
                      </a:r>
                    </a:p>
                  </a:txBody>
                  <a:tcPr/>
                </a:tc>
                <a:tc>
                  <a:txBody>
                    <a:bodyPr/>
                    <a:lstStyle/>
                    <a:p>
                      <a:r>
                        <a:rPr lang="en-IN" dirty="0"/>
                        <a:t>&gt;</a:t>
                      </a:r>
                    </a:p>
                  </a:txBody>
                  <a:tcPr/>
                </a:tc>
                <a:tc>
                  <a:txBody>
                    <a:bodyPr/>
                    <a:lstStyle/>
                    <a:p>
                      <a:r>
                        <a:rPr lang="en-IN" dirty="0"/>
                        <a:t>&lt;</a:t>
                      </a:r>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865675985"/>
                  </a:ext>
                </a:extLst>
              </a:tr>
              <a:tr h="3708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23342645"/>
                  </a:ext>
                </a:extLst>
              </a:tr>
              <a:tr h="3708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495792708"/>
                  </a:ext>
                </a:extLst>
              </a:tr>
              <a:tr h="3708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335164537"/>
                  </a:ext>
                </a:extLst>
              </a:tr>
              <a:tr h="3708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21685147"/>
                  </a:ext>
                </a:extLst>
              </a:tr>
              <a:tr h="3708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3819807518"/>
                  </a:ext>
                </a:extLst>
              </a:tr>
            </a:tbl>
          </a:graphicData>
        </a:graphic>
      </p:graphicFrame>
    </p:spTree>
    <p:extLst>
      <p:ext uri="{BB962C8B-B14F-4D97-AF65-F5344CB8AC3E}">
        <p14:creationId xmlns:p14="http://schemas.microsoft.com/office/powerpoint/2010/main" val="11223789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57218A-4E8B-0F71-F402-9AC95DDA36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032" y="1957400"/>
            <a:ext cx="10975848" cy="4614052"/>
          </a:xfrm>
          <a:prstGeom prst="rect">
            <a:avLst/>
          </a:prstGeom>
        </p:spPr>
      </p:pic>
      <p:sp>
        <p:nvSpPr>
          <p:cNvPr id="2" name="Title 1">
            <a:extLst>
              <a:ext uri="{FF2B5EF4-FFF2-40B4-BE49-F238E27FC236}">
                <a16:creationId xmlns:a16="http://schemas.microsoft.com/office/drawing/2014/main" id="{81214CD2-CC6E-3FEA-F385-0293AE8EDF43}"/>
              </a:ext>
            </a:extLst>
          </p:cNvPr>
          <p:cNvSpPr>
            <a:spLocks noGrp="1"/>
          </p:cNvSpPr>
          <p:nvPr>
            <p:ph type="title"/>
          </p:nvPr>
        </p:nvSpPr>
        <p:spPr/>
        <p:txBody>
          <a:bodyPr/>
          <a:lstStyle/>
          <a:p>
            <a:r>
              <a:rPr lang="en-IN" dirty="0"/>
              <a:t>Data Types </a:t>
            </a:r>
          </a:p>
        </p:txBody>
      </p:sp>
      <p:sp>
        <p:nvSpPr>
          <p:cNvPr id="3" name="Content Placeholder 2">
            <a:extLst>
              <a:ext uri="{FF2B5EF4-FFF2-40B4-BE49-F238E27FC236}">
                <a16:creationId xmlns:a16="http://schemas.microsoft.com/office/drawing/2014/main" id="{A8A5308B-0BCB-647D-0115-FB67A640897C}"/>
              </a:ext>
            </a:extLst>
          </p:cNvPr>
          <p:cNvSpPr>
            <a:spLocks noGrp="1"/>
          </p:cNvSpPr>
          <p:nvPr>
            <p:ph idx="1"/>
          </p:nvPr>
        </p:nvSpPr>
        <p:spPr>
          <a:xfrm>
            <a:off x="1039368" y="1551305"/>
            <a:ext cx="10744200" cy="2574097"/>
          </a:xfrm>
        </p:spPr>
        <p:txBody>
          <a:bodyPr/>
          <a:lstStyle/>
          <a:p>
            <a:r>
              <a:rPr lang="en-IN" dirty="0"/>
              <a:t>Data types are means to identify the type of data and associated operations of handling it</a:t>
            </a:r>
          </a:p>
        </p:txBody>
      </p:sp>
    </p:spTree>
    <p:extLst>
      <p:ext uri="{BB962C8B-B14F-4D97-AF65-F5344CB8AC3E}">
        <p14:creationId xmlns:p14="http://schemas.microsoft.com/office/powerpoint/2010/main" val="8052037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2D008-AE81-DD28-1B60-42BC885E3A29}"/>
              </a:ext>
            </a:extLst>
          </p:cNvPr>
          <p:cNvSpPr>
            <a:spLocks noGrp="1"/>
          </p:cNvSpPr>
          <p:nvPr>
            <p:ph type="title"/>
          </p:nvPr>
        </p:nvSpPr>
        <p:spPr/>
        <p:txBody>
          <a:bodyPr/>
          <a:lstStyle/>
          <a:p>
            <a:r>
              <a:rPr lang="en-US" dirty="0"/>
              <a:t>Java data types are of two types</a:t>
            </a:r>
            <a:endParaRPr lang="en-IN" dirty="0"/>
          </a:p>
        </p:txBody>
      </p:sp>
      <p:sp>
        <p:nvSpPr>
          <p:cNvPr id="3" name="Content Placeholder 2">
            <a:extLst>
              <a:ext uri="{FF2B5EF4-FFF2-40B4-BE49-F238E27FC236}">
                <a16:creationId xmlns:a16="http://schemas.microsoft.com/office/drawing/2014/main" id="{E0DA2078-E498-FD46-9229-579F8C83A2C2}"/>
              </a:ext>
            </a:extLst>
          </p:cNvPr>
          <p:cNvSpPr>
            <a:spLocks noGrp="1"/>
          </p:cNvSpPr>
          <p:nvPr>
            <p:ph idx="1"/>
          </p:nvPr>
        </p:nvSpPr>
        <p:spPr/>
        <p:txBody>
          <a:bodyPr/>
          <a:lstStyle/>
          <a:p>
            <a:r>
              <a:rPr lang="en-US" dirty="0"/>
              <a:t>Primitive(or intrinsic) data types</a:t>
            </a:r>
          </a:p>
          <a:p>
            <a:pPr lvl="1"/>
            <a:r>
              <a:rPr lang="en-US" dirty="0"/>
              <a:t>Primitive datatypes come as a parts of the language. Java provides eight primitive datatypes, Which are : byte, short, int, long, float, double, char, </a:t>
            </a:r>
            <a:r>
              <a:rPr lang="en-US" dirty="0" err="1"/>
              <a:t>boolean</a:t>
            </a:r>
            <a:r>
              <a:rPr lang="en-US" dirty="0"/>
              <a:t> </a:t>
            </a:r>
          </a:p>
          <a:p>
            <a:r>
              <a:rPr lang="en-US" dirty="0"/>
              <a:t>Reference data types</a:t>
            </a:r>
          </a:p>
          <a:p>
            <a:pPr lvl="1"/>
            <a:r>
              <a:rPr lang="en-US" dirty="0"/>
              <a:t>Reference datatypes are constructed from primitive data types. These are : classes, arrays and interface. But their storage mechanism is different from primitive datatypes. </a:t>
            </a:r>
          </a:p>
          <a:p>
            <a:pPr lvl="1"/>
            <a:endParaRPr lang="en-IN" dirty="0"/>
          </a:p>
        </p:txBody>
      </p:sp>
    </p:spTree>
    <p:extLst>
      <p:ext uri="{BB962C8B-B14F-4D97-AF65-F5344CB8AC3E}">
        <p14:creationId xmlns:p14="http://schemas.microsoft.com/office/powerpoint/2010/main" val="7848374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8CF14-8757-3E53-4DA0-00A0B3C88AF9}"/>
              </a:ext>
            </a:extLst>
          </p:cNvPr>
          <p:cNvSpPr>
            <a:spLocks noGrp="1"/>
          </p:cNvSpPr>
          <p:nvPr>
            <p:ph type="title"/>
          </p:nvPr>
        </p:nvSpPr>
        <p:spPr/>
        <p:txBody>
          <a:bodyPr/>
          <a:lstStyle/>
          <a:p>
            <a:r>
              <a:rPr lang="en-IN" dirty="0"/>
              <a:t>Primitive Datatypes </a:t>
            </a:r>
          </a:p>
        </p:txBody>
      </p:sp>
      <p:sp>
        <p:nvSpPr>
          <p:cNvPr id="3" name="Content Placeholder 2">
            <a:extLst>
              <a:ext uri="{FF2B5EF4-FFF2-40B4-BE49-F238E27FC236}">
                <a16:creationId xmlns:a16="http://schemas.microsoft.com/office/drawing/2014/main" id="{7782CCB3-392C-47E0-8D47-70254FB4E014}"/>
              </a:ext>
            </a:extLst>
          </p:cNvPr>
          <p:cNvSpPr>
            <a:spLocks noGrp="1"/>
          </p:cNvSpPr>
          <p:nvPr>
            <p:ph idx="1"/>
          </p:nvPr>
        </p:nvSpPr>
        <p:spPr/>
        <p:txBody>
          <a:bodyPr/>
          <a:lstStyle/>
          <a:p>
            <a:r>
              <a:rPr lang="en-US" dirty="0"/>
              <a:t>Primitives are the "basic" data values. The word ‘Primitive means a fundamental component that may be used to create other larger parts. </a:t>
            </a:r>
          </a:p>
          <a:p>
            <a:r>
              <a:rPr lang="en-US" dirty="0"/>
              <a:t>Java supports following four categories of primitive datatypes . </a:t>
            </a:r>
          </a:p>
          <a:p>
            <a:pPr marL="971550" lvl="1" indent="-514350">
              <a:buFont typeface="+mj-lt"/>
              <a:buAutoNum type="arabicPeriod"/>
            </a:pPr>
            <a:r>
              <a:rPr lang="en-US" dirty="0"/>
              <a:t>Numeric Integral primitive types </a:t>
            </a:r>
          </a:p>
          <a:p>
            <a:pPr marL="971550" lvl="1" indent="-514350">
              <a:buFont typeface="+mj-lt"/>
              <a:buAutoNum type="arabicPeriod"/>
            </a:pPr>
            <a:r>
              <a:rPr lang="en-US" dirty="0"/>
              <a:t>Fractional primitive types </a:t>
            </a:r>
          </a:p>
          <a:p>
            <a:pPr marL="971550" lvl="1" indent="-514350">
              <a:buFont typeface="+mj-lt"/>
              <a:buAutoNum type="arabicPeriod"/>
            </a:pPr>
            <a:r>
              <a:rPr lang="en-US" dirty="0"/>
              <a:t>Character primitive types </a:t>
            </a:r>
          </a:p>
          <a:p>
            <a:pPr marL="971550" lvl="1" indent="-514350">
              <a:buFont typeface="+mj-lt"/>
              <a:buAutoNum type="arabicPeriod"/>
            </a:pPr>
            <a:r>
              <a:rPr lang="en-US" dirty="0"/>
              <a:t>Boolean primitive types </a:t>
            </a:r>
          </a:p>
          <a:p>
            <a:endParaRPr lang="en-IN" dirty="0"/>
          </a:p>
        </p:txBody>
      </p:sp>
    </p:spTree>
    <p:extLst>
      <p:ext uri="{BB962C8B-B14F-4D97-AF65-F5344CB8AC3E}">
        <p14:creationId xmlns:p14="http://schemas.microsoft.com/office/powerpoint/2010/main" val="2439168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F6652-A4C0-8181-3C20-D8ECC3FEEBBE}"/>
              </a:ext>
            </a:extLst>
          </p:cNvPr>
          <p:cNvSpPr>
            <a:spLocks noGrp="1"/>
          </p:cNvSpPr>
          <p:nvPr>
            <p:ph type="title"/>
          </p:nvPr>
        </p:nvSpPr>
        <p:spPr/>
        <p:txBody>
          <a:bodyPr/>
          <a:lstStyle/>
          <a:p>
            <a:r>
              <a:rPr lang="en-IN" dirty="0"/>
              <a:t> Numeric Integral Types </a:t>
            </a:r>
          </a:p>
        </p:txBody>
      </p:sp>
      <p:sp>
        <p:nvSpPr>
          <p:cNvPr id="3" name="Content Placeholder 2">
            <a:extLst>
              <a:ext uri="{FF2B5EF4-FFF2-40B4-BE49-F238E27FC236}">
                <a16:creationId xmlns:a16="http://schemas.microsoft.com/office/drawing/2014/main" id="{B71038BB-C50E-CF62-E582-D1A2644068DD}"/>
              </a:ext>
            </a:extLst>
          </p:cNvPr>
          <p:cNvSpPr>
            <a:spLocks noGrp="1"/>
          </p:cNvSpPr>
          <p:nvPr>
            <p:ph idx="1"/>
          </p:nvPr>
        </p:nvSpPr>
        <p:spPr>
          <a:xfrm>
            <a:off x="838200" y="1825624"/>
            <a:ext cx="10866120" cy="4355719"/>
          </a:xfrm>
        </p:spPr>
        <p:txBody>
          <a:bodyPr/>
          <a:lstStyle/>
          <a:p>
            <a:r>
              <a:rPr lang="en-US" dirty="0"/>
              <a:t>The datatypes that are used to store numeric values fall under this sub category </a:t>
            </a:r>
            <a:r>
              <a:rPr lang="en-US" dirty="0" err="1"/>
              <a:t>i.e</a:t>
            </a:r>
            <a:r>
              <a:rPr lang="en-US" dirty="0"/>
              <a:t> numeric primitive datatypes. </a:t>
            </a:r>
          </a:p>
          <a:p>
            <a:r>
              <a:rPr lang="en-US" dirty="0"/>
              <a:t>There are four numeric integral types in Java </a:t>
            </a:r>
          </a:p>
          <a:p>
            <a:r>
              <a:rPr lang="en-US" dirty="0"/>
              <a:t>byte  </a:t>
            </a:r>
          </a:p>
          <a:p>
            <a:r>
              <a:rPr lang="en-US" dirty="0"/>
              <a:t>Short</a:t>
            </a:r>
          </a:p>
          <a:p>
            <a:r>
              <a:rPr lang="en-US" dirty="0"/>
              <a:t> int </a:t>
            </a:r>
          </a:p>
          <a:p>
            <a:r>
              <a:rPr lang="en-US" dirty="0"/>
              <a:t>long</a:t>
            </a:r>
          </a:p>
          <a:p>
            <a:endParaRPr lang="en-IN" dirty="0"/>
          </a:p>
        </p:txBody>
      </p:sp>
      <p:pic>
        <p:nvPicPr>
          <p:cNvPr id="5" name="Picture 4">
            <a:extLst>
              <a:ext uri="{FF2B5EF4-FFF2-40B4-BE49-F238E27FC236}">
                <a16:creationId xmlns:a16="http://schemas.microsoft.com/office/drawing/2014/main" id="{BA831883-FD7B-1A7C-9B3D-E249877393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8081" y="3429000"/>
            <a:ext cx="9825968" cy="2039112"/>
          </a:xfrm>
          <a:prstGeom prst="rect">
            <a:avLst/>
          </a:prstGeom>
        </p:spPr>
      </p:pic>
    </p:spTree>
    <p:extLst>
      <p:ext uri="{BB962C8B-B14F-4D97-AF65-F5344CB8AC3E}">
        <p14:creationId xmlns:p14="http://schemas.microsoft.com/office/powerpoint/2010/main" val="38255292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464E4-8326-25A9-6633-6FDECCBD9FB7}"/>
              </a:ext>
            </a:extLst>
          </p:cNvPr>
          <p:cNvSpPr>
            <a:spLocks noGrp="1"/>
          </p:cNvSpPr>
          <p:nvPr>
            <p:ph type="title"/>
          </p:nvPr>
        </p:nvSpPr>
        <p:spPr/>
        <p:txBody>
          <a:bodyPr/>
          <a:lstStyle/>
          <a:p>
            <a:r>
              <a:rPr lang="en-IN" dirty="0"/>
              <a:t>Fractional Numeric Types </a:t>
            </a:r>
          </a:p>
        </p:txBody>
      </p:sp>
      <p:sp>
        <p:nvSpPr>
          <p:cNvPr id="3" name="Content Placeholder 2">
            <a:extLst>
              <a:ext uri="{FF2B5EF4-FFF2-40B4-BE49-F238E27FC236}">
                <a16:creationId xmlns:a16="http://schemas.microsoft.com/office/drawing/2014/main" id="{D51DB783-FE98-DAE1-2686-C5D6AE9F7D24}"/>
              </a:ext>
            </a:extLst>
          </p:cNvPr>
          <p:cNvSpPr>
            <a:spLocks noGrp="1"/>
          </p:cNvSpPr>
          <p:nvPr>
            <p:ph idx="1"/>
          </p:nvPr>
        </p:nvSpPr>
        <p:spPr/>
        <p:txBody>
          <a:bodyPr/>
          <a:lstStyle/>
          <a:p>
            <a:r>
              <a:rPr lang="en-US" dirty="0"/>
              <a:t>Fractional datatypes can store fractional numbers 1.e., numbers having decimal points. These are also called floating-point datatypes </a:t>
            </a:r>
            <a:endParaRPr lang="en-IN" dirty="0"/>
          </a:p>
        </p:txBody>
      </p:sp>
      <p:pic>
        <p:nvPicPr>
          <p:cNvPr id="5" name="Picture 4">
            <a:extLst>
              <a:ext uri="{FF2B5EF4-FFF2-40B4-BE49-F238E27FC236}">
                <a16:creationId xmlns:a16="http://schemas.microsoft.com/office/drawing/2014/main" id="{7D7332CE-B2F4-F253-A581-EF7698651F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152010"/>
            <a:ext cx="11480742" cy="2407541"/>
          </a:xfrm>
          <a:prstGeom prst="rect">
            <a:avLst/>
          </a:prstGeom>
        </p:spPr>
      </p:pic>
    </p:spTree>
    <p:extLst>
      <p:ext uri="{BB962C8B-B14F-4D97-AF65-F5344CB8AC3E}">
        <p14:creationId xmlns:p14="http://schemas.microsoft.com/office/powerpoint/2010/main" val="458491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8BF29-5338-6A27-D6EB-99758918CEC1}"/>
              </a:ext>
            </a:extLst>
          </p:cNvPr>
          <p:cNvSpPr>
            <a:spLocks noGrp="1"/>
          </p:cNvSpPr>
          <p:nvPr>
            <p:ph type="title"/>
          </p:nvPr>
        </p:nvSpPr>
        <p:spPr/>
        <p:txBody>
          <a:bodyPr/>
          <a:lstStyle/>
          <a:p>
            <a:r>
              <a:rPr lang="en-IN" dirty="0"/>
              <a:t>Character Types </a:t>
            </a:r>
          </a:p>
        </p:txBody>
      </p:sp>
      <p:sp>
        <p:nvSpPr>
          <p:cNvPr id="3" name="Content Placeholder 2">
            <a:extLst>
              <a:ext uri="{FF2B5EF4-FFF2-40B4-BE49-F238E27FC236}">
                <a16:creationId xmlns:a16="http://schemas.microsoft.com/office/drawing/2014/main" id="{4C4E0049-CD7A-002A-2643-A12FD726D731}"/>
              </a:ext>
            </a:extLst>
          </p:cNvPr>
          <p:cNvSpPr>
            <a:spLocks noGrp="1"/>
          </p:cNvSpPr>
          <p:nvPr>
            <p:ph idx="1"/>
          </p:nvPr>
        </p:nvSpPr>
        <p:spPr>
          <a:xfrm>
            <a:off x="838200" y="1825625"/>
            <a:ext cx="11067288" cy="935863"/>
          </a:xfrm>
        </p:spPr>
        <p:txBody>
          <a:bodyPr/>
          <a:lstStyle/>
          <a:p>
            <a:r>
              <a:rPr lang="en-US" dirty="0"/>
              <a:t>The character datatype - char datatype of Java is used to store characters </a:t>
            </a:r>
            <a:endParaRPr lang="en-IN" dirty="0"/>
          </a:p>
        </p:txBody>
      </p:sp>
      <p:pic>
        <p:nvPicPr>
          <p:cNvPr id="5" name="Picture 4">
            <a:extLst>
              <a:ext uri="{FF2B5EF4-FFF2-40B4-BE49-F238E27FC236}">
                <a16:creationId xmlns:a16="http://schemas.microsoft.com/office/drawing/2014/main" id="{869F7140-B74B-935D-985E-C95FF9C93A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863" y="2967949"/>
            <a:ext cx="10626414" cy="1325563"/>
          </a:xfrm>
          <a:prstGeom prst="rect">
            <a:avLst/>
          </a:prstGeom>
        </p:spPr>
      </p:pic>
    </p:spTree>
    <p:extLst>
      <p:ext uri="{BB962C8B-B14F-4D97-AF65-F5344CB8AC3E}">
        <p14:creationId xmlns:p14="http://schemas.microsoft.com/office/powerpoint/2010/main" val="14716336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8967A-CAA8-72A4-1455-91188AD1A807}"/>
              </a:ext>
            </a:extLst>
          </p:cNvPr>
          <p:cNvSpPr>
            <a:spLocks noGrp="1"/>
          </p:cNvSpPr>
          <p:nvPr>
            <p:ph type="title"/>
          </p:nvPr>
        </p:nvSpPr>
        <p:spPr/>
        <p:txBody>
          <a:bodyPr/>
          <a:lstStyle/>
          <a:p>
            <a:r>
              <a:rPr lang="en-IN" dirty="0"/>
              <a:t>(iv) Boolean Type </a:t>
            </a:r>
          </a:p>
        </p:txBody>
      </p:sp>
      <p:sp>
        <p:nvSpPr>
          <p:cNvPr id="3" name="Content Placeholder 2">
            <a:extLst>
              <a:ext uri="{FF2B5EF4-FFF2-40B4-BE49-F238E27FC236}">
                <a16:creationId xmlns:a16="http://schemas.microsoft.com/office/drawing/2014/main" id="{CA3516E3-18C8-4174-97D3-BCF3CDB4BDF6}"/>
              </a:ext>
            </a:extLst>
          </p:cNvPr>
          <p:cNvSpPr>
            <a:spLocks noGrp="1"/>
          </p:cNvSpPr>
          <p:nvPr>
            <p:ph idx="1"/>
          </p:nvPr>
        </p:nvSpPr>
        <p:spPr/>
        <p:txBody>
          <a:bodyPr/>
          <a:lstStyle/>
          <a:p>
            <a:r>
              <a:rPr lang="en-US" dirty="0"/>
              <a:t>Another of the primitive datatypes 1s the type </a:t>
            </a:r>
            <a:r>
              <a:rPr lang="en-US" dirty="0" err="1"/>
              <a:t>boolean</a:t>
            </a:r>
            <a:r>
              <a:rPr lang="en-US" dirty="0"/>
              <a:t>. It is used to represent a single true/false value.</a:t>
            </a:r>
          </a:p>
          <a:p>
            <a:r>
              <a:rPr lang="en-US" dirty="0"/>
              <a:t> A </a:t>
            </a:r>
            <a:r>
              <a:rPr lang="en-US" dirty="0" err="1"/>
              <a:t>boolean</a:t>
            </a:r>
            <a:r>
              <a:rPr lang="en-US" dirty="0"/>
              <a:t> value can have only one of two values : true or false </a:t>
            </a:r>
          </a:p>
          <a:p>
            <a:endParaRPr lang="en-IN" dirty="0"/>
          </a:p>
        </p:txBody>
      </p:sp>
      <p:pic>
        <p:nvPicPr>
          <p:cNvPr id="5" name="Picture 4">
            <a:extLst>
              <a:ext uri="{FF2B5EF4-FFF2-40B4-BE49-F238E27FC236}">
                <a16:creationId xmlns:a16="http://schemas.microsoft.com/office/drawing/2014/main" id="{A999FAB3-78B9-9133-7B1D-EEC5A5FA0D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296" y="3822156"/>
            <a:ext cx="11868704" cy="1325563"/>
          </a:xfrm>
          <a:prstGeom prst="rect">
            <a:avLst/>
          </a:prstGeom>
        </p:spPr>
      </p:pic>
    </p:spTree>
    <p:extLst>
      <p:ext uri="{BB962C8B-B14F-4D97-AF65-F5344CB8AC3E}">
        <p14:creationId xmlns:p14="http://schemas.microsoft.com/office/powerpoint/2010/main" val="19685122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8478D-65F4-7AE6-04F5-278A4C606142}"/>
              </a:ext>
            </a:extLst>
          </p:cNvPr>
          <p:cNvSpPr>
            <a:spLocks noGrp="1"/>
          </p:cNvSpPr>
          <p:nvPr>
            <p:ph type="title"/>
          </p:nvPr>
        </p:nvSpPr>
        <p:spPr/>
        <p:txBody>
          <a:bodyPr/>
          <a:lstStyle/>
          <a:p>
            <a:r>
              <a:rPr lang="en-IN" dirty="0"/>
              <a:t>Reference Datatypes </a:t>
            </a:r>
          </a:p>
        </p:txBody>
      </p:sp>
      <p:sp>
        <p:nvSpPr>
          <p:cNvPr id="3" name="Content Placeholder 2">
            <a:extLst>
              <a:ext uri="{FF2B5EF4-FFF2-40B4-BE49-F238E27FC236}">
                <a16:creationId xmlns:a16="http://schemas.microsoft.com/office/drawing/2014/main" id="{82A3EF36-6114-90DA-3A22-BA8BAC603726}"/>
              </a:ext>
            </a:extLst>
          </p:cNvPr>
          <p:cNvSpPr>
            <a:spLocks noGrp="1"/>
          </p:cNvSpPr>
          <p:nvPr>
            <p:ph idx="1"/>
          </p:nvPr>
        </p:nvSpPr>
        <p:spPr/>
        <p:txBody>
          <a:bodyPr/>
          <a:lstStyle/>
          <a:p>
            <a:r>
              <a:rPr lang="en-US" dirty="0"/>
              <a:t>Broadly a reference in Java is a data element whose value 1s an address Arrays, classes, and interfaces are reference types</a:t>
            </a:r>
          </a:p>
          <a:p>
            <a:r>
              <a:rPr lang="en-US" dirty="0"/>
              <a:t>The value of a reference type variable, in contrast to that of a primitive type, is a reference to (an address of) the value or set of values represented by the  variable (Fig 5.1) </a:t>
            </a:r>
          </a:p>
          <a:p>
            <a:endParaRPr lang="en-IN" dirty="0"/>
          </a:p>
        </p:txBody>
      </p:sp>
    </p:spTree>
    <p:extLst>
      <p:ext uri="{BB962C8B-B14F-4D97-AF65-F5344CB8AC3E}">
        <p14:creationId xmlns:p14="http://schemas.microsoft.com/office/powerpoint/2010/main" val="15239500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7C9B4-A2FE-F9C5-66E5-26CEBD8424D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766B899-F6CA-5FA0-16C9-87EF9C7CB0D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0089502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7B1FD-408F-62F5-70BF-8E245B6761C8}"/>
              </a:ext>
            </a:extLst>
          </p:cNvPr>
          <p:cNvSpPr>
            <a:spLocks noGrp="1"/>
          </p:cNvSpPr>
          <p:nvPr>
            <p:ph type="title"/>
          </p:nvPr>
        </p:nvSpPr>
        <p:spPr/>
        <p:txBody>
          <a:bodyPr/>
          <a:lstStyle/>
          <a:p>
            <a:r>
              <a:rPr lang="en-IN" dirty="0"/>
              <a:t>Variables</a:t>
            </a:r>
          </a:p>
        </p:txBody>
      </p:sp>
      <p:sp>
        <p:nvSpPr>
          <p:cNvPr id="3" name="Content Placeholder 2">
            <a:extLst>
              <a:ext uri="{FF2B5EF4-FFF2-40B4-BE49-F238E27FC236}">
                <a16:creationId xmlns:a16="http://schemas.microsoft.com/office/drawing/2014/main" id="{E8EB75AE-7C2E-DB9B-47FC-C98EF4655EFA}"/>
              </a:ext>
            </a:extLst>
          </p:cNvPr>
          <p:cNvSpPr>
            <a:spLocks noGrp="1"/>
          </p:cNvSpPr>
          <p:nvPr>
            <p:ph idx="1"/>
          </p:nvPr>
        </p:nvSpPr>
        <p:spPr/>
        <p:txBody>
          <a:bodyPr/>
          <a:lstStyle/>
          <a:p>
            <a:r>
              <a:rPr lang="en-IN" dirty="0"/>
              <a:t>V</a:t>
            </a:r>
            <a:r>
              <a:rPr lang="en-US" dirty="0" err="1"/>
              <a:t>aribles</a:t>
            </a:r>
            <a:r>
              <a:rPr lang="en-US" dirty="0"/>
              <a:t> represent named storage locations, whose values can be manipulated during program run .</a:t>
            </a:r>
          </a:p>
          <a:p>
            <a:r>
              <a:rPr lang="en-US" dirty="0"/>
              <a:t>A variable is a named memory location, which holds a data value of a particular data type.</a:t>
            </a:r>
          </a:p>
          <a:p>
            <a:r>
              <a:rPr lang="en-US" dirty="0">
                <a:solidFill>
                  <a:srgbClr val="FF0000"/>
                </a:solidFill>
              </a:rPr>
              <a:t>Declaration of a Variable </a:t>
            </a:r>
          </a:p>
          <a:p>
            <a:r>
              <a:rPr lang="en-US" dirty="0"/>
              <a:t>The declaration of a variable generally takes the following form </a:t>
            </a:r>
          </a:p>
          <a:p>
            <a:pPr marL="0" indent="0">
              <a:buNone/>
            </a:pPr>
            <a:r>
              <a:rPr lang="en-US" dirty="0"/>
              <a:t> type variable name </a:t>
            </a:r>
            <a:endParaRPr lang="en-IN" dirty="0"/>
          </a:p>
        </p:txBody>
      </p:sp>
    </p:spTree>
    <p:extLst>
      <p:ext uri="{BB962C8B-B14F-4D97-AF65-F5344CB8AC3E}">
        <p14:creationId xmlns:p14="http://schemas.microsoft.com/office/powerpoint/2010/main" val="27282621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744BD-9DE2-AA28-D481-F901C75FE332}"/>
              </a:ext>
            </a:extLst>
          </p:cNvPr>
          <p:cNvSpPr>
            <a:spLocks noGrp="1"/>
          </p:cNvSpPr>
          <p:nvPr>
            <p:ph type="title"/>
          </p:nvPr>
        </p:nvSpPr>
        <p:spPr/>
        <p:txBody>
          <a:bodyPr/>
          <a:lstStyle/>
          <a:p>
            <a:r>
              <a:rPr lang="en-IN" dirty="0"/>
              <a:t>Initial Values of Variables </a:t>
            </a:r>
          </a:p>
        </p:txBody>
      </p:sp>
      <p:pic>
        <p:nvPicPr>
          <p:cNvPr id="5" name="Content Placeholder 4">
            <a:extLst>
              <a:ext uri="{FF2B5EF4-FFF2-40B4-BE49-F238E27FC236}">
                <a16:creationId xmlns:a16="http://schemas.microsoft.com/office/drawing/2014/main" id="{97A791B4-CF16-4D5C-0478-7242B952991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90274" y="1942558"/>
            <a:ext cx="7649453" cy="4249696"/>
          </a:xfrm>
        </p:spPr>
      </p:pic>
    </p:spTree>
    <p:extLst>
      <p:ext uri="{BB962C8B-B14F-4D97-AF65-F5344CB8AC3E}">
        <p14:creationId xmlns:p14="http://schemas.microsoft.com/office/powerpoint/2010/main" val="18651740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2F422-0EE8-1211-8ACD-643D0EA5ABD6}"/>
              </a:ext>
            </a:extLst>
          </p:cNvPr>
          <p:cNvSpPr>
            <a:spLocks noGrp="1"/>
          </p:cNvSpPr>
          <p:nvPr>
            <p:ph type="title"/>
          </p:nvPr>
        </p:nvSpPr>
        <p:spPr/>
        <p:txBody>
          <a:bodyPr/>
          <a:lstStyle/>
          <a:p>
            <a:r>
              <a:rPr lang="en-IN" dirty="0"/>
              <a:t>Constants </a:t>
            </a:r>
          </a:p>
        </p:txBody>
      </p:sp>
      <p:sp>
        <p:nvSpPr>
          <p:cNvPr id="3" name="Content Placeholder 2">
            <a:extLst>
              <a:ext uri="{FF2B5EF4-FFF2-40B4-BE49-F238E27FC236}">
                <a16:creationId xmlns:a16="http://schemas.microsoft.com/office/drawing/2014/main" id="{CB5E7C0D-7322-D7C2-2000-1DEBCE9014C9}"/>
              </a:ext>
            </a:extLst>
          </p:cNvPr>
          <p:cNvSpPr>
            <a:spLocks noGrp="1"/>
          </p:cNvSpPr>
          <p:nvPr>
            <p:ph idx="1"/>
          </p:nvPr>
        </p:nvSpPr>
        <p:spPr/>
        <p:txBody>
          <a:bodyPr/>
          <a:lstStyle/>
          <a:p>
            <a:r>
              <a:rPr lang="en-US" dirty="0"/>
              <a:t>The keyword </a:t>
            </a:r>
            <a:r>
              <a:rPr lang="en-US" b="1" dirty="0"/>
              <a:t>final</a:t>
            </a:r>
            <a:r>
              <a:rPr lang="en-US" dirty="0"/>
              <a:t> makes a variable as constant i.e., whose value can not be changed during Program execution. </a:t>
            </a:r>
            <a:endParaRPr lang="en-IN" dirty="0"/>
          </a:p>
        </p:txBody>
      </p:sp>
    </p:spTree>
    <p:extLst>
      <p:ext uri="{BB962C8B-B14F-4D97-AF65-F5344CB8AC3E}">
        <p14:creationId xmlns:p14="http://schemas.microsoft.com/office/powerpoint/2010/main" val="13402416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BFCE4-9956-C38B-1F31-EE4778FAB033}"/>
              </a:ext>
            </a:extLst>
          </p:cNvPr>
          <p:cNvSpPr>
            <a:spLocks noGrp="1"/>
          </p:cNvSpPr>
          <p:nvPr>
            <p:ph type="title"/>
          </p:nvPr>
        </p:nvSpPr>
        <p:spPr/>
        <p:txBody>
          <a:bodyPr/>
          <a:lstStyle/>
          <a:p>
            <a:r>
              <a:rPr lang="en-IN" dirty="0"/>
              <a:t>Operators in Java </a:t>
            </a:r>
          </a:p>
        </p:txBody>
      </p:sp>
      <p:sp>
        <p:nvSpPr>
          <p:cNvPr id="3" name="Content Placeholder 2">
            <a:extLst>
              <a:ext uri="{FF2B5EF4-FFF2-40B4-BE49-F238E27FC236}">
                <a16:creationId xmlns:a16="http://schemas.microsoft.com/office/drawing/2014/main" id="{4C691272-3B1B-91C0-D861-A874AD7BA787}"/>
              </a:ext>
            </a:extLst>
          </p:cNvPr>
          <p:cNvSpPr>
            <a:spLocks noGrp="1"/>
          </p:cNvSpPr>
          <p:nvPr>
            <p:ph idx="1"/>
          </p:nvPr>
        </p:nvSpPr>
        <p:spPr/>
        <p:txBody>
          <a:bodyPr>
            <a:normAutofit fontScale="92500" lnSpcReduction="10000"/>
          </a:bodyPr>
          <a:lstStyle/>
          <a:p>
            <a:r>
              <a:rPr lang="en-US" dirty="0"/>
              <a:t>The operations (specific tasks) are represented by operators and the objects of the operations(s) are referred to as operands</a:t>
            </a:r>
          </a:p>
          <a:p>
            <a:r>
              <a:rPr lang="en-US" dirty="0"/>
              <a:t>Types of Operators in Java</a:t>
            </a:r>
          </a:p>
          <a:p>
            <a:pPr lvl="1"/>
            <a:r>
              <a:rPr lang="en-US" dirty="0"/>
              <a:t>Arithmetic Operators</a:t>
            </a:r>
          </a:p>
          <a:p>
            <a:pPr lvl="1"/>
            <a:r>
              <a:rPr lang="en-US" dirty="0"/>
              <a:t>Unary Operators</a:t>
            </a:r>
          </a:p>
          <a:p>
            <a:pPr lvl="1"/>
            <a:r>
              <a:rPr lang="en-US" dirty="0"/>
              <a:t>Assignment Operator</a:t>
            </a:r>
          </a:p>
          <a:p>
            <a:pPr lvl="1"/>
            <a:r>
              <a:rPr lang="en-US" dirty="0"/>
              <a:t>Relational Operators</a:t>
            </a:r>
          </a:p>
          <a:p>
            <a:pPr lvl="1"/>
            <a:r>
              <a:rPr lang="en-US" dirty="0"/>
              <a:t>Logical Operators</a:t>
            </a:r>
          </a:p>
          <a:p>
            <a:pPr lvl="1"/>
            <a:r>
              <a:rPr lang="en-US" dirty="0"/>
              <a:t>Ternary Operator</a:t>
            </a:r>
          </a:p>
          <a:p>
            <a:pPr lvl="1"/>
            <a:r>
              <a:rPr lang="en-US" dirty="0"/>
              <a:t>Bitwise Operators</a:t>
            </a:r>
          </a:p>
          <a:p>
            <a:pPr lvl="1"/>
            <a:r>
              <a:rPr lang="en-US" dirty="0"/>
              <a:t>Shift Operators</a:t>
            </a:r>
          </a:p>
          <a:p>
            <a:pPr lvl="1"/>
            <a:r>
              <a:rPr lang="en-US" dirty="0"/>
              <a:t>instance of operator</a:t>
            </a:r>
            <a:endParaRPr lang="en-IN" dirty="0"/>
          </a:p>
        </p:txBody>
      </p:sp>
    </p:spTree>
    <p:extLst>
      <p:ext uri="{BB962C8B-B14F-4D97-AF65-F5344CB8AC3E}">
        <p14:creationId xmlns:p14="http://schemas.microsoft.com/office/powerpoint/2010/main" val="35033386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0700E-C561-D872-5840-C3F167FAEF57}"/>
              </a:ext>
            </a:extLst>
          </p:cNvPr>
          <p:cNvSpPr>
            <a:spLocks noGrp="1"/>
          </p:cNvSpPr>
          <p:nvPr>
            <p:ph type="title"/>
          </p:nvPr>
        </p:nvSpPr>
        <p:spPr/>
        <p:txBody>
          <a:bodyPr/>
          <a:lstStyle/>
          <a:p>
            <a:r>
              <a:rPr lang="en-IN" dirty="0"/>
              <a:t>Arithmetic Operators </a:t>
            </a:r>
          </a:p>
        </p:txBody>
      </p:sp>
      <p:sp>
        <p:nvSpPr>
          <p:cNvPr id="3" name="Content Placeholder 2">
            <a:extLst>
              <a:ext uri="{FF2B5EF4-FFF2-40B4-BE49-F238E27FC236}">
                <a16:creationId xmlns:a16="http://schemas.microsoft.com/office/drawing/2014/main" id="{7C435018-9F2F-E07C-E8C3-6E5F0773C402}"/>
              </a:ext>
            </a:extLst>
          </p:cNvPr>
          <p:cNvSpPr>
            <a:spLocks noGrp="1"/>
          </p:cNvSpPr>
          <p:nvPr>
            <p:ph idx="1"/>
          </p:nvPr>
        </p:nvSpPr>
        <p:spPr/>
        <p:txBody>
          <a:bodyPr/>
          <a:lstStyle/>
          <a:p>
            <a:r>
              <a:rPr lang="en-US" dirty="0"/>
              <a:t>Java provides operators for five basic arithmetic calculations : addition, subtraction, multiplication, division and remainder which are +,-,%, / and % respectively </a:t>
            </a:r>
          </a:p>
          <a:p>
            <a:r>
              <a:rPr lang="en-US" dirty="0"/>
              <a:t>Each of these operators is a binary operator </a:t>
            </a:r>
            <a:r>
              <a:rPr lang="en-US" dirty="0" err="1"/>
              <a:t>t.e</a:t>
            </a:r>
            <a:r>
              <a:rPr lang="en-US" dirty="0"/>
              <a:t>., it requires two values (operands) to calculate a final answer.</a:t>
            </a:r>
            <a:endParaRPr lang="en-IN" dirty="0"/>
          </a:p>
        </p:txBody>
      </p:sp>
    </p:spTree>
    <p:extLst>
      <p:ext uri="{BB962C8B-B14F-4D97-AF65-F5344CB8AC3E}">
        <p14:creationId xmlns:p14="http://schemas.microsoft.com/office/powerpoint/2010/main" val="28979410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94FE6-47BF-9BDC-CC36-ED76E06C7C86}"/>
              </a:ext>
            </a:extLst>
          </p:cNvPr>
          <p:cNvSpPr>
            <a:spLocks noGrp="1"/>
          </p:cNvSpPr>
          <p:nvPr>
            <p:ph type="title"/>
          </p:nvPr>
        </p:nvSpPr>
        <p:spPr/>
        <p:txBody>
          <a:bodyPr/>
          <a:lstStyle/>
          <a:p>
            <a:r>
              <a:rPr lang="en-IN" dirty="0"/>
              <a:t>Unary Operators </a:t>
            </a:r>
          </a:p>
        </p:txBody>
      </p:sp>
      <p:sp>
        <p:nvSpPr>
          <p:cNvPr id="3" name="Content Placeholder 2">
            <a:extLst>
              <a:ext uri="{FF2B5EF4-FFF2-40B4-BE49-F238E27FC236}">
                <a16:creationId xmlns:a16="http://schemas.microsoft.com/office/drawing/2014/main" id="{A567CAA3-611E-DB7F-7179-BF3E7DB9817E}"/>
              </a:ext>
            </a:extLst>
          </p:cNvPr>
          <p:cNvSpPr>
            <a:spLocks noGrp="1"/>
          </p:cNvSpPr>
          <p:nvPr>
            <p:ph idx="1"/>
          </p:nvPr>
        </p:nvSpPr>
        <p:spPr/>
        <p:txBody>
          <a:bodyPr>
            <a:normAutofit lnSpcReduction="10000"/>
          </a:bodyPr>
          <a:lstStyle/>
          <a:p>
            <a:r>
              <a:rPr lang="en-US" dirty="0"/>
              <a:t>Java provides two unary arithmetic operators (that require one operand) also which are unary +, and unary -. </a:t>
            </a:r>
          </a:p>
          <a:p>
            <a:r>
              <a:rPr lang="en-US" b="1" dirty="0">
                <a:solidFill>
                  <a:srgbClr val="FF0000"/>
                </a:solidFill>
              </a:rPr>
              <a:t>1.Unary + </a:t>
            </a:r>
          </a:p>
          <a:p>
            <a:pPr lvl="1"/>
            <a:r>
              <a:rPr lang="en-US" dirty="0"/>
              <a:t>The operator unary “+” precedes an operand </a:t>
            </a:r>
          </a:p>
          <a:p>
            <a:pPr lvl="2"/>
            <a:r>
              <a:rPr lang="en-US" dirty="0" err="1"/>
              <a:t>ifa</a:t>
            </a:r>
            <a:r>
              <a:rPr lang="en-US" dirty="0"/>
              <a:t>=5 then +a means 5, </a:t>
            </a:r>
          </a:p>
          <a:p>
            <a:pPr lvl="2"/>
            <a:r>
              <a:rPr lang="en-US" dirty="0"/>
              <a:t>if a= 0 then +a means 0,</a:t>
            </a:r>
          </a:p>
          <a:p>
            <a:pPr lvl="2"/>
            <a:r>
              <a:rPr lang="en-US" dirty="0"/>
              <a:t>if a = -4 then +a means — 4. </a:t>
            </a:r>
          </a:p>
          <a:p>
            <a:r>
              <a:rPr lang="en-US" b="1" dirty="0">
                <a:solidFill>
                  <a:srgbClr val="FF0000"/>
                </a:solidFill>
              </a:rPr>
              <a:t>2. Unary –</a:t>
            </a:r>
          </a:p>
          <a:p>
            <a:pPr lvl="1"/>
            <a:r>
              <a:rPr lang="en-US" dirty="0"/>
              <a:t>The operator unary - precedes an operand. </a:t>
            </a:r>
          </a:p>
          <a:p>
            <a:pPr lvl="2"/>
            <a:r>
              <a:rPr lang="en-US" dirty="0"/>
              <a:t>if a=5 then -a means — 5. </a:t>
            </a:r>
          </a:p>
          <a:p>
            <a:pPr lvl="2"/>
            <a:r>
              <a:rPr lang="en-US" dirty="0"/>
              <a:t>if a= 0 then -a means 0 (there 15 no quantity known as ~ @) </a:t>
            </a:r>
          </a:p>
          <a:p>
            <a:pPr lvl="2"/>
            <a:r>
              <a:rPr lang="en-US" dirty="0"/>
              <a:t>if a =-4 then -a means 4. </a:t>
            </a:r>
            <a:endParaRPr lang="en-IN" dirty="0"/>
          </a:p>
        </p:txBody>
      </p:sp>
    </p:spTree>
    <p:extLst>
      <p:ext uri="{BB962C8B-B14F-4D97-AF65-F5344CB8AC3E}">
        <p14:creationId xmlns:p14="http://schemas.microsoft.com/office/powerpoint/2010/main" val="20910344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52F23-AB4E-6D4F-FEF2-3306D76722FA}"/>
              </a:ext>
            </a:extLst>
          </p:cNvPr>
          <p:cNvSpPr>
            <a:spLocks noGrp="1"/>
          </p:cNvSpPr>
          <p:nvPr>
            <p:ph type="title"/>
          </p:nvPr>
        </p:nvSpPr>
        <p:spPr/>
        <p:txBody>
          <a:bodyPr/>
          <a:lstStyle/>
          <a:p>
            <a:r>
              <a:rPr lang="en-IN" dirty="0"/>
              <a:t>Binary Operators </a:t>
            </a:r>
          </a:p>
        </p:txBody>
      </p:sp>
      <p:sp>
        <p:nvSpPr>
          <p:cNvPr id="3" name="Content Placeholder 2">
            <a:extLst>
              <a:ext uri="{FF2B5EF4-FFF2-40B4-BE49-F238E27FC236}">
                <a16:creationId xmlns:a16="http://schemas.microsoft.com/office/drawing/2014/main" id="{A7492F01-BC4A-F2A1-C498-A572E02E3C16}"/>
              </a:ext>
            </a:extLst>
          </p:cNvPr>
          <p:cNvSpPr>
            <a:spLocks noGrp="1"/>
          </p:cNvSpPr>
          <p:nvPr>
            <p:ph idx="1"/>
          </p:nvPr>
        </p:nvSpPr>
        <p:spPr>
          <a:xfrm>
            <a:off x="465221" y="1395663"/>
            <a:ext cx="10888579" cy="4781300"/>
          </a:xfrm>
        </p:spPr>
        <p:txBody>
          <a:bodyPr>
            <a:normAutofit lnSpcReduction="10000"/>
          </a:bodyPr>
          <a:lstStyle/>
          <a:p>
            <a:r>
              <a:rPr lang="en-IN" dirty="0"/>
              <a:t>Operators that act upon two operands are referred to as Binary Operators.</a:t>
            </a:r>
          </a:p>
          <a:p>
            <a:pPr marL="0" indent="0">
              <a:buNone/>
            </a:pPr>
            <a:r>
              <a:rPr lang="en-US" dirty="0">
                <a:solidFill>
                  <a:srgbClr val="C00000"/>
                </a:solidFill>
              </a:rPr>
              <a:t>1. Addition operator +</a:t>
            </a:r>
          </a:p>
          <a:p>
            <a:pPr marL="0" indent="0">
              <a:buNone/>
            </a:pPr>
            <a:r>
              <a:rPr lang="en-US" dirty="0"/>
              <a:t> The arithmetic </a:t>
            </a:r>
            <a:r>
              <a:rPr lang="en-US" dirty="0" err="1"/>
              <a:t>bnary</a:t>
            </a:r>
            <a:r>
              <a:rPr lang="en-US" dirty="0"/>
              <a:t> operator + adds values of its operands and the result is the sum of the values of its two operands For example, </a:t>
            </a:r>
          </a:p>
          <a:p>
            <a:pPr marL="457200" lvl="1" indent="0">
              <a:buNone/>
            </a:pPr>
            <a:r>
              <a:rPr lang="en-US" dirty="0"/>
              <a:t>4+ 26 results in 24, </a:t>
            </a:r>
          </a:p>
          <a:p>
            <a:pPr marL="457200" lvl="1" indent="0">
              <a:buNone/>
            </a:pPr>
            <a:r>
              <a:rPr lang="en-US" dirty="0"/>
              <a:t>a+5 (where a = 2) results in 7, </a:t>
            </a:r>
          </a:p>
          <a:p>
            <a:pPr marL="457200" lvl="1" indent="0">
              <a:buNone/>
            </a:pPr>
            <a:r>
              <a:rPr lang="en-US" dirty="0" err="1"/>
              <a:t>a+b</a:t>
            </a:r>
            <a:r>
              <a:rPr lang="en-US" dirty="0"/>
              <a:t> (where a = 4, b = 6) results in 10, </a:t>
            </a:r>
          </a:p>
          <a:p>
            <a:pPr marL="0" indent="0">
              <a:buNone/>
            </a:pPr>
            <a:r>
              <a:rPr lang="en-US" dirty="0">
                <a:solidFill>
                  <a:srgbClr val="C00000"/>
                </a:solidFill>
              </a:rPr>
              <a:t>2. Subtraction operator -</a:t>
            </a:r>
          </a:p>
          <a:p>
            <a:pPr marL="0" indent="0">
              <a:buNone/>
            </a:pPr>
            <a:r>
              <a:rPr lang="en-US" dirty="0">
                <a:solidFill>
                  <a:srgbClr val="C00000"/>
                </a:solidFill>
              </a:rPr>
              <a:t> </a:t>
            </a:r>
            <a:r>
              <a:rPr lang="en-US" dirty="0"/>
              <a:t>The - operator subtracts the second operand from the first For example, </a:t>
            </a:r>
          </a:p>
          <a:p>
            <a:pPr marL="457200" lvl="1" indent="0">
              <a:buNone/>
            </a:pPr>
            <a:r>
              <a:rPr lang="en-US" dirty="0"/>
              <a:t>14 - 3 evaluates to i1 </a:t>
            </a:r>
          </a:p>
          <a:p>
            <a:pPr marL="457200" lvl="1" indent="0">
              <a:buNone/>
            </a:pPr>
            <a:r>
              <a:rPr lang="en-US" dirty="0"/>
              <a:t>a-b (where a= 7, b= 5) evaluates to 2, </a:t>
            </a:r>
            <a:endParaRPr lang="en-IN" dirty="0"/>
          </a:p>
        </p:txBody>
      </p:sp>
    </p:spTree>
    <p:extLst>
      <p:ext uri="{BB962C8B-B14F-4D97-AF65-F5344CB8AC3E}">
        <p14:creationId xmlns:p14="http://schemas.microsoft.com/office/powerpoint/2010/main" val="15112714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831EEF-7798-81C7-4DFB-B52171AE439A}"/>
              </a:ext>
            </a:extLst>
          </p:cNvPr>
          <p:cNvSpPr>
            <a:spLocks noGrp="1"/>
          </p:cNvSpPr>
          <p:nvPr>
            <p:ph idx="1"/>
          </p:nvPr>
        </p:nvSpPr>
        <p:spPr>
          <a:xfrm>
            <a:off x="336884" y="368968"/>
            <a:ext cx="11016916" cy="5807995"/>
          </a:xfrm>
        </p:spPr>
        <p:txBody>
          <a:bodyPr>
            <a:normAutofit fontScale="92500" lnSpcReduction="20000"/>
          </a:bodyPr>
          <a:lstStyle/>
          <a:p>
            <a:r>
              <a:rPr lang="en-US" dirty="0"/>
              <a:t>3. Multiplication operator *</a:t>
            </a:r>
          </a:p>
          <a:p>
            <a:r>
              <a:rPr lang="en-US" dirty="0"/>
              <a:t>The operator multiplies the values of its operands. For example,</a:t>
            </a:r>
          </a:p>
          <a:p>
            <a:pPr lvl="1"/>
            <a:r>
              <a:rPr lang="en-US" dirty="0"/>
              <a:t>b* 4 (where b = 6) evaluates to 24. </a:t>
            </a:r>
          </a:p>
          <a:p>
            <a:pPr lvl="1"/>
            <a:r>
              <a:rPr lang="en-US" dirty="0"/>
              <a:t>a*c {where a= 3, C= 5) evaluates to 15: </a:t>
            </a:r>
          </a:p>
          <a:p>
            <a:pPr lvl="1"/>
            <a:r>
              <a:rPr lang="en-US" dirty="0"/>
              <a:t>3 * 4 evaluates to 12</a:t>
            </a:r>
          </a:p>
          <a:p>
            <a:endParaRPr lang="en-US" dirty="0"/>
          </a:p>
          <a:p>
            <a:r>
              <a:rPr lang="en-US" dirty="0"/>
              <a:t>4. Division operator / </a:t>
            </a:r>
          </a:p>
          <a:p>
            <a:r>
              <a:rPr lang="en-US" dirty="0"/>
              <a:t>	The / operator divides its first operand by the second, For example </a:t>
            </a:r>
          </a:p>
          <a:p>
            <a:pPr lvl="2"/>
            <a:r>
              <a:rPr lang="en-US" dirty="0"/>
              <a:t>1008/5 evaluates to 26. </a:t>
            </a:r>
          </a:p>
          <a:p>
            <a:pPr lvl="2"/>
            <a:r>
              <a:rPr lang="en-US" dirty="0"/>
              <a:t>a/2 (a = 16) evaluates to 8. </a:t>
            </a:r>
          </a:p>
          <a:p>
            <a:pPr lvl="2"/>
            <a:r>
              <a:rPr lang="en-US" dirty="0"/>
              <a:t>a/b (a = 15.9, b = 3) evaluates to 5.3. </a:t>
            </a:r>
          </a:p>
          <a:p>
            <a:r>
              <a:rPr lang="en-US" dirty="0"/>
              <a:t>5. Modulus operator %. </a:t>
            </a:r>
          </a:p>
          <a:p>
            <a:r>
              <a:rPr lang="en-US" dirty="0"/>
              <a:t>The % operator finds the modulus of its first operand relative to the </a:t>
            </a:r>
          </a:p>
          <a:p>
            <a:r>
              <a:rPr lang="en-US" dirty="0"/>
              <a:t>second. </a:t>
            </a:r>
          </a:p>
          <a:p>
            <a:pPr lvl="2"/>
            <a:r>
              <a:rPr lang="en-US" dirty="0"/>
              <a:t>19 % 6 evaluates to 1, since 6 goes into 19 three times with a remainder 1. </a:t>
            </a:r>
          </a:p>
          <a:p>
            <a:r>
              <a:rPr lang="en-US" dirty="0"/>
              <a:t> </a:t>
            </a:r>
          </a:p>
          <a:p>
            <a:endParaRPr lang="en-US" dirty="0"/>
          </a:p>
          <a:p>
            <a:endParaRPr lang="en-US" dirty="0"/>
          </a:p>
        </p:txBody>
      </p:sp>
    </p:spTree>
    <p:extLst>
      <p:ext uri="{BB962C8B-B14F-4D97-AF65-F5344CB8AC3E}">
        <p14:creationId xmlns:p14="http://schemas.microsoft.com/office/powerpoint/2010/main" val="11698772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4C232-E0E3-97F5-3058-034173D658F6}"/>
              </a:ext>
            </a:extLst>
          </p:cNvPr>
          <p:cNvSpPr>
            <a:spLocks noGrp="1"/>
          </p:cNvSpPr>
          <p:nvPr>
            <p:ph type="title"/>
          </p:nvPr>
        </p:nvSpPr>
        <p:spPr/>
        <p:txBody>
          <a:bodyPr/>
          <a:lstStyle/>
          <a:p>
            <a:r>
              <a:rPr lang="en-IN" dirty="0"/>
              <a:t>Increment/Decrement Operators (++, -- )</a:t>
            </a:r>
          </a:p>
        </p:txBody>
      </p:sp>
      <p:sp>
        <p:nvSpPr>
          <p:cNvPr id="3" name="Content Placeholder 2">
            <a:extLst>
              <a:ext uri="{FF2B5EF4-FFF2-40B4-BE49-F238E27FC236}">
                <a16:creationId xmlns:a16="http://schemas.microsoft.com/office/drawing/2014/main" id="{3CC5ED3B-D383-7EC7-4C26-9DC6C08B5F35}"/>
              </a:ext>
            </a:extLst>
          </p:cNvPr>
          <p:cNvSpPr>
            <a:spLocks noGrp="1"/>
          </p:cNvSpPr>
          <p:nvPr>
            <p:ph idx="1"/>
          </p:nvPr>
        </p:nvSpPr>
        <p:spPr/>
        <p:txBody>
          <a:bodyPr>
            <a:normAutofit fontScale="92500" lnSpcReduction="20000"/>
          </a:bodyPr>
          <a:lstStyle/>
          <a:p>
            <a:r>
              <a:rPr lang="en-US" b="1" dirty="0"/>
              <a:t>++ : Increment operator</a:t>
            </a:r>
            <a:r>
              <a:rPr lang="en-US" dirty="0"/>
              <a:t>, used for incrementing the value by 1. There are two varieties of increment operators. </a:t>
            </a:r>
          </a:p>
          <a:p>
            <a:r>
              <a:rPr lang="en-US" dirty="0"/>
              <a:t>Post-Increment: Value is first used for computing the result and then incremented.</a:t>
            </a:r>
          </a:p>
          <a:p>
            <a:r>
              <a:rPr lang="en-US" dirty="0"/>
              <a:t>Pre-Increment: Value is incremented first, and then the result is computed.</a:t>
            </a:r>
          </a:p>
          <a:p>
            <a:r>
              <a:rPr lang="en-US" b="1" dirty="0"/>
              <a:t>– –  : Decrement operator, </a:t>
            </a:r>
            <a:r>
              <a:rPr lang="en-US" dirty="0"/>
              <a:t>used for decrementing the value by 1. There are two varieties of decrement operators. </a:t>
            </a:r>
          </a:p>
          <a:p>
            <a:r>
              <a:rPr lang="en-US" dirty="0"/>
              <a:t>Post-decrement: Value is first used for computing the result and then decremented.</a:t>
            </a:r>
          </a:p>
          <a:p>
            <a:r>
              <a:rPr lang="en-US" dirty="0"/>
              <a:t>Pre-Decrement: The value is decremented first, and then the result is computed.</a:t>
            </a:r>
          </a:p>
          <a:p>
            <a:r>
              <a:rPr lang="en-US" b="1" dirty="0"/>
              <a:t>! : Logical not operator, </a:t>
            </a:r>
            <a:r>
              <a:rPr lang="en-US" dirty="0"/>
              <a:t>used for inverting a </a:t>
            </a:r>
            <a:r>
              <a:rPr lang="en-US" dirty="0" err="1"/>
              <a:t>boolean</a:t>
            </a:r>
            <a:r>
              <a:rPr lang="en-US" dirty="0"/>
              <a:t> value</a:t>
            </a:r>
            <a:endParaRPr lang="en-IN" dirty="0"/>
          </a:p>
        </p:txBody>
      </p:sp>
    </p:spTree>
    <p:extLst>
      <p:ext uri="{BB962C8B-B14F-4D97-AF65-F5344CB8AC3E}">
        <p14:creationId xmlns:p14="http://schemas.microsoft.com/office/powerpoint/2010/main" val="15607227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7C72D-0C51-D186-A3EB-7921B7563BDB}"/>
              </a:ext>
            </a:extLst>
          </p:cNvPr>
          <p:cNvSpPr>
            <a:spLocks noGrp="1"/>
          </p:cNvSpPr>
          <p:nvPr>
            <p:ph type="title"/>
          </p:nvPr>
        </p:nvSpPr>
        <p:spPr/>
        <p:txBody>
          <a:bodyPr/>
          <a:lstStyle/>
          <a:p>
            <a:r>
              <a:rPr lang="en-IN" dirty="0"/>
              <a:t>Relational Operators </a:t>
            </a:r>
          </a:p>
        </p:txBody>
      </p:sp>
      <p:sp>
        <p:nvSpPr>
          <p:cNvPr id="3" name="Content Placeholder 2">
            <a:extLst>
              <a:ext uri="{FF2B5EF4-FFF2-40B4-BE49-F238E27FC236}">
                <a16:creationId xmlns:a16="http://schemas.microsoft.com/office/drawing/2014/main" id="{A9FF4313-AC4C-84AB-E9AC-5EE370ED4E55}"/>
              </a:ext>
            </a:extLst>
          </p:cNvPr>
          <p:cNvSpPr>
            <a:spLocks noGrp="1"/>
          </p:cNvSpPr>
          <p:nvPr>
            <p:ph idx="1"/>
          </p:nvPr>
        </p:nvSpPr>
        <p:spPr/>
        <p:txBody>
          <a:bodyPr>
            <a:normAutofit fontScale="92500" lnSpcReduction="20000"/>
          </a:bodyPr>
          <a:lstStyle/>
          <a:p>
            <a:r>
              <a:rPr lang="en-US" dirty="0"/>
              <a:t>==, Equal to returns true if the left-hand side is equal to the right-hand side.</a:t>
            </a:r>
          </a:p>
          <a:p>
            <a:r>
              <a:rPr lang="en-US" dirty="0"/>
              <a:t>!=, Not Equal to returns true if the left-hand side is not equal to the right-hand side.</a:t>
            </a:r>
          </a:p>
          <a:p>
            <a:r>
              <a:rPr lang="en-US" dirty="0"/>
              <a:t>&lt;, less than: returns true if the left-hand side is less than the right-hand side.</a:t>
            </a:r>
          </a:p>
          <a:p>
            <a:r>
              <a:rPr lang="en-US" dirty="0"/>
              <a:t>&lt;=, less than or equal to returns true if the left-hand side is less than or equal to the right-hand side.</a:t>
            </a:r>
          </a:p>
          <a:p>
            <a:r>
              <a:rPr lang="en-US" dirty="0"/>
              <a:t>&gt;, Greater than: returns true if the left-hand side is greater than the right-hand side.</a:t>
            </a:r>
          </a:p>
          <a:p>
            <a:r>
              <a:rPr lang="en-US" dirty="0"/>
              <a:t>&gt;=, Greater than or equal to returns true if the left-hand side is greater than or equal to the right-hand side.</a:t>
            </a:r>
            <a:endParaRPr lang="en-IN" dirty="0"/>
          </a:p>
        </p:txBody>
      </p:sp>
    </p:spTree>
    <p:extLst>
      <p:ext uri="{BB962C8B-B14F-4D97-AF65-F5344CB8AC3E}">
        <p14:creationId xmlns:p14="http://schemas.microsoft.com/office/powerpoint/2010/main" val="5923477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435F6-C853-13BC-4BDE-F95AF67AB78D}"/>
              </a:ext>
            </a:extLst>
          </p:cNvPr>
          <p:cNvSpPr>
            <a:spLocks noGrp="1"/>
          </p:cNvSpPr>
          <p:nvPr>
            <p:ph type="title"/>
          </p:nvPr>
        </p:nvSpPr>
        <p:spPr/>
        <p:txBody>
          <a:bodyPr/>
          <a:lstStyle/>
          <a:p>
            <a:r>
              <a:rPr lang="en-IN" dirty="0"/>
              <a:t>Logical Operators</a:t>
            </a:r>
          </a:p>
        </p:txBody>
      </p:sp>
      <p:sp>
        <p:nvSpPr>
          <p:cNvPr id="3" name="Content Placeholder 2">
            <a:extLst>
              <a:ext uri="{FF2B5EF4-FFF2-40B4-BE49-F238E27FC236}">
                <a16:creationId xmlns:a16="http://schemas.microsoft.com/office/drawing/2014/main" id="{BD49DB3A-6226-E8A3-2EBA-BE37D37D2DDE}"/>
              </a:ext>
            </a:extLst>
          </p:cNvPr>
          <p:cNvSpPr>
            <a:spLocks noGrp="1"/>
          </p:cNvSpPr>
          <p:nvPr>
            <p:ph idx="1"/>
          </p:nvPr>
        </p:nvSpPr>
        <p:spPr/>
        <p:txBody>
          <a:bodyPr/>
          <a:lstStyle/>
          <a:p>
            <a:r>
              <a:rPr lang="en-US" dirty="0"/>
              <a:t>&amp;&amp;, Logical AND: returns true when both conditions are true.</a:t>
            </a:r>
          </a:p>
          <a:p>
            <a:r>
              <a:rPr lang="en-US" dirty="0"/>
              <a:t>||, Logical OR: returns true if at least one condition is true.</a:t>
            </a:r>
          </a:p>
          <a:p>
            <a:r>
              <a:rPr lang="en-US" dirty="0"/>
              <a:t>!, Logical NOT: returns true when a condition is false and vice-versa</a:t>
            </a:r>
            <a:endParaRPr lang="en-IN" dirty="0"/>
          </a:p>
        </p:txBody>
      </p:sp>
    </p:spTree>
    <p:extLst>
      <p:ext uri="{BB962C8B-B14F-4D97-AF65-F5344CB8AC3E}">
        <p14:creationId xmlns:p14="http://schemas.microsoft.com/office/powerpoint/2010/main" val="26243518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B2C96-F3CA-07BF-997A-08E1C06DA53E}"/>
              </a:ext>
            </a:extLst>
          </p:cNvPr>
          <p:cNvSpPr>
            <a:spLocks noGrp="1"/>
          </p:cNvSpPr>
          <p:nvPr>
            <p:ph type="title"/>
          </p:nvPr>
        </p:nvSpPr>
        <p:spPr/>
        <p:txBody>
          <a:bodyPr/>
          <a:lstStyle/>
          <a:p>
            <a:r>
              <a:rPr lang="en-IN" dirty="0"/>
              <a:t>Shift Operators</a:t>
            </a:r>
          </a:p>
        </p:txBody>
      </p:sp>
      <p:sp>
        <p:nvSpPr>
          <p:cNvPr id="3" name="Content Placeholder 2">
            <a:extLst>
              <a:ext uri="{FF2B5EF4-FFF2-40B4-BE49-F238E27FC236}">
                <a16:creationId xmlns:a16="http://schemas.microsoft.com/office/drawing/2014/main" id="{CCBBE221-911F-0E00-C260-8E6FE87B54FB}"/>
              </a:ext>
            </a:extLst>
          </p:cNvPr>
          <p:cNvSpPr>
            <a:spLocks noGrp="1"/>
          </p:cNvSpPr>
          <p:nvPr>
            <p:ph idx="1"/>
          </p:nvPr>
        </p:nvSpPr>
        <p:spPr/>
        <p:txBody>
          <a:bodyPr/>
          <a:lstStyle/>
          <a:p>
            <a:r>
              <a:rPr lang="en-US" dirty="0"/>
              <a:t>&lt;&lt;, Left shift operator: shifts the bits of the number to the left and fills 0 on voids left as a result. Similar effect as multiplying the number with some power of two.</a:t>
            </a:r>
          </a:p>
          <a:p>
            <a:r>
              <a:rPr lang="en-US" dirty="0"/>
              <a:t>&gt;&gt;, Signed Right shift operator: shifts the bits of the number to the right and fills 0 on voids left as a result. The leftmost bit depends on the sign of the initial number. Similar effect to dividing the number with some power of two.</a:t>
            </a:r>
          </a:p>
          <a:p>
            <a:r>
              <a:rPr lang="en-US" dirty="0"/>
              <a:t>&gt;&gt;&gt;, Unsigned Right shift operator: shifts the bits of the number to the right and fills 0 on voids left as a result. The leftmost bit is set to 0.</a:t>
            </a:r>
            <a:endParaRPr lang="en-IN" dirty="0"/>
          </a:p>
        </p:txBody>
      </p:sp>
    </p:spTree>
    <p:extLst>
      <p:ext uri="{BB962C8B-B14F-4D97-AF65-F5344CB8AC3E}">
        <p14:creationId xmlns:p14="http://schemas.microsoft.com/office/powerpoint/2010/main" val="13561032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5003A-524A-96FB-0FEE-AD09C3DBFCB7}"/>
              </a:ext>
            </a:extLst>
          </p:cNvPr>
          <p:cNvSpPr>
            <a:spLocks noGrp="1"/>
          </p:cNvSpPr>
          <p:nvPr>
            <p:ph type="title"/>
          </p:nvPr>
        </p:nvSpPr>
        <p:spPr/>
        <p:txBody>
          <a:bodyPr/>
          <a:lstStyle/>
          <a:p>
            <a:r>
              <a:rPr lang="en-IN" dirty="0"/>
              <a:t>Bitwise Operators</a:t>
            </a:r>
          </a:p>
        </p:txBody>
      </p:sp>
      <p:sp>
        <p:nvSpPr>
          <p:cNvPr id="3" name="Content Placeholder 2">
            <a:extLst>
              <a:ext uri="{FF2B5EF4-FFF2-40B4-BE49-F238E27FC236}">
                <a16:creationId xmlns:a16="http://schemas.microsoft.com/office/drawing/2014/main" id="{42986FBF-C98A-1861-1204-FC53A13E75BF}"/>
              </a:ext>
            </a:extLst>
          </p:cNvPr>
          <p:cNvSpPr>
            <a:spLocks noGrp="1"/>
          </p:cNvSpPr>
          <p:nvPr>
            <p:ph idx="1"/>
          </p:nvPr>
        </p:nvSpPr>
        <p:spPr/>
        <p:txBody>
          <a:bodyPr/>
          <a:lstStyle/>
          <a:p>
            <a:r>
              <a:rPr lang="en-US" dirty="0"/>
              <a:t>&amp;, Bitwise AND operator: returns bit by bit AND of input values.</a:t>
            </a:r>
          </a:p>
          <a:p>
            <a:r>
              <a:rPr lang="en-US" dirty="0"/>
              <a:t>|, Bitwise OR operator: returns bit by bit OR of input values.</a:t>
            </a:r>
          </a:p>
          <a:p>
            <a:r>
              <a:rPr lang="en-US" dirty="0"/>
              <a:t>^, Bitwise XOR operator: returns bit-by-bit XOR of input values.</a:t>
            </a:r>
          </a:p>
          <a:p>
            <a:r>
              <a:rPr lang="en-US" dirty="0"/>
              <a:t>~, Bitwise Complement Operator: This is a unary operator which returns the one’s complement representation of the input value, i.e., with all bits inverted.</a:t>
            </a:r>
            <a:endParaRPr lang="en-IN" dirty="0"/>
          </a:p>
        </p:txBody>
      </p:sp>
    </p:spTree>
    <p:extLst>
      <p:ext uri="{BB962C8B-B14F-4D97-AF65-F5344CB8AC3E}">
        <p14:creationId xmlns:p14="http://schemas.microsoft.com/office/powerpoint/2010/main" val="25532257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1D1FD-8A42-6D00-7FF8-880B01D08BAA}"/>
              </a:ext>
            </a:extLst>
          </p:cNvPr>
          <p:cNvSpPr>
            <a:spLocks noGrp="1"/>
          </p:cNvSpPr>
          <p:nvPr>
            <p:ph type="title"/>
          </p:nvPr>
        </p:nvSpPr>
        <p:spPr/>
        <p:txBody>
          <a:bodyPr/>
          <a:lstStyle/>
          <a:p>
            <a:r>
              <a:rPr lang="en-IN" dirty="0"/>
              <a:t>Ternary operator</a:t>
            </a:r>
          </a:p>
        </p:txBody>
      </p:sp>
      <p:sp>
        <p:nvSpPr>
          <p:cNvPr id="3" name="Content Placeholder 2">
            <a:extLst>
              <a:ext uri="{FF2B5EF4-FFF2-40B4-BE49-F238E27FC236}">
                <a16:creationId xmlns:a16="http://schemas.microsoft.com/office/drawing/2014/main" id="{8F0DE32B-DD1C-4218-05D7-9D3CC680D050}"/>
              </a:ext>
            </a:extLst>
          </p:cNvPr>
          <p:cNvSpPr>
            <a:spLocks noGrp="1"/>
          </p:cNvSpPr>
          <p:nvPr>
            <p:ph idx="1"/>
          </p:nvPr>
        </p:nvSpPr>
        <p:spPr/>
        <p:txBody>
          <a:bodyPr/>
          <a:lstStyle/>
          <a:p>
            <a:r>
              <a:rPr lang="en-US" dirty="0"/>
              <a:t>The ternary operator is a shorthand version of the if-else statement. It has three operands and hence the name Ternary.</a:t>
            </a:r>
          </a:p>
          <a:p>
            <a:endParaRPr lang="en-US" dirty="0"/>
          </a:p>
          <a:p>
            <a:r>
              <a:rPr lang="en-US" dirty="0"/>
              <a:t>The general format is:</a:t>
            </a:r>
          </a:p>
          <a:p>
            <a:endParaRPr lang="en-US" dirty="0"/>
          </a:p>
          <a:p>
            <a:r>
              <a:rPr lang="en-US" dirty="0"/>
              <a:t>condition ? if true : if false</a:t>
            </a:r>
          </a:p>
          <a:p>
            <a:r>
              <a:rPr lang="en-US" dirty="0"/>
              <a:t>The above statement means that if the condition evaluates to true, then execute the statements after the ‘?’ else execute the statements after the ‘:’. </a:t>
            </a:r>
            <a:endParaRPr lang="en-IN" dirty="0"/>
          </a:p>
        </p:txBody>
      </p:sp>
    </p:spTree>
    <p:extLst>
      <p:ext uri="{BB962C8B-B14F-4D97-AF65-F5344CB8AC3E}">
        <p14:creationId xmlns:p14="http://schemas.microsoft.com/office/powerpoint/2010/main" val="25135751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852C6-B628-F9F4-D20B-2230D4B6BEAE}"/>
              </a:ext>
            </a:extLst>
          </p:cNvPr>
          <p:cNvSpPr>
            <a:spLocks noGrp="1"/>
          </p:cNvSpPr>
          <p:nvPr>
            <p:ph type="title"/>
          </p:nvPr>
        </p:nvSpPr>
        <p:spPr>
          <a:xfrm>
            <a:off x="352926" y="-58237"/>
            <a:ext cx="10515600" cy="1325563"/>
          </a:xfrm>
        </p:spPr>
        <p:txBody>
          <a:bodyPr/>
          <a:lstStyle/>
          <a:p>
            <a:r>
              <a:rPr lang="en-IN" dirty="0"/>
              <a:t> Assignment Operator</a:t>
            </a:r>
          </a:p>
        </p:txBody>
      </p:sp>
      <p:sp>
        <p:nvSpPr>
          <p:cNvPr id="3" name="Content Placeholder 2">
            <a:extLst>
              <a:ext uri="{FF2B5EF4-FFF2-40B4-BE49-F238E27FC236}">
                <a16:creationId xmlns:a16="http://schemas.microsoft.com/office/drawing/2014/main" id="{4A7EF7C7-BD79-3329-D3B2-BBF6DE00FA25}"/>
              </a:ext>
            </a:extLst>
          </p:cNvPr>
          <p:cNvSpPr>
            <a:spLocks noGrp="1"/>
          </p:cNvSpPr>
          <p:nvPr>
            <p:ph idx="1"/>
          </p:nvPr>
        </p:nvSpPr>
        <p:spPr>
          <a:xfrm>
            <a:off x="192505" y="1267326"/>
            <a:ext cx="11646569" cy="5590674"/>
          </a:xfrm>
        </p:spPr>
        <p:txBody>
          <a:bodyPr>
            <a:normAutofit fontScale="85000" lnSpcReduction="10000"/>
          </a:bodyPr>
          <a:lstStyle/>
          <a:p>
            <a:r>
              <a:rPr lang="en-US" sz="2400" dirty="0"/>
              <a:t> ‘=’ Assignment operator is used to assign a value to any variable. It has right-to-left associativity, i.e. value given on the right-hand side of the operator is assigned to the variable on the left, and therefore right-hand side value must be declared before using it or should be a constant. </a:t>
            </a:r>
          </a:p>
          <a:p>
            <a:r>
              <a:rPr lang="en-US" sz="2400" dirty="0"/>
              <a:t>The general format of the assignment operator is:</a:t>
            </a:r>
          </a:p>
          <a:p>
            <a:r>
              <a:rPr lang="en-US" sz="2400" dirty="0"/>
              <a:t>variable = value;</a:t>
            </a:r>
          </a:p>
          <a:p>
            <a:r>
              <a:rPr lang="en-US" sz="2400" dirty="0"/>
              <a:t>In many cases, the assignment operator can be combined with other operators to build a shorter version of the statement called a Compound Statement. For example, instead of a = a+5, we can write a += 5. </a:t>
            </a:r>
          </a:p>
          <a:p>
            <a:endParaRPr lang="en-US" sz="2400" dirty="0"/>
          </a:p>
          <a:p>
            <a:r>
              <a:rPr lang="en-US" sz="2400" dirty="0"/>
              <a:t>+=, for adding the left operand with the right operand and then assigning it to the variable on the left.</a:t>
            </a:r>
          </a:p>
          <a:p>
            <a:r>
              <a:rPr lang="en-US" sz="2400" dirty="0"/>
              <a:t>-=, for subtracting the right operand from the left operand and then assigning it to the variable on the left.</a:t>
            </a:r>
          </a:p>
          <a:p>
            <a:r>
              <a:rPr lang="en-US" sz="2400" dirty="0"/>
              <a:t>*=, for multiplying the left operand with the right operand and then assigning it to the variable on the left.</a:t>
            </a:r>
          </a:p>
          <a:p>
            <a:r>
              <a:rPr lang="en-US" sz="2400" dirty="0"/>
              <a:t>/=, for dividing the left operand by the right operand and then assigning it to the variable on the left.</a:t>
            </a:r>
          </a:p>
          <a:p>
            <a:r>
              <a:rPr lang="en-US" sz="2400" dirty="0"/>
              <a:t>%=, for assigning the modulo of the left operand by the right operand and then assigning it to the variable on the left</a:t>
            </a:r>
            <a:endParaRPr lang="en-IN" sz="2400" dirty="0"/>
          </a:p>
        </p:txBody>
      </p:sp>
    </p:spTree>
    <p:extLst>
      <p:ext uri="{BB962C8B-B14F-4D97-AF65-F5344CB8AC3E}">
        <p14:creationId xmlns:p14="http://schemas.microsoft.com/office/powerpoint/2010/main" val="12885920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7770B-56FF-20A1-1FFA-11B58CE1929D}"/>
              </a:ext>
            </a:extLst>
          </p:cNvPr>
          <p:cNvSpPr>
            <a:spLocks noGrp="1"/>
          </p:cNvSpPr>
          <p:nvPr>
            <p:ph type="title"/>
          </p:nvPr>
        </p:nvSpPr>
        <p:spPr/>
        <p:txBody>
          <a:bodyPr/>
          <a:lstStyle/>
          <a:p>
            <a:r>
              <a:rPr lang="en-IN" dirty="0"/>
              <a:t>Other Operators </a:t>
            </a:r>
          </a:p>
        </p:txBody>
      </p:sp>
      <p:pic>
        <p:nvPicPr>
          <p:cNvPr id="5" name="Content Placeholder 4">
            <a:extLst>
              <a:ext uri="{FF2B5EF4-FFF2-40B4-BE49-F238E27FC236}">
                <a16:creationId xmlns:a16="http://schemas.microsoft.com/office/drawing/2014/main" id="{74B989B5-D553-2F76-47F0-FCEA96A096B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37493"/>
            <a:ext cx="10452290" cy="4699139"/>
          </a:xfrm>
        </p:spPr>
      </p:pic>
    </p:spTree>
    <p:extLst>
      <p:ext uri="{BB962C8B-B14F-4D97-AF65-F5344CB8AC3E}">
        <p14:creationId xmlns:p14="http://schemas.microsoft.com/office/powerpoint/2010/main" val="19399050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4565A-17D8-D8EE-8F56-6AB0AD54B5D5}"/>
              </a:ext>
            </a:extLst>
          </p:cNvPr>
          <p:cNvSpPr>
            <a:spLocks noGrp="1"/>
          </p:cNvSpPr>
          <p:nvPr>
            <p:ph type="title"/>
          </p:nvPr>
        </p:nvSpPr>
        <p:spPr/>
        <p:txBody>
          <a:bodyPr/>
          <a:lstStyle/>
          <a:p>
            <a:r>
              <a:rPr lang="en-IN" dirty="0"/>
              <a:t>operator </a:t>
            </a:r>
            <a:br>
              <a:rPr lang="en-IN" dirty="0"/>
            </a:br>
            <a:r>
              <a:rPr lang="en-IN" dirty="0"/>
              <a:t>Precedence </a:t>
            </a:r>
          </a:p>
        </p:txBody>
      </p:sp>
      <p:pic>
        <p:nvPicPr>
          <p:cNvPr id="5" name="Content Placeholder 4">
            <a:extLst>
              <a:ext uri="{FF2B5EF4-FFF2-40B4-BE49-F238E27FC236}">
                <a16:creationId xmlns:a16="http://schemas.microsoft.com/office/drawing/2014/main" id="{170738F0-B530-CBBE-8E6F-5DF76CBDFD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96979" y="244157"/>
            <a:ext cx="6895021" cy="6369686"/>
          </a:xfrm>
        </p:spPr>
      </p:pic>
    </p:spTree>
    <p:extLst>
      <p:ext uri="{BB962C8B-B14F-4D97-AF65-F5344CB8AC3E}">
        <p14:creationId xmlns:p14="http://schemas.microsoft.com/office/powerpoint/2010/main" val="6261615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DD9B3-1760-6BA0-F829-B434D2982CE2}"/>
              </a:ext>
            </a:extLst>
          </p:cNvPr>
          <p:cNvSpPr>
            <a:spLocks noGrp="1"/>
          </p:cNvSpPr>
          <p:nvPr>
            <p:ph type="title"/>
          </p:nvPr>
        </p:nvSpPr>
        <p:spPr/>
        <p:txBody>
          <a:bodyPr/>
          <a:lstStyle/>
          <a:p>
            <a:r>
              <a:rPr lang="en-IN" dirty="0"/>
              <a:t>Expressions </a:t>
            </a:r>
          </a:p>
        </p:txBody>
      </p:sp>
      <p:sp>
        <p:nvSpPr>
          <p:cNvPr id="3" name="Content Placeholder 2">
            <a:extLst>
              <a:ext uri="{FF2B5EF4-FFF2-40B4-BE49-F238E27FC236}">
                <a16:creationId xmlns:a16="http://schemas.microsoft.com/office/drawing/2014/main" id="{E7D42499-E35B-B237-395E-08EE7C2C9C63}"/>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13883101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DFA1-41CA-3305-A663-7753FD761FBE}"/>
              </a:ext>
            </a:extLst>
          </p:cNvPr>
          <p:cNvSpPr>
            <a:spLocks noGrp="1"/>
          </p:cNvSpPr>
          <p:nvPr>
            <p:ph type="title"/>
          </p:nvPr>
        </p:nvSpPr>
        <p:spPr/>
        <p:txBody>
          <a:bodyPr/>
          <a:lstStyle/>
          <a:p>
            <a:r>
              <a:rPr lang="en-IN" dirty="0"/>
              <a:t>Math function available through math class</a:t>
            </a:r>
          </a:p>
        </p:txBody>
      </p:sp>
      <p:pic>
        <p:nvPicPr>
          <p:cNvPr id="5" name="Content Placeholder 4">
            <a:extLst>
              <a:ext uri="{FF2B5EF4-FFF2-40B4-BE49-F238E27FC236}">
                <a16:creationId xmlns:a16="http://schemas.microsoft.com/office/drawing/2014/main" id="{B99B561C-64BF-41D0-C1B0-C48DDA70FD7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52170" y="1267326"/>
            <a:ext cx="7451247" cy="5590673"/>
          </a:xfrm>
        </p:spPr>
      </p:pic>
    </p:spTree>
    <p:extLst>
      <p:ext uri="{BB962C8B-B14F-4D97-AF65-F5344CB8AC3E}">
        <p14:creationId xmlns:p14="http://schemas.microsoft.com/office/powerpoint/2010/main" val="28864284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EA56C-2182-B684-6388-B03F08BA4E3E}"/>
              </a:ext>
            </a:extLst>
          </p:cNvPr>
          <p:cNvSpPr>
            <a:spLocks noGrp="1"/>
          </p:cNvSpPr>
          <p:nvPr>
            <p:ph type="title"/>
          </p:nvPr>
        </p:nvSpPr>
        <p:spPr/>
        <p:txBody>
          <a:bodyPr/>
          <a:lstStyle/>
          <a:p>
            <a:r>
              <a:rPr lang="en-IN" dirty="0"/>
              <a:t>Type Conversion </a:t>
            </a:r>
          </a:p>
        </p:txBody>
      </p:sp>
      <p:sp>
        <p:nvSpPr>
          <p:cNvPr id="3" name="Content Placeholder 2">
            <a:extLst>
              <a:ext uri="{FF2B5EF4-FFF2-40B4-BE49-F238E27FC236}">
                <a16:creationId xmlns:a16="http://schemas.microsoft.com/office/drawing/2014/main" id="{27E309BE-8D00-A3AC-77D0-082375E0CC84}"/>
              </a:ext>
            </a:extLst>
          </p:cNvPr>
          <p:cNvSpPr>
            <a:spLocks noGrp="1"/>
          </p:cNvSpPr>
          <p:nvPr>
            <p:ph idx="1"/>
          </p:nvPr>
        </p:nvSpPr>
        <p:spPr/>
        <p:txBody>
          <a:bodyPr/>
          <a:lstStyle/>
          <a:p>
            <a:r>
              <a:rPr lang="en-IN" dirty="0"/>
              <a:t>The process of converting one predefined type into another is called type conversion.</a:t>
            </a:r>
          </a:p>
          <a:p>
            <a:r>
              <a:rPr lang="en-IN" dirty="0"/>
              <a:t>When constants and variables of different types are mixed in an expression , they are converted to the same type.</a:t>
            </a:r>
          </a:p>
          <a:p>
            <a:r>
              <a:rPr lang="en-IN" dirty="0"/>
              <a:t>Java provides two type of conversion:</a:t>
            </a:r>
          </a:p>
          <a:p>
            <a:pPr lvl="1"/>
            <a:r>
              <a:rPr lang="en-IN" dirty="0"/>
              <a:t>Implicit type conversion</a:t>
            </a:r>
          </a:p>
          <a:p>
            <a:pPr lvl="1"/>
            <a:r>
              <a:rPr lang="en-IN" dirty="0"/>
              <a:t>Explicit type conversion</a:t>
            </a:r>
          </a:p>
          <a:p>
            <a:endParaRPr lang="en-IN" dirty="0"/>
          </a:p>
        </p:txBody>
      </p:sp>
    </p:spTree>
    <p:extLst>
      <p:ext uri="{BB962C8B-B14F-4D97-AF65-F5344CB8AC3E}">
        <p14:creationId xmlns:p14="http://schemas.microsoft.com/office/powerpoint/2010/main" val="39914149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351B3-0E1B-2A30-7B90-06D1234089A2}"/>
              </a:ext>
            </a:extLst>
          </p:cNvPr>
          <p:cNvSpPr>
            <a:spLocks noGrp="1"/>
          </p:cNvSpPr>
          <p:nvPr>
            <p:ph type="title"/>
          </p:nvPr>
        </p:nvSpPr>
        <p:spPr>
          <a:xfrm>
            <a:off x="128337" y="193612"/>
            <a:ext cx="10663990" cy="974850"/>
          </a:xfrm>
        </p:spPr>
        <p:txBody>
          <a:bodyPr/>
          <a:lstStyle/>
          <a:p>
            <a:r>
              <a:rPr lang="en-IN" dirty="0" err="1"/>
              <a:t>i</a:t>
            </a:r>
            <a:r>
              <a:rPr lang="en-IN" dirty="0"/>
              <a:t>) Implicit type conversion </a:t>
            </a:r>
          </a:p>
        </p:txBody>
      </p:sp>
      <p:sp>
        <p:nvSpPr>
          <p:cNvPr id="3" name="Content Placeholder 2">
            <a:extLst>
              <a:ext uri="{FF2B5EF4-FFF2-40B4-BE49-F238E27FC236}">
                <a16:creationId xmlns:a16="http://schemas.microsoft.com/office/drawing/2014/main" id="{7423F74D-17F6-7D02-E0C9-1F1DD77536A9}"/>
              </a:ext>
            </a:extLst>
          </p:cNvPr>
          <p:cNvSpPr>
            <a:spLocks noGrp="1"/>
          </p:cNvSpPr>
          <p:nvPr>
            <p:ph idx="1"/>
          </p:nvPr>
        </p:nvSpPr>
        <p:spPr>
          <a:xfrm>
            <a:off x="272716" y="1283368"/>
            <a:ext cx="11566358" cy="5381020"/>
          </a:xfrm>
        </p:spPr>
        <p:txBody>
          <a:bodyPr>
            <a:normAutofit/>
          </a:bodyPr>
          <a:lstStyle/>
          <a:p>
            <a:r>
              <a:rPr lang="en-US" dirty="0"/>
              <a:t>An implicit type conversion is a conversion performed by the compiler without programmer’s intervention. </a:t>
            </a:r>
          </a:p>
          <a:p>
            <a:r>
              <a:rPr lang="en-US" dirty="0"/>
              <a:t>The Java compiler converts all operands </a:t>
            </a:r>
            <a:r>
              <a:rPr lang="en-US" dirty="0" err="1"/>
              <a:t>upto</a:t>
            </a:r>
            <a:r>
              <a:rPr lang="en-US" dirty="0"/>
              <a:t> the type of the largest operand, which is called type promotion. </a:t>
            </a:r>
          </a:p>
          <a:p>
            <a:r>
              <a:rPr lang="en-US" dirty="0"/>
              <a:t>This is done operation by operation, as described in the following type conversion rules .</a:t>
            </a:r>
          </a:p>
          <a:p>
            <a:pPr lvl="1"/>
            <a:r>
              <a:rPr lang="en-US" dirty="0"/>
              <a:t>If either operand is of type double, the other is converted to double. </a:t>
            </a:r>
          </a:p>
          <a:p>
            <a:pPr lvl="1"/>
            <a:r>
              <a:rPr lang="en-US" dirty="0"/>
              <a:t>® Otherwise, if either operand is of type float, the other is converted to float </a:t>
            </a:r>
          </a:p>
          <a:p>
            <a:pPr lvl="1"/>
            <a:r>
              <a:rPr lang="en-US" dirty="0"/>
              <a:t>® Otherwise, if either operand 1s of type long, the other is converted to long. </a:t>
            </a:r>
          </a:p>
          <a:p>
            <a:pPr lvl="1"/>
            <a:r>
              <a:rPr lang="en-US" dirty="0"/>
              <a:t>® Otherwise, both operands are converted to type int </a:t>
            </a:r>
          </a:p>
          <a:p>
            <a:endParaRPr lang="en-IN" dirty="0"/>
          </a:p>
        </p:txBody>
      </p:sp>
    </p:spTree>
    <p:extLst>
      <p:ext uri="{BB962C8B-B14F-4D97-AF65-F5344CB8AC3E}">
        <p14:creationId xmlns:p14="http://schemas.microsoft.com/office/powerpoint/2010/main" val="9224163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B575B-0E06-59E3-3721-8B3487978BEE}"/>
              </a:ext>
            </a:extLst>
          </p:cNvPr>
          <p:cNvSpPr>
            <a:spLocks noGrp="1"/>
          </p:cNvSpPr>
          <p:nvPr>
            <p:ph type="title"/>
          </p:nvPr>
        </p:nvSpPr>
        <p:spPr/>
        <p:txBody>
          <a:bodyPr/>
          <a:lstStyle/>
          <a:p>
            <a:r>
              <a:rPr lang="en-IN" dirty="0"/>
              <a:t>(ii) Explicit type conversion </a:t>
            </a:r>
          </a:p>
        </p:txBody>
      </p:sp>
      <p:sp>
        <p:nvSpPr>
          <p:cNvPr id="3" name="Content Placeholder 2">
            <a:extLst>
              <a:ext uri="{FF2B5EF4-FFF2-40B4-BE49-F238E27FC236}">
                <a16:creationId xmlns:a16="http://schemas.microsoft.com/office/drawing/2014/main" id="{D6D270B6-12C3-1EE1-DEB0-C14F701DF062}"/>
              </a:ext>
            </a:extLst>
          </p:cNvPr>
          <p:cNvSpPr>
            <a:spLocks noGrp="1"/>
          </p:cNvSpPr>
          <p:nvPr>
            <p:ph idx="1"/>
          </p:nvPr>
        </p:nvSpPr>
        <p:spPr/>
        <p:txBody>
          <a:bodyPr/>
          <a:lstStyle/>
          <a:p>
            <a:r>
              <a:rPr lang="en-IN" dirty="0"/>
              <a:t>The explicit conversion of an operand to a  specific type is called typecasting.</a:t>
            </a:r>
          </a:p>
          <a:p>
            <a:r>
              <a:rPr lang="en-IN" dirty="0"/>
              <a:t>An explicit type conversion is user-defined that forces an expression to be of specific type.</a:t>
            </a:r>
          </a:p>
          <a:p>
            <a:r>
              <a:rPr lang="en-IN" dirty="0"/>
              <a:t>Type casting in java is done as show below</a:t>
            </a:r>
          </a:p>
          <a:p>
            <a:pPr lvl="1"/>
            <a:r>
              <a:rPr lang="en-IN" dirty="0"/>
              <a:t>(type) expression</a:t>
            </a:r>
          </a:p>
          <a:p>
            <a:r>
              <a:rPr lang="en-IN" dirty="0" err="1"/>
              <a:t>Eg</a:t>
            </a:r>
            <a:endParaRPr lang="en-IN" dirty="0"/>
          </a:p>
          <a:p>
            <a:r>
              <a:rPr lang="en-IN" dirty="0"/>
              <a:t>Y = (float)(</a:t>
            </a:r>
            <a:r>
              <a:rPr lang="en-IN" dirty="0" err="1"/>
              <a:t>x+y</a:t>
            </a:r>
            <a:r>
              <a:rPr lang="en-IN" dirty="0"/>
              <a:t>/2)</a:t>
            </a:r>
          </a:p>
        </p:txBody>
      </p:sp>
    </p:spTree>
    <p:extLst>
      <p:ext uri="{BB962C8B-B14F-4D97-AF65-F5344CB8AC3E}">
        <p14:creationId xmlns:p14="http://schemas.microsoft.com/office/powerpoint/2010/main" val="27764701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56D44-2155-7729-6A2E-8C6CEFD65054}"/>
              </a:ext>
            </a:extLst>
          </p:cNvPr>
          <p:cNvSpPr>
            <a:spLocks noGrp="1"/>
          </p:cNvSpPr>
          <p:nvPr>
            <p:ph type="title"/>
          </p:nvPr>
        </p:nvSpPr>
        <p:spPr/>
        <p:txBody>
          <a:bodyPr/>
          <a:lstStyle/>
          <a:p>
            <a:r>
              <a:rPr lang="en-IN" dirty="0"/>
              <a:t>Flow </a:t>
            </a:r>
            <a:r>
              <a:rPr lang="en-IN"/>
              <a:t>of control</a:t>
            </a:r>
            <a:endParaRPr lang="en-IN" dirty="0"/>
          </a:p>
        </p:txBody>
      </p:sp>
      <p:sp>
        <p:nvSpPr>
          <p:cNvPr id="3" name="Content Placeholder 2">
            <a:extLst>
              <a:ext uri="{FF2B5EF4-FFF2-40B4-BE49-F238E27FC236}">
                <a16:creationId xmlns:a16="http://schemas.microsoft.com/office/drawing/2014/main" id="{B6E32306-A47B-E258-BE69-123A8993805E}"/>
              </a:ext>
            </a:extLst>
          </p:cNvPr>
          <p:cNvSpPr>
            <a:spLocks noGrp="1"/>
          </p:cNvSpPr>
          <p:nvPr>
            <p:ph idx="1"/>
          </p:nvPr>
        </p:nvSpPr>
        <p:spPr/>
        <p:txBody>
          <a:bodyPr>
            <a:normAutofit/>
          </a:bodyPr>
          <a:lstStyle/>
          <a:p>
            <a:r>
              <a:rPr lang="en-US" dirty="0"/>
              <a:t>A programming language uses control statements to control the flow of execution of a program based on certain conditions</a:t>
            </a:r>
          </a:p>
          <a:p>
            <a:r>
              <a:rPr lang="en-US" dirty="0"/>
              <a:t>Java’s Selection statements: </a:t>
            </a:r>
          </a:p>
          <a:p>
            <a:pPr lvl="1"/>
            <a:r>
              <a:rPr lang="en-US" dirty="0"/>
              <a:t>if</a:t>
            </a:r>
          </a:p>
          <a:p>
            <a:pPr lvl="1"/>
            <a:r>
              <a:rPr lang="en-US" dirty="0"/>
              <a:t>if-else</a:t>
            </a:r>
          </a:p>
          <a:p>
            <a:pPr lvl="1"/>
            <a:r>
              <a:rPr lang="en-US" dirty="0"/>
              <a:t>nested-if</a:t>
            </a:r>
          </a:p>
          <a:p>
            <a:pPr lvl="1"/>
            <a:r>
              <a:rPr lang="en-US" dirty="0"/>
              <a:t>if-else-if</a:t>
            </a:r>
          </a:p>
          <a:p>
            <a:pPr lvl="1"/>
            <a:r>
              <a:rPr lang="en-US" dirty="0"/>
              <a:t>switch-case</a:t>
            </a:r>
          </a:p>
          <a:p>
            <a:pPr lvl="1"/>
            <a:r>
              <a:rPr lang="en-US" dirty="0"/>
              <a:t>jump – break, continue, return</a:t>
            </a:r>
            <a:endParaRPr lang="en-IN" dirty="0"/>
          </a:p>
        </p:txBody>
      </p:sp>
    </p:spTree>
    <p:extLst>
      <p:ext uri="{BB962C8B-B14F-4D97-AF65-F5344CB8AC3E}">
        <p14:creationId xmlns:p14="http://schemas.microsoft.com/office/powerpoint/2010/main" val="2800313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700D4-41F7-6B5D-6FB5-8F69B48EB6F1}"/>
              </a:ext>
            </a:extLst>
          </p:cNvPr>
          <p:cNvSpPr>
            <a:spLocks noGrp="1"/>
          </p:cNvSpPr>
          <p:nvPr>
            <p:ph type="title"/>
          </p:nvPr>
        </p:nvSpPr>
        <p:spPr/>
        <p:txBody>
          <a:bodyPr/>
          <a:lstStyle/>
          <a:p>
            <a:r>
              <a:rPr lang="en-IN" dirty="0"/>
              <a:t>if</a:t>
            </a:r>
          </a:p>
        </p:txBody>
      </p:sp>
      <p:sp>
        <p:nvSpPr>
          <p:cNvPr id="3" name="Content Placeholder 2">
            <a:extLst>
              <a:ext uri="{FF2B5EF4-FFF2-40B4-BE49-F238E27FC236}">
                <a16:creationId xmlns:a16="http://schemas.microsoft.com/office/drawing/2014/main" id="{C385AB59-3A06-6E49-3EDC-26FB17DA0A2A}"/>
              </a:ext>
            </a:extLst>
          </p:cNvPr>
          <p:cNvSpPr>
            <a:spLocks noGrp="1"/>
          </p:cNvSpPr>
          <p:nvPr>
            <p:ph idx="1"/>
          </p:nvPr>
        </p:nvSpPr>
        <p:spPr>
          <a:xfrm>
            <a:off x="497305" y="1427747"/>
            <a:ext cx="10856495" cy="4749216"/>
          </a:xfrm>
        </p:spPr>
        <p:txBody>
          <a:bodyPr>
            <a:normAutofit/>
          </a:bodyPr>
          <a:lstStyle/>
          <a:p>
            <a:r>
              <a:rPr lang="en-US" dirty="0"/>
              <a:t> It is used to decide whether a certain statement or block of statements will be executed or not </a:t>
            </a:r>
            <a:r>
              <a:rPr lang="en-US" dirty="0" err="1"/>
              <a:t>i.e</a:t>
            </a:r>
            <a:r>
              <a:rPr lang="en-US" dirty="0"/>
              <a:t> if a certain condition is true then a block of statements is executed otherwise not. </a:t>
            </a:r>
          </a:p>
          <a:p>
            <a:r>
              <a:rPr lang="en-US" dirty="0"/>
              <a:t>Syntax: </a:t>
            </a:r>
          </a:p>
          <a:p>
            <a:endParaRPr lang="en-US" dirty="0"/>
          </a:p>
          <a:p>
            <a:pPr marL="457200" lvl="1" indent="0">
              <a:buNone/>
            </a:pPr>
            <a:r>
              <a:rPr lang="en-US" dirty="0"/>
              <a:t>if(condition) </a:t>
            </a:r>
          </a:p>
          <a:p>
            <a:pPr marL="457200" lvl="1" indent="0">
              <a:buNone/>
            </a:pPr>
            <a:r>
              <a:rPr lang="en-US" dirty="0"/>
              <a:t>{</a:t>
            </a:r>
          </a:p>
          <a:p>
            <a:pPr marL="457200" lvl="1" indent="0">
              <a:buNone/>
            </a:pPr>
            <a:r>
              <a:rPr lang="en-US" dirty="0"/>
              <a:t>   // Statements to execute if</a:t>
            </a:r>
          </a:p>
          <a:p>
            <a:pPr marL="457200" lvl="1" indent="0">
              <a:buNone/>
            </a:pPr>
            <a:r>
              <a:rPr lang="en-US" dirty="0"/>
              <a:t>   // condition is true</a:t>
            </a:r>
          </a:p>
          <a:p>
            <a:pPr marL="457200" lvl="1" indent="0">
              <a:buNone/>
            </a:pPr>
            <a:r>
              <a:rPr lang="en-US" dirty="0"/>
              <a:t>}</a:t>
            </a:r>
            <a:endParaRPr lang="en-IN" dirty="0"/>
          </a:p>
        </p:txBody>
      </p:sp>
      <p:pic>
        <p:nvPicPr>
          <p:cNvPr id="5" name="Picture 4">
            <a:extLst>
              <a:ext uri="{FF2B5EF4-FFF2-40B4-BE49-F238E27FC236}">
                <a16:creationId xmlns:a16="http://schemas.microsoft.com/office/drawing/2014/main" id="{BD49FF12-A31E-3B11-9628-931E21EDBE3B}"/>
              </a:ext>
            </a:extLst>
          </p:cNvPr>
          <p:cNvPicPr>
            <a:picLocks noChangeAspect="1"/>
          </p:cNvPicPr>
          <p:nvPr/>
        </p:nvPicPr>
        <p:blipFill>
          <a:blip r:embed="rId2"/>
          <a:stretch>
            <a:fillRect/>
          </a:stretch>
        </p:blipFill>
        <p:spPr>
          <a:xfrm>
            <a:off x="7696200" y="2733675"/>
            <a:ext cx="3657600" cy="4124325"/>
          </a:xfrm>
          <a:prstGeom prst="rect">
            <a:avLst/>
          </a:prstGeom>
        </p:spPr>
      </p:pic>
    </p:spTree>
    <p:extLst>
      <p:ext uri="{BB962C8B-B14F-4D97-AF65-F5344CB8AC3E}">
        <p14:creationId xmlns:p14="http://schemas.microsoft.com/office/powerpoint/2010/main" val="35126120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B6061-3405-9BB7-38D6-9B1D419226FA}"/>
              </a:ext>
            </a:extLst>
          </p:cNvPr>
          <p:cNvSpPr>
            <a:spLocks noGrp="1"/>
          </p:cNvSpPr>
          <p:nvPr>
            <p:ph type="title"/>
          </p:nvPr>
        </p:nvSpPr>
        <p:spPr/>
        <p:txBody>
          <a:bodyPr/>
          <a:lstStyle/>
          <a:p>
            <a:r>
              <a:rPr lang="en-IN" dirty="0"/>
              <a:t> if-else:</a:t>
            </a:r>
          </a:p>
        </p:txBody>
      </p:sp>
      <p:sp>
        <p:nvSpPr>
          <p:cNvPr id="3" name="Content Placeholder 2">
            <a:extLst>
              <a:ext uri="{FF2B5EF4-FFF2-40B4-BE49-F238E27FC236}">
                <a16:creationId xmlns:a16="http://schemas.microsoft.com/office/drawing/2014/main" id="{C8C0601D-1711-1FD5-A70C-7DA0FB5E758F}"/>
              </a:ext>
            </a:extLst>
          </p:cNvPr>
          <p:cNvSpPr>
            <a:spLocks noGrp="1"/>
          </p:cNvSpPr>
          <p:nvPr>
            <p:ph idx="1"/>
          </p:nvPr>
        </p:nvSpPr>
        <p:spPr/>
        <p:txBody>
          <a:bodyPr>
            <a:normAutofit fontScale="92500" lnSpcReduction="20000"/>
          </a:bodyPr>
          <a:lstStyle/>
          <a:p>
            <a:pPr marL="0" indent="0">
              <a:buNone/>
            </a:pPr>
            <a:r>
              <a:rPr lang="en-US" dirty="0"/>
              <a:t>if (condition)</a:t>
            </a:r>
          </a:p>
          <a:p>
            <a:pPr marL="0" indent="0">
              <a:buNone/>
            </a:pPr>
            <a:r>
              <a:rPr lang="en-US" dirty="0"/>
              <a:t>{</a:t>
            </a:r>
          </a:p>
          <a:p>
            <a:pPr marL="0" indent="0">
              <a:buNone/>
            </a:pPr>
            <a:r>
              <a:rPr lang="en-US" dirty="0"/>
              <a:t>    // Executes this block if</a:t>
            </a:r>
          </a:p>
          <a:p>
            <a:pPr marL="0" indent="0">
              <a:buNone/>
            </a:pPr>
            <a:r>
              <a:rPr lang="en-US" dirty="0"/>
              <a:t>    // condition is true</a:t>
            </a:r>
          </a:p>
          <a:p>
            <a:pPr marL="0" indent="0">
              <a:buNone/>
            </a:pPr>
            <a:r>
              <a:rPr lang="en-US" dirty="0"/>
              <a:t>}</a:t>
            </a:r>
          </a:p>
          <a:p>
            <a:pPr marL="0" indent="0">
              <a:buNone/>
            </a:pPr>
            <a:r>
              <a:rPr lang="en-US" dirty="0"/>
              <a:t>else</a:t>
            </a:r>
          </a:p>
          <a:p>
            <a:pPr marL="0" indent="0">
              <a:buNone/>
            </a:pPr>
            <a:r>
              <a:rPr lang="en-US" dirty="0"/>
              <a:t>{</a:t>
            </a:r>
          </a:p>
          <a:p>
            <a:pPr marL="0" indent="0">
              <a:buNone/>
            </a:pPr>
            <a:r>
              <a:rPr lang="en-US" dirty="0"/>
              <a:t>    // Executes this block if</a:t>
            </a:r>
          </a:p>
          <a:p>
            <a:pPr marL="0" indent="0">
              <a:buNone/>
            </a:pPr>
            <a:r>
              <a:rPr lang="en-US" dirty="0"/>
              <a:t>    // condition is false</a:t>
            </a:r>
          </a:p>
          <a:p>
            <a:pPr marL="0" indent="0">
              <a:buNone/>
            </a:pPr>
            <a:r>
              <a:rPr lang="en-US" dirty="0"/>
              <a:t>}</a:t>
            </a:r>
          </a:p>
          <a:p>
            <a:endParaRPr lang="en-IN" dirty="0"/>
          </a:p>
        </p:txBody>
      </p:sp>
      <p:pic>
        <p:nvPicPr>
          <p:cNvPr id="4" name="Picture 3">
            <a:extLst>
              <a:ext uri="{FF2B5EF4-FFF2-40B4-BE49-F238E27FC236}">
                <a16:creationId xmlns:a16="http://schemas.microsoft.com/office/drawing/2014/main" id="{7BFBE135-B50B-7F25-525A-266BF80399BE}"/>
              </a:ext>
            </a:extLst>
          </p:cNvPr>
          <p:cNvPicPr>
            <a:picLocks noChangeAspect="1"/>
          </p:cNvPicPr>
          <p:nvPr/>
        </p:nvPicPr>
        <p:blipFill>
          <a:blip r:embed="rId2"/>
          <a:stretch>
            <a:fillRect/>
          </a:stretch>
        </p:blipFill>
        <p:spPr>
          <a:xfrm>
            <a:off x="5968916" y="1690688"/>
            <a:ext cx="4200525" cy="4133850"/>
          </a:xfrm>
          <a:prstGeom prst="rect">
            <a:avLst/>
          </a:prstGeom>
        </p:spPr>
      </p:pic>
    </p:spTree>
    <p:extLst>
      <p:ext uri="{BB962C8B-B14F-4D97-AF65-F5344CB8AC3E}">
        <p14:creationId xmlns:p14="http://schemas.microsoft.com/office/powerpoint/2010/main" val="35571138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A54FD8B-945A-0750-57EC-B68BB5A3123B}"/>
              </a:ext>
            </a:extLst>
          </p:cNvPr>
          <p:cNvPicPr>
            <a:picLocks noChangeAspect="1"/>
          </p:cNvPicPr>
          <p:nvPr/>
        </p:nvPicPr>
        <p:blipFill>
          <a:blip r:embed="rId2"/>
          <a:stretch>
            <a:fillRect/>
          </a:stretch>
        </p:blipFill>
        <p:spPr>
          <a:xfrm>
            <a:off x="5562600" y="1690688"/>
            <a:ext cx="6629400" cy="4095750"/>
          </a:xfrm>
          <a:prstGeom prst="rect">
            <a:avLst/>
          </a:prstGeom>
        </p:spPr>
      </p:pic>
      <p:sp>
        <p:nvSpPr>
          <p:cNvPr id="2" name="Title 1">
            <a:extLst>
              <a:ext uri="{FF2B5EF4-FFF2-40B4-BE49-F238E27FC236}">
                <a16:creationId xmlns:a16="http://schemas.microsoft.com/office/drawing/2014/main" id="{977E088F-0267-E758-06F9-BDF91E61E60D}"/>
              </a:ext>
            </a:extLst>
          </p:cNvPr>
          <p:cNvSpPr>
            <a:spLocks noGrp="1"/>
          </p:cNvSpPr>
          <p:nvPr>
            <p:ph type="title"/>
          </p:nvPr>
        </p:nvSpPr>
        <p:spPr/>
        <p:txBody>
          <a:bodyPr/>
          <a:lstStyle/>
          <a:p>
            <a:r>
              <a:rPr lang="en-IN" dirty="0"/>
              <a:t>nested-if</a:t>
            </a:r>
          </a:p>
        </p:txBody>
      </p:sp>
      <p:sp>
        <p:nvSpPr>
          <p:cNvPr id="3" name="Content Placeholder 2">
            <a:extLst>
              <a:ext uri="{FF2B5EF4-FFF2-40B4-BE49-F238E27FC236}">
                <a16:creationId xmlns:a16="http://schemas.microsoft.com/office/drawing/2014/main" id="{3F4E1CE0-80A0-457F-351A-27FDDD6AB2EF}"/>
              </a:ext>
            </a:extLst>
          </p:cNvPr>
          <p:cNvSpPr>
            <a:spLocks noGrp="1"/>
          </p:cNvSpPr>
          <p:nvPr>
            <p:ph idx="1"/>
          </p:nvPr>
        </p:nvSpPr>
        <p:spPr>
          <a:xfrm>
            <a:off x="437148" y="1690688"/>
            <a:ext cx="10515600" cy="4351338"/>
          </a:xfrm>
        </p:spPr>
        <p:txBody>
          <a:bodyPr/>
          <a:lstStyle/>
          <a:p>
            <a:pPr marL="0" indent="0">
              <a:buNone/>
            </a:pPr>
            <a:r>
              <a:rPr lang="en-US" dirty="0"/>
              <a:t>if (condition1) </a:t>
            </a:r>
          </a:p>
          <a:p>
            <a:pPr marL="0" indent="0">
              <a:buNone/>
            </a:pPr>
            <a:r>
              <a:rPr lang="en-US" dirty="0"/>
              <a:t>{</a:t>
            </a:r>
          </a:p>
          <a:p>
            <a:pPr marL="0" indent="0">
              <a:buNone/>
            </a:pPr>
            <a:r>
              <a:rPr lang="en-US" dirty="0"/>
              <a:t>   // Executes when condition1 is true</a:t>
            </a:r>
          </a:p>
          <a:p>
            <a:pPr marL="0" indent="0">
              <a:buNone/>
            </a:pPr>
            <a:r>
              <a:rPr lang="en-US" dirty="0"/>
              <a:t>   if (condition2) </a:t>
            </a:r>
          </a:p>
          <a:p>
            <a:pPr marL="0" indent="0">
              <a:buNone/>
            </a:pPr>
            <a:r>
              <a:rPr lang="en-US" dirty="0"/>
              <a:t>   {</a:t>
            </a:r>
          </a:p>
          <a:p>
            <a:pPr marL="0" indent="0">
              <a:buNone/>
            </a:pPr>
            <a:r>
              <a:rPr lang="en-US" dirty="0"/>
              <a:t>      // Executes when condition2 is true</a:t>
            </a:r>
          </a:p>
          <a:p>
            <a:pPr marL="0" indent="0">
              <a:buNone/>
            </a:pPr>
            <a:r>
              <a:rPr lang="en-US" dirty="0"/>
              <a:t>   }</a:t>
            </a:r>
          </a:p>
          <a:p>
            <a:pPr marL="0" indent="0">
              <a:buNone/>
            </a:pPr>
            <a:r>
              <a:rPr lang="en-US" dirty="0"/>
              <a:t>}</a:t>
            </a:r>
            <a:endParaRPr lang="en-IN" dirty="0"/>
          </a:p>
        </p:txBody>
      </p:sp>
    </p:spTree>
    <p:extLst>
      <p:ext uri="{BB962C8B-B14F-4D97-AF65-F5344CB8AC3E}">
        <p14:creationId xmlns:p14="http://schemas.microsoft.com/office/powerpoint/2010/main" val="9963786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A4DDA-B055-902B-EC1B-DBBC58ABE027}"/>
              </a:ext>
            </a:extLst>
          </p:cNvPr>
          <p:cNvSpPr>
            <a:spLocks noGrp="1"/>
          </p:cNvSpPr>
          <p:nvPr>
            <p:ph type="title"/>
          </p:nvPr>
        </p:nvSpPr>
        <p:spPr/>
        <p:txBody>
          <a:bodyPr/>
          <a:lstStyle/>
          <a:p>
            <a:r>
              <a:rPr lang="en-IN" dirty="0"/>
              <a:t>if-else-if ladder</a:t>
            </a:r>
          </a:p>
        </p:txBody>
      </p:sp>
      <p:sp>
        <p:nvSpPr>
          <p:cNvPr id="3" name="Content Placeholder 2">
            <a:extLst>
              <a:ext uri="{FF2B5EF4-FFF2-40B4-BE49-F238E27FC236}">
                <a16:creationId xmlns:a16="http://schemas.microsoft.com/office/drawing/2014/main" id="{EC27A2A4-8494-EBD4-B1CC-88AE512B13CB}"/>
              </a:ext>
            </a:extLst>
          </p:cNvPr>
          <p:cNvSpPr>
            <a:spLocks noGrp="1"/>
          </p:cNvSpPr>
          <p:nvPr>
            <p:ph idx="1"/>
          </p:nvPr>
        </p:nvSpPr>
        <p:spPr>
          <a:xfrm>
            <a:off x="838200" y="1825625"/>
            <a:ext cx="4519863" cy="4351338"/>
          </a:xfrm>
        </p:spPr>
        <p:txBody>
          <a:bodyPr/>
          <a:lstStyle/>
          <a:p>
            <a:pPr marL="0" indent="0">
              <a:buNone/>
            </a:pPr>
            <a:r>
              <a:rPr lang="en-US" dirty="0"/>
              <a:t>if (condition)</a:t>
            </a:r>
          </a:p>
          <a:p>
            <a:pPr marL="0" indent="0">
              <a:buNone/>
            </a:pPr>
            <a:r>
              <a:rPr lang="en-US" dirty="0"/>
              <a:t>    statement;</a:t>
            </a:r>
          </a:p>
          <a:p>
            <a:pPr marL="0" indent="0">
              <a:buNone/>
            </a:pPr>
            <a:r>
              <a:rPr lang="en-US" dirty="0"/>
              <a:t>else if (condition)</a:t>
            </a:r>
          </a:p>
          <a:p>
            <a:pPr marL="0" indent="0">
              <a:buNone/>
            </a:pPr>
            <a:r>
              <a:rPr lang="en-US" dirty="0"/>
              <a:t>    statement;</a:t>
            </a:r>
          </a:p>
          <a:p>
            <a:pPr marL="0" indent="0">
              <a:buNone/>
            </a:pPr>
            <a:r>
              <a:rPr lang="en-US" dirty="0"/>
              <a:t>.</a:t>
            </a:r>
          </a:p>
          <a:p>
            <a:pPr marL="0" indent="0">
              <a:buNone/>
            </a:pPr>
            <a:r>
              <a:rPr lang="en-US" dirty="0"/>
              <a:t>.</a:t>
            </a:r>
          </a:p>
          <a:p>
            <a:pPr marL="0" indent="0">
              <a:buNone/>
            </a:pPr>
            <a:r>
              <a:rPr lang="en-US" dirty="0"/>
              <a:t>else</a:t>
            </a:r>
          </a:p>
          <a:p>
            <a:pPr marL="0" indent="0">
              <a:buNone/>
            </a:pPr>
            <a:r>
              <a:rPr lang="en-US" dirty="0"/>
              <a:t>    statement;</a:t>
            </a:r>
            <a:endParaRPr lang="en-IN" dirty="0"/>
          </a:p>
        </p:txBody>
      </p:sp>
      <p:pic>
        <p:nvPicPr>
          <p:cNvPr id="4" name="Picture 3">
            <a:extLst>
              <a:ext uri="{FF2B5EF4-FFF2-40B4-BE49-F238E27FC236}">
                <a16:creationId xmlns:a16="http://schemas.microsoft.com/office/drawing/2014/main" id="{A478E247-6F47-5BE5-AC8D-5121C956D12F}"/>
              </a:ext>
            </a:extLst>
          </p:cNvPr>
          <p:cNvPicPr>
            <a:picLocks noChangeAspect="1"/>
          </p:cNvPicPr>
          <p:nvPr/>
        </p:nvPicPr>
        <p:blipFill>
          <a:blip r:embed="rId2"/>
          <a:stretch>
            <a:fillRect/>
          </a:stretch>
        </p:blipFill>
        <p:spPr>
          <a:xfrm>
            <a:off x="5358063" y="1354304"/>
            <a:ext cx="5507455" cy="5012853"/>
          </a:xfrm>
          <a:prstGeom prst="rect">
            <a:avLst/>
          </a:prstGeom>
        </p:spPr>
      </p:pic>
    </p:spTree>
    <p:extLst>
      <p:ext uri="{BB962C8B-B14F-4D97-AF65-F5344CB8AC3E}">
        <p14:creationId xmlns:p14="http://schemas.microsoft.com/office/powerpoint/2010/main" val="17060370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CCF77-7379-5C3C-7D84-4A4280810575}"/>
              </a:ext>
            </a:extLst>
          </p:cNvPr>
          <p:cNvSpPr>
            <a:spLocks noGrp="1"/>
          </p:cNvSpPr>
          <p:nvPr>
            <p:ph type="title"/>
          </p:nvPr>
        </p:nvSpPr>
        <p:spPr/>
        <p:txBody>
          <a:bodyPr/>
          <a:lstStyle/>
          <a:p>
            <a:r>
              <a:rPr lang="en-IN" dirty="0"/>
              <a:t>switch-case</a:t>
            </a:r>
          </a:p>
        </p:txBody>
      </p:sp>
      <p:sp>
        <p:nvSpPr>
          <p:cNvPr id="3" name="Content Placeholder 2">
            <a:extLst>
              <a:ext uri="{FF2B5EF4-FFF2-40B4-BE49-F238E27FC236}">
                <a16:creationId xmlns:a16="http://schemas.microsoft.com/office/drawing/2014/main" id="{7EF84AC7-D4F9-C172-05ED-7E96D6E09CC7}"/>
              </a:ext>
            </a:extLst>
          </p:cNvPr>
          <p:cNvSpPr>
            <a:spLocks noGrp="1"/>
          </p:cNvSpPr>
          <p:nvPr>
            <p:ph idx="1"/>
          </p:nvPr>
        </p:nvSpPr>
        <p:spPr>
          <a:xfrm>
            <a:off x="545432" y="1459832"/>
            <a:ext cx="3898231" cy="5197642"/>
          </a:xfrm>
        </p:spPr>
        <p:txBody>
          <a:bodyPr>
            <a:normAutofit fontScale="62500" lnSpcReduction="20000"/>
          </a:bodyPr>
          <a:lstStyle/>
          <a:p>
            <a:pPr marL="0" indent="0">
              <a:buNone/>
            </a:pPr>
            <a:r>
              <a:rPr lang="en-US" dirty="0"/>
              <a:t>switch (expression)</a:t>
            </a:r>
          </a:p>
          <a:p>
            <a:pPr marL="0" indent="0">
              <a:buNone/>
            </a:pPr>
            <a:r>
              <a:rPr lang="en-US" dirty="0"/>
              <a:t>{</a:t>
            </a:r>
          </a:p>
          <a:p>
            <a:pPr marL="0" indent="0">
              <a:buNone/>
            </a:pPr>
            <a:r>
              <a:rPr lang="en-US" dirty="0"/>
              <a:t>  case value1:</a:t>
            </a:r>
          </a:p>
          <a:p>
            <a:pPr marL="0" indent="0">
              <a:buNone/>
            </a:pPr>
            <a:r>
              <a:rPr lang="en-US" dirty="0"/>
              <a:t>    statement1;</a:t>
            </a:r>
          </a:p>
          <a:p>
            <a:pPr marL="0" indent="0">
              <a:buNone/>
            </a:pPr>
            <a:r>
              <a:rPr lang="en-US" dirty="0"/>
              <a:t>    break;</a:t>
            </a:r>
          </a:p>
          <a:p>
            <a:pPr marL="0" indent="0">
              <a:buNone/>
            </a:pPr>
            <a:r>
              <a:rPr lang="en-US" dirty="0"/>
              <a:t>  case value2:</a:t>
            </a:r>
          </a:p>
          <a:p>
            <a:pPr marL="0" indent="0">
              <a:buNone/>
            </a:pPr>
            <a:r>
              <a:rPr lang="en-US" dirty="0"/>
              <a:t>    statement2;</a:t>
            </a:r>
          </a:p>
          <a:p>
            <a:pPr marL="0" indent="0">
              <a:buNone/>
            </a:pPr>
            <a:r>
              <a:rPr lang="en-US" dirty="0"/>
              <a:t>    break;</a:t>
            </a:r>
          </a:p>
          <a:p>
            <a:pPr marL="0" indent="0">
              <a:buNone/>
            </a:pPr>
            <a:r>
              <a:rPr lang="en-US" dirty="0"/>
              <a:t>  .</a:t>
            </a:r>
          </a:p>
          <a:p>
            <a:pPr marL="0" indent="0">
              <a:buNone/>
            </a:pPr>
            <a:r>
              <a:rPr lang="en-US" dirty="0"/>
              <a:t>  .</a:t>
            </a:r>
          </a:p>
          <a:p>
            <a:pPr marL="0" indent="0">
              <a:buNone/>
            </a:pPr>
            <a:r>
              <a:rPr lang="en-US" dirty="0"/>
              <a:t>  case </a:t>
            </a:r>
            <a:r>
              <a:rPr lang="en-US" dirty="0" err="1"/>
              <a:t>valueN</a:t>
            </a:r>
            <a:r>
              <a:rPr lang="en-US" dirty="0"/>
              <a:t>:</a:t>
            </a:r>
          </a:p>
          <a:p>
            <a:pPr marL="0" indent="0">
              <a:buNone/>
            </a:pPr>
            <a:r>
              <a:rPr lang="en-US" dirty="0"/>
              <a:t>    </a:t>
            </a:r>
            <a:r>
              <a:rPr lang="en-US" dirty="0" err="1"/>
              <a:t>statementN</a:t>
            </a:r>
            <a:r>
              <a:rPr lang="en-US" dirty="0"/>
              <a:t>;</a:t>
            </a:r>
          </a:p>
          <a:p>
            <a:pPr marL="0" indent="0">
              <a:buNone/>
            </a:pPr>
            <a:r>
              <a:rPr lang="en-US" dirty="0"/>
              <a:t>    break;</a:t>
            </a:r>
          </a:p>
          <a:p>
            <a:pPr marL="0" indent="0">
              <a:buNone/>
            </a:pPr>
            <a:r>
              <a:rPr lang="en-US" dirty="0"/>
              <a:t>  default:</a:t>
            </a:r>
          </a:p>
          <a:p>
            <a:pPr marL="0" indent="0">
              <a:buNone/>
            </a:pPr>
            <a:r>
              <a:rPr lang="en-US" dirty="0"/>
              <a:t>    </a:t>
            </a:r>
            <a:r>
              <a:rPr lang="en-US" dirty="0" err="1"/>
              <a:t>statementDefault</a:t>
            </a:r>
            <a:r>
              <a:rPr lang="en-US" dirty="0"/>
              <a:t>;</a:t>
            </a:r>
          </a:p>
          <a:p>
            <a:pPr marL="0" indent="0">
              <a:buNone/>
            </a:pPr>
            <a:r>
              <a:rPr lang="en-US" dirty="0"/>
              <a:t>}</a:t>
            </a:r>
            <a:endParaRPr lang="en-IN" dirty="0"/>
          </a:p>
        </p:txBody>
      </p:sp>
    </p:spTree>
    <p:extLst>
      <p:ext uri="{BB962C8B-B14F-4D97-AF65-F5344CB8AC3E}">
        <p14:creationId xmlns:p14="http://schemas.microsoft.com/office/powerpoint/2010/main" val="15407214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A87D6-01F2-AC54-B81F-8C2542B756C8}"/>
              </a:ext>
            </a:extLst>
          </p:cNvPr>
          <p:cNvSpPr>
            <a:spLocks noGrp="1"/>
          </p:cNvSpPr>
          <p:nvPr>
            <p:ph type="title"/>
          </p:nvPr>
        </p:nvSpPr>
        <p:spPr/>
        <p:txBody>
          <a:bodyPr/>
          <a:lstStyle/>
          <a:p>
            <a:r>
              <a:rPr lang="en-IN" dirty="0"/>
              <a:t>jump</a:t>
            </a:r>
          </a:p>
        </p:txBody>
      </p:sp>
      <p:sp>
        <p:nvSpPr>
          <p:cNvPr id="3" name="Content Placeholder 2">
            <a:extLst>
              <a:ext uri="{FF2B5EF4-FFF2-40B4-BE49-F238E27FC236}">
                <a16:creationId xmlns:a16="http://schemas.microsoft.com/office/drawing/2014/main" id="{CA89EB51-6367-BB15-2B1C-DE0496637A76}"/>
              </a:ext>
            </a:extLst>
          </p:cNvPr>
          <p:cNvSpPr>
            <a:spLocks noGrp="1"/>
          </p:cNvSpPr>
          <p:nvPr>
            <p:ph idx="1"/>
          </p:nvPr>
        </p:nvSpPr>
        <p:spPr/>
        <p:txBody>
          <a:bodyPr/>
          <a:lstStyle/>
          <a:p>
            <a:r>
              <a:rPr lang="en-US" dirty="0"/>
              <a:t>Java supports three jump statements: break, continue and return. These three statements transfer control to another part of the program. </a:t>
            </a:r>
          </a:p>
          <a:p>
            <a:r>
              <a:rPr lang="en-US" dirty="0"/>
              <a:t>Break: In Java, a break is majorly used for: </a:t>
            </a:r>
          </a:p>
          <a:p>
            <a:pPr lvl="1"/>
            <a:r>
              <a:rPr lang="en-US" dirty="0"/>
              <a:t>Terminate a sequence in a switch statement (discussed above).</a:t>
            </a:r>
          </a:p>
          <a:p>
            <a:pPr lvl="1"/>
            <a:r>
              <a:rPr lang="en-US" dirty="0"/>
              <a:t>To exit a loop.</a:t>
            </a:r>
          </a:p>
          <a:p>
            <a:pPr lvl="1"/>
            <a:r>
              <a:rPr lang="en-US" dirty="0"/>
              <a:t>Used as a “civilized” form of </a:t>
            </a:r>
            <a:r>
              <a:rPr lang="en-US" dirty="0" err="1"/>
              <a:t>goto</a:t>
            </a:r>
            <a:r>
              <a:rPr lang="en-US" dirty="0"/>
              <a:t>.</a:t>
            </a:r>
            <a:endParaRPr lang="en-IN" dirty="0"/>
          </a:p>
        </p:txBody>
      </p:sp>
    </p:spTree>
    <p:extLst>
      <p:ext uri="{BB962C8B-B14F-4D97-AF65-F5344CB8AC3E}">
        <p14:creationId xmlns:p14="http://schemas.microsoft.com/office/powerpoint/2010/main" val="13507323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3005A-B6B2-9F1B-2419-488251187C63}"/>
              </a:ext>
            </a:extLst>
          </p:cNvPr>
          <p:cNvSpPr>
            <a:spLocks noGrp="1"/>
          </p:cNvSpPr>
          <p:nvPr>
            <p:ph type="title"/>
          </p:nvPr>
        </p:nvSpPr>
        <p:spPr>
          <a:xfrm>
            <a:off x="0" y="140536"/>
            <a:ext cx="10515600" cy="1325563"/>
          </a:xfrm>
        </p:spPr>
        <p:txBody>
          <a:bodyPr/>
          <a:lstStyle/>
          <a:p>
            <a:r>
              <a:rPr lang="en-IN" dirty="0"/>
              <a:t>Continue:</a:t>
            </a:r>
          </a:p>
        </p:txBody>
      </p:sp>
      <p:pic>
        <p:nvPicPr>
          <p:cNvPr id="4" name="Content Placeholder 3">
            <a:extLst>
              <a:ext uri="{FF2B5EF4-FFF2-40B4-BE49-F238E27FC236}">
                <a16:creationId xmlns:a16="http://schemas.microsoft.com/office/drawing/2014/main" id="{DE04B4B8-1995-4E6C-C244-E4DCD2154212}"/>
              </a:ext>
            </a:extLst>
          </p:cNvPr>
          <p:cNvPicPr>
            <a:picLocks noGrp="1" noChangeAspect="1"/>
          </p:cNvPicPr>
          <p:nvPr>
            <p:ph idx="1"/>
          </p:nvPr>
        </p:nvPicPr>
        <p:blipFill>
          <a:blip r:embed="rId2"/>
          <a:stretch>
            <a:fillRect/>
          </a:stretch>
        </p:blipFill>
        <p:spPr>
          <a:xfrm>
            <a:off x="6283760" y="3085700"/>
            <a:ext cx="5720479" cy="3334222"/>
          </a:xfrm>
          <a:prstGeom prst="rect">
            <a:avLst/>
          </a:prstGeom>
        </p:spPr>
      </p:pic>
      <p:sp>
        <p:nvSpPr>
          <p:cNvPr id="6" name="TextBox 5">
            <a:extLst>
              <a:ext uri="{FF2B5EF4-FFF2-40B4-BE49-F238E27FC236}">
                <a16:creationId xmlns:a16="http://schemas.microsoft.com/office/drawing/2014/main" id="{78B05429-CF73-AC34-60C8-2F24127618D8}"/>
              </a:ext>
            </a:extLst>
          </p:cNvPr>
          <p:cNvSpPr txBox="1"/>
          <p:nvPr/>
        </p:nvSpPr>
        <p:spPr>
          <a:xfrm>
            <a:off x="6283760" y="1134657"/>
            <a:ext cx="6096000" cy="1754326"/>
          </a:xfrm>
          <a:prstGeom prst="rect">
            <a:avLst/>
          </a:prstGeom>
          <a:noFill/>
        </p:spPr>
        <p:txBody>
          <a:bodyPr wrap="square">
            <a:spAutoFit/>
          </a:bodyPr>
          <a:lstStyle/>
          <a:p>
            <a:r>
              <a:rPr lang="en-US" dirty="0" err="1"/>
              <a:t>ometimes</a:t>
            </a:r>
            <a:r>
              <a:rPr lang="en-US" dirty="0"/>
              <a:t> it is useful to force an early iteration of a loop. That is, you might want to continue running the loop but stop processing the remainder of the code in its body for this particular iteration. This is, in effect, a </a:t>
            </a:r>
            <a:r>
              <a:rPr lang="en-US" dirty="0" err="1"/>
              <a:t>goto</a:t>
            </a:r>
            <a:r>
              <a:rPr lang="en-US" dirty="0"/>
              <a:t> just past the body of the loop, to the loop’s end. The continue statement performs such an action</a:t>
            </a:r>
            <a:endParaRPr lang="en-IN" dirty="0"/>
          </a:p>
        </p:txBody>
      </p:sp>
      <p:sp>
        <p:nvSpPr>
          <p:cNvPr id="7" name="Rectangle 2">
            <a:extLst>
              <a:ext uri="{FF2B5EF4-FFF2-40B4-BE49-F238E27FC236}">
                <a16:creationId xmlns:a16="http://schemas.microsoft.com/office/drawing/2014/main" id="{CE7D7A78-6555-3A73-B229-811B70357294}"/>
              </a:ext>
            </a:extLst>
          </p:cNvPr>
          <p:cNvSpPr>
            <a:spLocks noChangeArrowheads="1"/>
          </p:cNvSpPr>
          <p:nvPr/>
        </p:nvSpPr>
        <p:spPr bwMode="auto">
          <a:xfrm>
            <a:off x="245446" y="1331374"/>
            <a:ext cx="12827669"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75715E"/>
                </a:solidFill>
                <a:effectLst/>
                <a:latin typeface="Consolas" panose="020B0609020204030204" pitchFamily="49" charset="0"/>
              </a:rPr>
              <a:t>// Java program to illustrate using</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75715E"/>
                </a:solidFill>
                <a:effectLst/>
                <a:latin typeface="Consolas" panose="020B0609020204030204" pitchFamily="49" charset="0"/>
              </a:rPr>
              <a:t>// continue in an if statement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92672"/>
                </a:solidFill>
                <a:effectLst/>
                <a:latin typeface="Consolas" panose="020B0609020204030204" pitchFamily="49" charset="0"/>
              </a:rPr>
              <a:t>import</a:t>
            </a:r>
            <a:r>
              <a:rPr kumimoji="0" lang="en-US" altLang="en-US" sz="1100" b="0" i="0" u="none" strike="noStrike" cap="none" normalizeH="0" baseline="0" dirty="0">
                <a:ln>
                  <a:noFill/>
                </a:ln>
                <a:solidFill>
                  <a:srgbClr val="FFFFFF"/>
                </a:solidFill>
                <a:effectLst/>
                <a:latin typeface="Consolas" panose="020B0609020204030204" pitchFamily="49" charset="0"/>
              </a:rPr>
              <a:t> </a:t>
            </a:r>
            <a:r>
              <a:rPr kumimoji="0" lang="en-US" altLang="en-US" b="0" i="0" u="none" strike="noStrike" cap="none" normalizeH="0" baseline="0" dirty="0" err="1">
                <a:ln>
                  <a:noFill/>
                </a:ln>
                <a:solidFill>
                  <a:srgbClr val="F8F8F2"/>
                </a:solidFill>
                <a:effectLst/>
                <a:latin typeface="Consolas" panose="020B0609020204030204" pitchFamily="49" charset="0"/>
              </a:rPr>
              <a:t>java.util</a:t>
            </a:r>
            <a:r>
              <a:rPr kumimoji="0" lang="en-US" altLang="en-US" b="0" i="0" u="none" strike="noStrike" cap="none" normalizeH="0" baseline="0" dirty="0">
                <a:ln>
                  <a:noFill/>
                </a:ln>
                <a:solidFill>
                  <a:srgbClr val="F8F8F2"/>
                </a:solidFill>
                <a:effectLst/>
                <a:latin typeface="Consolas" panose="020B0609020204030204" pitchFamily="49"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FFFFFF"/>
                </a:solidFill>
                <a:effectLst/>
                <a:latin typeface="Consolas" panose="020B0609020204030204" pitchFamily="49" charset="0"/>
              </a:rPr>
              <a:t> </a:t>
            </a:r>
            <a:endParaRPr kumimoji="0" lang="en-US" altLang="en-US" sz="3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92672"/>
                </a:solidFill>
                <a:effectLst/>
                <a:latin typeface="Consolas" panose="020B0609020204030204" pitchFamily="49" charset="0"/>
              </a:rPr>
              <a:t>class</a:t>
            </a:r>
            <a:r>
              <a:rPr kumimoji="0" lang="en-US" altLang="en-US" sz="1100" b="0" i="0" u="none" strike="noStrike" cap="none" normalizeH="0" baseline="0" dirty="0">
                <a:ln>
                  <a:noFill/>
                </a:ln>
                <a:solidFill>
                  <a:srgbClr val="FFFFFF"/>
                </a:solidFill>
                <a:effectLst/>
                <a:latin typeface="Consolas" panose="020B0609020204030204" pitchFamily="49" charset="0"/>
              </a:rPr>
              <a:t> </a:t>
            </a:r>
            <a:r>
              <a:rPr kumimoji="0" lang="en-US" altLang="en-US" b="0" i="0" u="none" strike="noStrike" cap="none" normalizeH="0" baseline="0" dirty="0" err="1">
                <a:ln>
                  <a:noFill/>
                </a:ln>
                <a:solidFill>
                  <a:srgbClr val="F8F8F2"/>
                </a:solidFill>
                <a:effectLst/>
                <a:latin typeface="Consolas" panose="020B0609020204030204" pitchFamily="49" charset="0"/>
              </a:rPr>
              <a:t>ContinueDemo</a:t>
            </a:r>
            <a:r>
              <a:rPr kumimoji="0" lang="en-US" altLang="en-US" b="0" i="0" u="none" strike="noStrike" cap="none" normalizeH="0" baseline="0" dirty="0">
                <a:ln>
                  <a:noFill/>
                </a:ln>
                <a:solidFill>
                  <a:srgbClr val="F8F8F2"/>
                </a:solidFill>
                <a:effectLst/>
                <a:latin typeface="Consolas" panose="020B0609020204030204" pitchFamily="49" charset="0"/>
              </a:rPr>
              <a:t> {</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FFFFFF"/>
                </a:solidFill>
                <a:effectLst/>
                <a:latin typeface="Consolas" panose="020B0609020204030204" pitchFamily="49" charset="0"/>
              </a:rPr>
              <a:t>    </a:t>
            </a:r>
            <a:r>
              <a:rPr kumimoji="0" lang="en-US" altLang="en-US" b="1" i="0" u="none" strike="noStrike" cap="none" normalizeH="0" baseline="0" dirty="0">
                <a:ln>
                  <a:noFill/>
                </a:ln>
                <a:solidFill>
                  <a:srgbClr val="F92672"/>
                </a:solidFill>
                <a:effectLst/>
                <a:latin typeface="Consolas" panose="020B0609020204030204" pitchFamily="49" charset="0"/>
              </a:rPr>
              <a:t>public</a:t>
            </a:r>
            <a:r>
              <a:rPr kumimoji="0" lang="en-US" altLang="en-US" sz="1100" b="0" i="0" u="none" strike="noStrike" cap="none" normalizeH="0" baseline="0" dirty="0">
                <a:ln>
                  <a:noFill/>
                </a:ln>
                <a:solidFill>
                  <a:srgbClr val="FFFFFF"/>
                </a:solidFill>
                <a:effectLst/>
                <a:latin typeface="Consolas" panose="020B0609020204030204" pitchFamily="49" charset="0"/>
              </a:rPr>
              <a:t> </a:t>
            </a:r>
            <a:r>
              <a:rPr kumimoji="0" lang="en-US" altLang="en-US" b="1" i="0" u="none" strike="noStrike" cap="none" normalizeH="0" baseline="0" dirty="0">
                <a:ln>
                  <a:noFill/>
                </a:ln>
                <a:solidFill>
                  <a:srgbClr val="F92672"/>
                </a:solidFill>
                <a:effectLst/>
                <a:latin typeface="Consolas" panose="020B0609020204030204" pitchFamily="49" charset="0"/>
              </a:rPr>
              <a:t>static</a:t>
            </a:r>
            <a:r>
              <a:rPr kumimoji="0" lang="en-US" altLang="en-US" sz="1100" b="0" i="0" u="none" strike="noStrike" cap="none" normalizeH="0" baseline="0" dirty="0">
                <a:ln>
                  <a:noFill/>
                </a:ln>
                <a:solidFill>
                  <a:srgbClr val="FFFFFF"/>
                </a:solidFill>
                <a:effectLst/>
                <a:latin typeface="Consolas" panose="020B0609020204030204" pitchFamily="49" charset="0"/>
              </a:rPr>
              <a:t> </a:t>
            </a:r>
            <a:r>
              <a:rPr kumimoji="0" lang="en-US" altLang="en-US" b="1" i="0" u="none" strike="noStrike" cap="none" normalizeH="0" baseline="0" dirty="0">
                <a:ln>
                  <a:noFill/>
                </a:ln>
                <a:solidFill>
                  <a:srgbClr val="F92672"/>
                </a:solidFill>
                <a:effectLst/>
                <a:latin typeface="Consolas" panose="020B0609020204030204" pitchFamily="49" charset="0"/>
              </a:rPr>
              <a:t>void</a:t>
            </a:r>
            <a:r>
              <a:rPr kumimoji="0" lang="en-US" altLang="en-US" sz="1100" b="0" i="0" u="none" strike="noStrike" cap="none" normalizeH="0" baseline="0" dirty="0">
                <a:ln>
                  <a:noFill/>
                </a:ln>
                <a:solidFill>
                  <a:srgbClr val="FFFFFF"/>
                </a:solidFill>
                <a:effectLst/>
                <a:latin typeface="Consolas" panose="020B0609020204030204" pitchFamily="49" charset="0"/>
              </a:rPr>
              <a:t> </a:t>
            </a:r>
            <a:r>
              <a:rPr kumimoji="0" lang="en-US" altLang="en-US" b="0" i="0" u="none" strike="noStrike" cap="none" normalizeH="0" baseline="0" dirty="0">
                <a:ln>
                  <a:noFill/>
                </a:ln>
                <a:solidFill>
                  <a:srgbClr val="F8F8F2"/>
                </a:solidFill>
                <a:effectLst/>
                <a:latin typeface="Consolas" panose="020B0609020204030204" pitchFamily="49" charset="0"/>
              </a:rPr>
              <a:t>main(String </a:t>
            </a:r>
            <a:r>
              <a:rPr kumimoji="0" lang="en-US" altLang="en-US" b="0" i="0" u="none" strike="noStrike" cap="none" normalizeH="0" baseline="0" dirty="0" err="1">
                <a:ln>
                  <a:noFill/>
                </a:ln>
                <a:solidFill>
                  <a:srgbClr val="F8F8F2"/>
                </a:solidFill>
                <a:effectLst/>
                <a:latin typeface="Consolas" panose="020B0609020204030204" pitchFamily="49" charset="0"/>
              </a:rPr>
              <a:t>args</a:t>
            </a:r>
            <a:r>
              <a:rPr kumimoji="0" lang="en-US" altLang="en-US" b="0" i="0" u="none" strike="noStrike" cap="none" normalizeH="0" baseline="0" dirty="0">
                <a:ln>
                  <a:noFill/>
                </a:ln>
                <a:solidFill>
                  <a:srgbClr val="F8F8F2"/>
                </a:solidFill>
                <a:effectLst/>
                <a:latin typeface="Consolas" panose="020B0609020204030204" pitchFamily="49"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FFFFFF"/>
                </a:solidFill>
                <a:effectLst/>
                <a:latin typeface="Consolas" panose="020B0609020204030204" pitchFamily="49" charset="0"/>
              </a:rPr>
              <a:t>    </a:t>
            </a:r>
            <a:r>
              <a:rPr kumimoji="0" lang="en-US" altLang="en-US" b="0" i="0" u="none" strike="noStrike" cap="none" normalizeH="0" baseline="0" dirty="0">
                <a:ln>
                  <a:noFill/>
                </a:ln>
                <a:solidFill>
                  <a:srgbClr val="F8F8F2"/>
                </a:solidFill>
                <a:effectLst/>
                <a:latin typeface="Consolas" panose="020B0609020204030204" pitchFamily="49"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FFFFFF"/>
                </a:solidFill>
                <a:effectLst/>
                <a:latin typeface="Consolas" panose="020B0609020204030204" pitchFamily="49" charset="0"/>
              </a:rPr>
              <a:t>        </a:t>
            </a:r>
            <a:r>
              <a:rPr kumimoji="0" lang="en-US" altLang="en-US" b="1" i="0" u="none" strike="noStrike" cap="none" normalizeH="0" baseline="0" dirty="0">
                <a:ln>
                  <a:noFill/>
                </a:ln>
                <a:solidFill>
                  <a:srgbClr val="F92672"/>
                </a:solidFill>
                <a:effectLst/>
                <a:latin typeface="Consolas" panose="020B0609020204030204" pitchFamily="49" charset="0"/>
              </a:rPr>
              <a:t>for</a:t>
            </a:r>
            <a:r>
              <a:rPr kumimoji="0" lang="en-US" altLang="en-US" sz="1100" b="0" i="0" u="none" strike="noStrike" cap="none" normalizeH="0" baseline="0" dirty="0">
                <a:ln>
                  <a:noFill/>
                </a:ln>
                <a:solidFill>
                  <a:srgbClr val="FFFFFF"/>
                </a:solidFill>
                <a:effectLst/>
                <a:latin typeface="Consolas" panose="020B0609020204030204" pitchFamily="49" charset="0"/>
              </a:rPr>
              <a:t> </a:t>
            </a:r>
            <a:r>
              <a:rPr kumimoji="0" lang="en-US" altLang="en-US" b="0" i="0" u="none" strike="noStrike" cap="none" normalizeH="0" baseline="0" dirty="0">
                <a:ln>
                  <a:noFill/>
                </a:ln>
                <a:solidFill>
                  <a:srgbClr val="F8F8F2"/>
                </a:solidFill>
                <a:effectLst/>
                <a:latin typeface="Consolas" panose="020B0609020204030204" pitchFamily="49" charset="0"/>
              </a:rPr>
              <a:t>(</a:t>
            </a:r>
            <a:r>
              <a:rPr kumimoji="0" lang="en-US" altLang="en-US" b="1" i="0" u="none" strike="noStrike" cap="none" normalizeH="0" baseline="0" dirty="0">
                <a:ln>
                  <a:noFill/>
                </a:ln>
                <a:solidFill>
                  <a:srgbClr val="F92672"/>
                </a:solidFill>
                <a:effectLst/>
                <a:latin typeface="Consolas" panose="020B0609020204030204" pitchFamily="49" charset="0"/>
              </a:rPr>
              <a:t>int</a:t>
            </a:r>
            <a:r>
              <a:rPr kumimoji="0" lang="en-US" altLang="en-US" sz="1100" b="0" i="0" u="none" strike="noStrike" cap="none" normalizeH="0" baseline="0" dirty="0">
                <a:ln>
                  <a:noFill/>
                </a:ln>
                <a:solidFill>
                  <a:srgbClr val="FFFFFF"/>
                </a:solidFill>
                <a:effectLst/>
                <a:latin typeface="Consolas" panose="020B0609020204030204" pitchFamily="49" charset="0"/>
              </a:rPr>
              <a:t> </a:t>
            </a:r>
            <a:r>
              <a:rPr kumimoji="0" lang="en-US" altLang="en-US" b="0" i="0" u="none" strike="noStrike" cap="none" normalizeH="0" baseline="0" dirty="0" err="1">
                <a:ln>
                  <a:noFill/>
                </a:ln>
                <a:solidFill>
                  <a:srgbClr val="F8F8F2"/>
                </a:solidFill>
                <a:effectLst/>
                <a:latin typeface="Consolas" panose="020B0609020204030204" pitchFamily="49" charset="0"/>
              </a:rPr>
              <a:t>i</a:t>
            </a:r>
            <a:r>
              <a:rPr kumimoji="0" lang="en-US" altLang="en-US" b="0" i="0" u="none" strike="noStrike" cap="none" normalizeH="0" baseline="0" dirty="0">
                <a:ln>
                  <a:noFill/>
                </a:ln>
                <a:solidFill>
                  <a:srgbClr val="F8F8F2"/>
                </a:solidFill>
                <a:effectLst/>
                <a:latin typeface="Consolas" panose="020B0609020204030204" pitchFamily="49" charset="0"/>
              </a:rPr>
              <a:t> = </a:t>
            </a:r>
            <a:r>
              <a:rPr kumimoji="0" lang="en-US" altLang="en-US" b="0" i="0" u="none" strike="noStrike" cap="none" normalizeH="0" baseline="0" dirty="0">
                <a:ln>
                  <a:noFill/>
                </a:ln>
                <a:solidFill>
                  <a:srgbClr val="AE81FF"/>
                </a:solidFill>
                <a:effectLst/>
                <a:latin typeface="Consolas" panose="020B0609020204030204" pitchFamily="49" charset="0"/>
              </a:rPr>
              <a:t>0</a:t>
            </a:r>
            <a:r>
              <a:rPr kumimoji="0" lang="en-US" altLang="en-US" b="0" i="0" u="none" strike="noStrike" cap="none" normalizeH="0" baseline="0" dirty="0">
                <a:ln>
                  <a:noFill/>
                </a:ln>
                <a:solidFill>
                  <a:srgbClr val="F8F8F2"/>
                </a:solidFill>
                <a:effectLst/>
                <a:latin typeface="Consolas" panose="020B0609020204030204" pitchFamily="49" charset="0"/>
              </a:rPr>
              <a:t>; </a:t>
            </a:r>
            <a:r>
              <a:rPr kumimoji="0" lang="en-US" altLang="en-US" b="0" i="0" u="none" strike="noStrike" cap="none" normalizeH="0" baseline="0" dirty="0" err="1">
                <a:ln>
                  <a:noFill/>
                </a:ln>
                <a:solidFill>
                  <a:srgbClr val="F8F8F2"/>
                </a:solidFill>
                <a:effectLst/>
                <a:latin typeface="Consolas" panose="020B0609020204030204" pitchFamily="49" charset="0"/>
              </a:rPr>
              <a:t>i</a:t>
            </a:r>
            <a:r>
              <a:rPr kumimoji="0" lang="en-US" altLang="en-US" b="0" i="0" u="none" strike="noStrike" cap="none" normalizeH="0" baseline="0" dirty="0">
                <a:ln>
                  <a:noFill/>
                </a:ln>
                <a:solidFill>
                  <a:srgbClr val="F8F8F2"/>
                </a:solidFill>
                <a:effectLst/>
                <a:latin typeface="Consolas" panose="020B0609020204030204" pitchFamily="49" charset="0"/>
              </a:rPr>
              <a:t> &lt; </a:t>
            </a:r>
            <a:r>
              <a:rPr kumimoji="0" lang="en-US" altLang="en-US" b="0" i="0" u="none" strike="noStrike" cap="none" normalizeH="0" baseline="0" dirty="0">
                <a:ln>
                  <a:noFill/>
                </a:ln>
                <a:solidFill>
                  <a:srgbClr val="AE81FF"/>
                </a:solidFill>
                <a:effectLst/>
                <a:latin typeface="Consolas" panose="020B0609020204030204" pitchFamily="49" charset="0"/>
              </a:rPr>
              <a:t>10</a:t>
            </a:r>
            <a:r>
              <a:rPr kumimoji="0" lang="en-US" altLang="en-US" b="0" i="0" u="none" strike="noStrike" cap="none" normalizeH="0" baseline="0" dirty="0">
                <a:ln>
                  <a:noFill/>
                </a:ln>
                <a:solidFill>
                  <a:srgbClr val="F8F8F2"/>
                </a:solidFill>
                <a:effectLst/>
                <a:latin typeface="Consolas" panose="020B0609020204030204" pitchFamily="49" charset="0"/>
              </a:rPr>
              <a:t>; </a:t>
            </a:r>
            <a:r>
              <a:rPr kumimoji="0" lang="en-US" altLang="en-US" b="0" i="0" u="none" strike="noStrike" cap="none" normalizeH="0" baseline="0" dirty="0" err="1">
                <a:ln>
                  <a:noFill/>
                </a:ln>
                <a:solidFill>
                  <a:srgbClr val="F8F8F2"/>
                </a:solidFill>
                <a:effectLst/>
                <a:latin typeface="Consolas" panose="020B0609020204030204" pitchFamily="49" charset="0"/>
              </a:rPr>
              <a:t>i</a:t>
            </a:r>
            <a:r>
              <a:rPr kumimoji="0" lang="en-US" altLang="en-US" b="0" i="0" u="none" strike="noStrike" cap="none" normalizeH="0" baseline="0" dirty="0">
                <a:ln>
                  <a:noFill/>
                </a:ln>
                <a:solidFill>
                  <a:srgbClr val="F8F8F2"/>
                </a:solidFill>
                <a:effectLst/>
                <a:latin typeface="Consolas" panose="020B0609020204030204" pitchFamily="49" charset="0"/>
              </a:rPr>
              <a:t>++) {</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FFFFFF"/>
                </a:solidFill>
                <a:effectLst/>
                <a:latin typeface="Consolas" panose="020B0609020204030204" pitchFamily="49" charset="0"/>
              </a:rPr>
              <a:t>            </a:t>
            </a:r>
            <a:r>
              <a:rPr kumimoji="0" lang="en-US" altLang="en-US" b="0" i="0" u="none" strike="noStrike" cap="none" normalizeH="0" baseline="0" dirty="0">
                <a:ln>
                  <a:noFill/>
                </a:ln>
                <a:solidFill>
                  <a:srgbClr val="75715E"/>
                </a:solidFill>
                <a:effectLst/>
                <a:latin typeface="Consolas" panose="020B0609020204030204" pitchFamily="49" charset="0"/>
              </a:rPr>
              <a:t>// If the number is even</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FFFFFF"/>
                </a:solidFill>
                <a:effectLst/>
                <a:latin typeface="Consolas" panose="020B0609020204030204" pitchFamily="49" charset="0"/>
              </a:rPr>
              <a:t>            </a:t>
            </a:r>
            <a:r>
              <a:rPr kumimoji="0" lang="en-US" altLang="en-US" b="0" i="0" u="none" strike="noStrike" cap="none" normalizeH="0" baseline="0" dirty="0">
                <a:ln>
                  <a:noFill/>
                </a:ln>
                <a:solidFill>
                  <a:srgbClr val="75715E"/>
                </a:solidFill>
                <a:effectLst/>
                <a:latin typeface="Consolas" panose="020B0609020204030204" pitchFamily="49" charset="0"/>
              </a:rPr>
              <a:t>// skip and continue</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FFFFFF"/>
                </a:solidFill>
                <a:effectLst/>
                <a:latin typeface="Consolas" panose="020B0609020204030204" pitchFamily="49" charset="0"/>
              </a:rPr>
              <a:t>            </a:t>
            </a:r>
            <a:r>
              <a:rPr kumimoji="0" lang="en-US" altLang="en-US" b="1" i="0" u="none" strike="noStrike" cap="none" normalizeH="0" baseline="0" dirty="0">
                <a:ln>
                  <a:noFill/>
                </a:ln>
                <a:solidFill>
                  <a:srgbClr val="F92672"/>
                </a:solidFill>
                <a:effectLst/>
                <a:latin typeface="Consolas" panose="020B0609020204030204" pitchFamily="49" charset="0"/>
              </a:rPr>
              <a:t>if</a:t>
            </a:r>
            <a:r>
              <a:rPr kumimoji="0" lang="en-US" altLang="en-US" sz="1100" b="0" i="0" u="none" strike="noStrike" cap="none" normalizeH="0" baseline="0" dirty="0">
                <a:ln>
                  <a:noFill/>
                </a:ln>
                <a:solidFill>
                  <a:srgbClr val="FFFFFF"/>
                </a:solidFill>
                <a:effectLst/>
                <a:latin typeface="Consolas" panose="020B0609020204030204" pitchFamily="49" charset="0"/>
              </a:rPr>
              <a:t> </a:t>
            </a:r>
            <a:r>
              <a:rPr kumimoji="0" lang="en-US" altLang="en-US" b="0" i="0" u="none" strike="noStrike" cap="none" normalizeH="0" baseline="0" dirty="0">
                <a:ln>
                  <a:noFill/>
                </a:ln>
                <a:solidFill>
                  <a:srgbClr val="F8F8F2"/>
                </a:solidFill>
                <a:effectLst/>
                <a:latin typeface="Consolas" panose="020B0609020204030204" pitchFamily="49" charset="0"/>
              </a:rPr>
              <a:t>(</a:t>
            </a:r>
            <a:r>
              <a:rPr kumimoji="0" lang="en-US" altLang="en-US" b="0" i="0" u="none" strike="noStrike" cap="none" normalizeH="0" baseline="0" dirty="0" err="1">
                <a:ln>
                  <a:noFill/>
                </a:ln>
                <a:solidFill>
                  <a:srgbClr val="F8F8F2"/>
                </a:solidFill>
                <a:effectLst/>
                <a:latin typeface="Consolas" panose="020B0609020204030204" pitchFamily="49" charset="0"/>
              </a:rPr>
              <a:t>i</a:t>
            </a:r>
            <a:r>
              <a:rPr kumimoji="0" lang="en-US" altLang="en-US" b="0" i="0" u="none" strike="noStrike" cap="none" normalizeH="0" baseline="0" dirty="0">
                <a:ln>
                  <a:noFill/>
                </a:ln>
                <a:solidFill>
                  <a:srgbClr val="F8F8F2"/>
                </a:solidFill>
                <a:effectLst/>
                <a:latin typeface="Consolas" panose="020B0609020204030204" pitchFamily="49" charset="0"/>
              </a:rPr>
              <a:t> % </a:t>
            </a:r>
            <a:r>
              <a:rPr kumimoji="0" lang="en-US" altLang="en-US" b="0" i="0" u="none" strike="noStrike" cap="none" normalizeH="0" baseline="0" dirty="0">
                <a:ln>
                  <a:noFill/>
                </a:ln>
                <a:solidFill>
                  <a:srgbClr val="AE81FF"/>
                </a:solidFill>
                <a:effectLst/>
                <a:latin typeface="Consolas" panose="020B0609020204030204" pitchFamily="49" charset="0"/>
              </a:rPr>
              <a:t>2</a:t>
            </a:r>
            <a:r>
              <a:rPr kumimoji="0" lang="en-US" altLang="en-US" sz="1100" b="0" i="0" u="none" strike="noStrike" cap="none" normalizeH="0" baseline="0" dirty="0">
                <a:ln>
                  <a:noFill/>
                </a:ln>
                <a:solidFill>
                  <a:srgbClr val="FFFFFF"/>
                </a:solidFill>
                <a:effectLst/>
                <a:latin typeface="Consolas" panose="020B0609020204030204" pitchFamily="49" charset="0"/>
              </a:rPr>
              <a:t> </a:t>
            </a:r>
            <a:r>
              <a:rPr kumimoji="0" lang="en-US" altLang="en-US" b="0" i="0" u="none" strike="noStrike" cap="none" normalizeH="0" baseline="0" dirty="0">
                <a:ln>
                  <a:noFill/>
                </a:ln>
                <a:solidFill>
                  <a:srgbClr val="F8F8F2"/>
                </a:solidFill>
                <a:effectLst/>
                <a:latin typeface="Consolas" panose="020B0609020204030204" pitchFamily="49" charset="0"/>
              </a:rPr>
              <a:t>== </a:t>
            </a:r>
            <a:r>
              <a:rPr kumimoji="0" lang="en-US" altLang="en-US" b="0" i="0" u="none" strike="noStrike" cap="none" normalizeH="0" baseline="0" dirty="0">
                <a:ln>
                  <a:noFill/>
                </a:ln>
                <a:solidFill>
                  <a:srgbClr val="AE81FF"/>
                </a:solidFill>
                <a:effectLst/>
                <a:latin typeface="Consolas" panose="020B0609020204030204" pitchFamily="49" charset="0"/>
              </a:rPr>
              <a:t>0</a:t>
            </a:r>
            <a:r>
              <a:rPr kumimoji="0" lang="en-US" altLang="en-US" b="0" i="0" u="none" strike="noStrike" cap="none" normalizeH="0" baseline="0" dirty="0">
                <a:ln>
                  <a:noFill/>
                </a:ln>
                <a:solidFill>
                  <a:srgbClr val="F8F8F2"/>
                </a:solidFill>
                <a:effectLst/>
                <a:latin typeface="Consolas" panose="020B0609020204030204" pitchFamily="49"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FFFFFF"/>
                </a:solidFill>
                <a:effectLst/>
                <a:latin typeface="Consolas" panose="020B0609020204030204" pitchFamily="49" charset="0"/>
              </a:rPr>
              <a:t>                </a:t>
            </a:r>
            <a:r>
              <a:rPr kumimoji="0" lang="en-US" altLang="en-US" b="1" i="0" u="none" strike="noStrike" cap="none" normalizeH="0" baseline="0" dirty="0">
                <a:ln>
                  <a:noFill/>
                </a:ln>
                <a:solidFill>
                  <a:srgbClr val="F92672"/>
                </a:solidFill>
                <a:effectLst/>
                <a:latin typeface="Consolas" panose="020B0609020204030204" pitchFamily="49" charset="0"/>
              </a:rPr>
              <a:t>continue</a:t>
            </a:r>
            <a:r>
              <a:rPr kumimoji="0" lang="en-US" altLang="en-US" b="0" i="0" u="none" strike="noStrike" cap="none" normalizeH="0" baseline="0" dirty="0">
                <a:ln>
                  <a:noFill/>
                </a:ln>
                <a:solidFill>
                  <a:srgbClr val="F8F8F2"/>
                </a:solidFill>
                <a:effectLst/>
                <a:latin typeface="Consolas" panose="020B0609020204030204" pitchFamily="49"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FFFFFF"/>
                </a:solidFill>
                <a:effectLst/>
                <a:latin typeface="Consolas" panose="020B0609020204030204" pitchFamily="49" charset="0"/>
              </a:rPr>
              <a:t> </a:t>
            </a:r>
            <a:endParaRPr kumimoji="0" lang="en-US" altLang="en-US" sz="3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FFFFFF"/>
                </a:solidFill>
                <a:effectLst/>
                <a:latin typeface="Consolas" panose="020B0609020204030204" pitchFamily="49" charset="0"/>
              </a:rPr>
              <a:t>            </a:t>
            </a:r>
            <a:r>
              <a:rPr kumimoji="0" lang="en-US" altLang="en-US" b="0" i="0" u="none" strike="noStrike" cap="none" normalizeH="0" baseline="0" dirty="0">
                <a:ln>
                  <a:noFill/>
                </a:ln>
                <a:solidFill>
                  <a:srgbClr val="75715E"/>
                </a:solidFill>
                <a:effectLst/>
                <a:latin typeface="Consolas" panose="020B0609020204030204" pitchFamily="49" charset="0"/>
              </a:rPr>
              <a:t>// If number is odd, print it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FFFFFF"/>
                </a:solidFill>
                <a:effectLst/>
                <a:latin typeface="Consolas" panose="020B0609020204030204" pitchFamily="49" charset="0"/>
              </a:rPr>
              <a:t>            </a:t>
            </a:r>
            <a:r>
              <a:rPr kumimoji="0" lang="en-US" altLang="en-US" b="0" i="0" u="none" strike="noStrike" cap="none" normalizeH="0" baseline="0" dirty="0" err="1">
                <a:ln>
                  <a:noFill/>
                </a:ln>
                <a:solidFill>
                  <a:srgbClr val="F8F8F2"/>
                </a:solidFill>
                <a:effectLst/>
                <a:latin typeface="Consolas" panose="020B0609020204030204" pitchFamily="49" charset="0"/>
              </a:rPr>
              <a:t>System.out.print</a:t>
            </a:r>
            <a:r>
              <a:rPr kumimoji="0" lang="en-US" altLang="en-US" b="0" i="0" u="none" strike="noStrike" cap="none" normalizeH="0" baseline="0" dirty="0">
                <a:ln>
                  <a:noFill/>
                </a:ln>
                <a:solidFill>
                  <a:srgbClr val="F8F8F2"/>
                </a:solidFill>
                <a:effectLst/>
                <a:latin typeface="Consolas" panose="020B0609020204030204" pitchFamily="49" charset="0"/>
              </a:rPr>
              <a:t>(</a:t>
            </a:r>
            <a:r>
              <a:rPr kumimoji="0" lang="en-US" altLang="en-US" b="0" i="0" u="none" strike="noStrike" cap="none" normalizeH="0" baseline="0" dirty="0" err="1">
                <a:ln>
                  <a:noFill/>
                </a:ln>
                <a:solidFill>
                  <a:srgbClr val="F8F8F2"/>
                </a:solidFill>
                <a:effectLst/>
                <a:latin typeface="Consolas" panose="020B0609020204030204" pitchFamily="49" charset="0"/>
              </a:rPr>
              <a:t>i</a:t>
            </a:r>
            <a:r>
              <a:rPr kumimoji="0" lang="en-US" altLang="en-US" b="0" i="0" u="none" strike="noStrike" cap="none" normalizeH="0" baseline="0" dirty="0">
                <a:ln>
                  <a:noFill/>
                </a:ln>
                <a:solidFill>
                  <a:srgbClr val="F8F8F2"/>
                </a:solidFill>
                <a:effectLst/>
                <a:latin typeface="Consolas" panose="020B0609020204030204" pitchFamily="49" charset="0"/>
              </a:rPr>
              <a:t> + </a:t>
            </a:r>
            <a:r>
              <a:rPr kumimoji="0" lang="en-US" altLang="en-US" b="0" i="0" u="none" strike="noStrike" cap="none" normalizeH="0" baseline="0" dirty="0">
                <a:ln>
                  <a:noFill/>
                </a:ln>
                <a:solidFill>
                  <a:srgbClr val="E6DB74"/>
                </a:solidFill>
                <a:effectLst/>
                <a:latin typeface="Consolas" panose="020B0609020204030204" pitchFamily="49" charset="0"/>
              </a:rPr>
              <a:t>" "</a:t>
            </a:r>
            <a:r>
              <a:rPr kumimoji="0" lang="en-US" altLang="en-US" b="0" i="0" u="none" strike="noStrike" cap="none" normalizeH="0" baseline="0" dirty="0">
                <a:ln>
                  <a:noFill/>
                </a:ln>
                <a:solidFill>
                  <a:srgbClr val="F8F8F2"/>
                </a:solidFill>
                <a:effectLst/>
                <a:latin typeface="Consolas" panose="020B0609020204030204" pitchFamily="49"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FFFFFF"/>
                </a:solidFill>
                <a:effectLst/>
                <a:latin typeface="Consolas" panose="020B0609020204030204" pitchFamily="49" charset="0"/>
              </a:rPr>
              <a:t>        </a:t>
            </a:r>
            <a:r>
              <a:rPr kumimoji="0" lang="en-US" altLang="en-US" b="0" i="0" u="none" strike="noStrike" cap="none" normalizeH="0" baseline="0" dirty="0">
                <a:ln>
                  <a:noFill/>
                </a:ln>
                <a:solidFill>
                  <a:srgbClr val="F8F8F2"/>
                </a:solidFill>
                <a:effectLst/>
                <a:latin typeface="Consolas" panose="020B0609020204030204" pitchFamily="49"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FFFFFF"/>
                </a:solidFill>
                <a:effectLst/>
                <a:latin typeface="Consolas" panose="020B0609020204030204" pitchFamily="49" charset="0"/>
              </a:rPr>
              <a:t>    </a:t>
            </a:r>
            <a:r>
              <a:rPr kumimoji="0" lang="en-US" altLang="en-US" b="0" i="0" u="none" strike="noStrike" cap="none" normalizeH="0" baseline="0" dirty="0">
                <a:ln>
                  <a:noFill/>
                </a:ln>
                <a:solidFill>
                  <a:srgbClr val="F8F8F2"/>
                </a:solidFill>
                <a:effectLst/>
                <a:latin typeface="Consolas" panose="020B0609020204030204" pitchFamily="49"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F8F8F2"/>
                </a:solidFill>
                <a:effectLst/>
                <a:latin typeface="Consolas" panose="020B0609020204030204" pitchFamily="49" charset="0"/>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835526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92BB6-242B-81F2-2013-47353CDE8059}"/>
              </a:ext>
            </a:extLst>
          </p:cNvPr>
          <p:cNvSpPr>
            <a:spLocks noGrp="1"/>
          </p:cNvSpPr>
          <p:nvPr>
            <p:ph type="title"/>
          </p:nvPr>
        </p:nvSpPr>
        <p:spPr/>
        <p:txBody>
          <a:bodyPr/>
          <a:lstStyle/>
          <a:p>
            <a:r>
              <a:rPr lang="en-IN" dirty="0"/>
              <a:t>Return:</a:t>
            </a:r>
          </a:p>
        </p:txBody>
      </p:sp>
      <p:sp>
        <p:nvSpPr>
          <p:cNvPr id="3" name="Content Placeholder 2">
            <a:extLst>
              <a:ext uri="{FF2B5EF4-FFF2-40B4-BE49-F238E27FC236}">
                <a16:creationId xmlns:a16="http://schemas.microsoft.com/office/drawing/2014/main" id="{102A0200-45A3-1966-218A-5D6C610A8F9C}"/>
              </a:ext>
            </a:extLst>
          </p:cNvPr>
          <p:cNvSpPr>
            <a:spLocks noGrp="1"/>
          </p:cNvSpPr>
          <p:nvPr>
            <p:ph idx="1"/>
          </p:nvPr>
        </p:nvSpPr>
        <p:spPr>
          <a:xfrm>
            <a:off x="6853989" y="1690688"/>
            <a:ext cx="5113421" cy="4351338"/>
          </a:xfrm>
        </p:spPr>
        <p:txBody>
          <a:bodyPr/>
          <a:lstStyle/>
          <a:p>
            <a:r>
              <a:rPr lang="en-US" dirty="0"/>
              <a:t>The return statement is used to explicitly return from a method. That is, it causes program control to transfer back to the caller of the method.</a:t>
            </a:r>
            <a:endParaRPr lang="en-IN" dirty="0"/>
          </a:p>
        </p:txBody>
      </p:sp>
      <p:sp>
        <p:nvSpPr>
          <p:cNvPr id="4" name="Rectangle 2">
            <a:extLst>
              <a:ext uri="{FF2B5EF4-FFF2-40B4-BE49-F238E27FC236}">
                <a16:creationId xmlns:a16="http://schemas.microsoft.com/office/drawing/2014/main" id="{1CD2701F-DF56-E9FE-D1AF-03445BFC1862}"/>
              </a:ext>
            </a:extLst>
          </p:cNvPr>
          <p:cNvSpPr>
            <a:spLocks noChangeArrowheads="1"/>
          </p:cNvSpPr>
          <p:nvPr/>
        </p:nvSpPr>
        <p:spPr bwMode="auto">
          <a:xfrm>
            <a:off x="689810" y="1869254"/>
            <a:ext cx="5610510" cy="4739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75715E"/>
                </a:solidFill>
                <a:effectLst/>
                <a:latin typeface="Consolas" panose="020B0609020204030204" pitchFamily="49" charset="0"/>
              </a:rPr>
              <a:t>// Java program to illustrate using return</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F92672"/>
                </a:solidFill>
                <a:effectLst/>
                <a:latin typeface="Consolas" panose="020B0609020204030204" pitchFamily="49" charset="0"/>
              </a:rPr>
              <a:t>import</a:t>
            </a:r>
            <a:r>
              <a:rPr kumimoji="0" lang="en-US" altLang="en-US" sz="1050" b="0" i="0" u="none" strike="noStrike" cap="none" normalizeH="0" baseline="0" dirty="0">
                <a:ln>
                  <a:noFill/>
                </a:ln>
                <a:solidFill>
                  <a:srgbClr val="FFFFFF"/>
                </a:solidFill>
                <a:effectLst/>
                <a:latin typeface="Consolas" panose="020B0609020204030204" pitchFamily="49" charset="0"/>
              </a:rPr>
              <a:t> </a:t>
            </a:r>
            <a:r>
              <a:rPr kumimoji="0" lang="en-US" altLang="en-US" sz="1600" b="0" i="0" u="none" strike="noStrike" cap="none" normalizeH="0" baseline="0" dirty="0" err="1">
                <a:ln>
                  <a:noFill/>
                </a:ln>
                <a:solidFill>
                  <a:srgbClr val="F8F8F2"/>
                </a:solidFill>
                <a:effectLst/>
                <a:latin typeface="Consolas" panose="020B0609020204030204" pitchFamily="49" charset="0"/>
              </a:rPr>
              <a:t>java.util</a:t>
            </a:r>
            <a:r>
              <a:rPr kumimoji="0" lang="en-US" altLang="en-US" sz="1600" b="0" i="0" u="none" strike="noStrike" cap="none" normalizeH="0" baseline="0" dirty="0">
                <a:ln>
                  <a:noFill/>
                </a:ln>
                <a:solidFill>
                  <a:srgbClr val="F8F8F2"/>
                </a:solidFill>
                <a:effectLst/>
                <a:latin typeface="Consolas" panose="020B0609020204030204" pitchFamily="49" charset="0"/>
              </a:rPr>
              <a:t>.*;</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FFFFFF"/>
                </a:solidFill>
                <a:effectLst/>
                <a:latin typeface="Consolas" panose="020B0609020204030204" pitchFamily="49" charset="0"/>
              </a:rPr>
              <a:t> </a:t>
            </a: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F92672"/>
                </a:solidFill>
                <a:effectLst/>
                <a:latin typeface="Consolas" panose="020B0609020204030204" pitchFamily="49" charset="0"/>
              </a:rPr>
              <a:t>public</a:t>
            </a:r>
            <a:r>
              <a:rPr kumimoji="0" lang="en-US" altLang="en-US" sz="1050" b="0" i="0" u="none" strike="noStrike" cap="none" normalizeH="0" baseline="0" dirty="0">
                <a:ln>
                  <a:noFill/>
                </a:ln>
                <a:solidFill>
                  <a:srgbClr val="FFFFFF"/>
                </a:solidFill>
                <a:effectLst/>
                <a:latin typeface="Consolas" panose="020B0609020204030204" pitchFamily="49" charset="0"/>
              </a:rPr>
              <a:t> </a:t>
            </a:r>
            <a:r>
              <a:rPr kumimoji="0" lang="en-US" altLang="en-US" sz="1600" b="1" i="0" u="none" strike="noStrike" cap="none" normalizeH="0" baseline="0" dirty="0">
                <a:ln>
                  <a:noFill/>
                </a:ln>
                <a:solidFill>
                  <a:srgbClr val="F92672"/>
                </a:solidFill>
                <a:effectLst/>
                <a:latin typeface="Consolas" panose="020B0609020204030204" pitchFamily="49" charset="0"/>
              </a:rPr>
              <a:t>class</a:t>
            </a:r>
            <a:r>
              <a:rPr kumimoji="0" lang="en-US" altLang="en-US" sz="1050" b="0" i="0" u="none" strike="noStrike" cap="none" normalizeH="0" baseline="0" dirty="0">
                <a:ln>
                  <a:noFill/>
                </a:ln>
                <a:solidFill>
                  <a:srgbClr val="FFFFFF"/>
                </a:solidFill>
                <a:effectLst/>
                <a:latin typeface="Consolas" panose="020B0609020204030204" pitchFamily="49" charset="0"/>
              </a:rPr>
              <a:t> </a:t>
            </a:r>
            <a:r>
              <a:rPr kumimoji="0" lang="en-US" altLang="en-US" sz="1600" b="0" i="0" u="none" strike="noStrike" cap="none" normalizeH="0" baseline="0" dirty="0">
                <a:ln>
                  <a:noFill/>
                </a:ln>
                <a:solidFill>
                  <a:srgbClr val="F8F8F2"/>
                </a:solidFill>
                <a:effectLst/>
                <a:latin typeface="Consolas" panose="020B0609020204030204" pitchFamily="49" charset="0"/>
              </a:rPr>
              <a:t>Return {</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Consolas" panose="020B0609020204030204" pitchFamily="49" charset="0"/>
              </a:rPr>
              <a:t>    </a:t>
            </a:r>
            <a:r>
              <a:rPr kumimoji="0" lang="en-US" altLang="en-US" sz="1600" b="1" i="0" u="none" strike="noStrike" cap="none" normalizeH="0" baseline="0" dirty="0">
                <a:ln>
                  <a:noFill/>
                </a:ln>
                <a:solidFill>
                  <a:srgbClr val="F92672"/>
                </a:solidFill>
                <a:effectLst/>
                <a:latin typeface="Consolas" panose="020B0609020204030204" pitchFamily="49" charset="0"/>
              </a:rPr>
              <a:t>public</a:t>
            </a:r>
            <a:r>
              <a:rPr kumimoji="0" lang="en-US" altLang="en-US" sz="1050" b="0" i="0" u="none" strike="noStrike" cap="none" normalizeH="0" baseline="0" dirty="0">
                <a:ln>
                  <a:noFill/>
                </a:ln>
                <a:solidFill>
                  <a:srgbClr val="FFFFFF"/>
                </a:solidFill>
                <a:effectLst/>
                <a:latin typeface="Consolas" panose="020B0609020204030204" pitchFamily="49" charset="0"/>
              </a:rPr>
              <a:t> </a:t>
            </a:r>
            <a:r>
              <a:rPr kumimoji="0" lang="en-US" altLang="en-US" sz="1600" b="1" i="0" u="none" strike="noStrike" cap="none" normalizeH="0" baseline="0" dirty="0">
                <a:ln>
                  <a:noFill/>
                </a:ln>
                <a:solidFill>
                  <a:srgbClr val="F92672"/>
                </a:solidFill>
                <a:effectLst/>
                <a:latin typeface="Consolas" panose="020B0609020204030204" pitchFamily="49" charset="0"/>
              </a:rPr>
              <a:t>static</a:t>
            </a:r>
            <a:r>
              <a:rPr kumimoji="0" lang="en-US" altLang="en-US" sz="1050" b="0" i="0" u="none" strike="noStrike" cap="none" normalizeH="0" baseline="0" dirty="0">
                <a:ln>
                  <a:noFill/>
                </a:ln>
                <a:solidFill>
                  <a:srgbClr val="FFFFFF"/>
                </a:solidFill>
                <a:effectLst/>
                <a:latin typeface="Consolas" panose="020B0609020204030204" pitchFamily="49" charset="0"/>
              </a:rPr>
              <a:t> </a:t>
            </a:r>
            <a:r>
              <a:rPr kumimoji="0" lang="en-US" altLang="en-US" sz="1600" b="1" i="0" u="none" strike="noStrike" cap="none" normalizeH="0" baseline="0" dirty="0">
                <a:ln>
                  <a:noFill/>
                </a:ln>
                <a:solidFill>
                  <a:srgbClr val="F92672"/>
                </a:solidFill>
                <a:effectLst/>
                <a:latin typeface="Consolas" panose="020B0609020204030204" pitchFamily="49" charset="0"/>
              </a:rPr>
              <a:t>void</a:t>
            </a:r>
            <a:r>
              <a:rPr kumimoji="0" lang="en-US" altLang="en-US" sz="1050" b="0" i="0" u="none" strike="noStrike" cap="none" normalizeH="0" baseline="0" dirty="0">
                <a:ln>
                  <a:noFill/>
                </a:ln>
                <a:solidFill>
                  <a:srgbClr val="FFFFFF"/>
                </a:solidFill>
                <a:effectLst/>
                <a:latin typeface="Consolas" panose="020B0609020204030204" pitchFamily="49" charset="0"/>
              </a:rPr>
              <a:t> </a:t>
            </a:r>
            <a:r>
              <a:rPr kumimoji="0" lang="en-US" altLang="en-US" sz="1600" b="0" i="0" u="none" strike="noStrike" cap="none" normalizeH="0" baseline="0" dirty="0">
                <a:ln>
                  <a:noFill/>
                </a:ln>
                <a:solidFill>
                  <a:srgbClr val="F8F8F2"/>
                </a:solidFill>
                <a:effectLst/>
                <a:latin typeface="Consolas" panose="020B0609020204030204" pitchFamily="49" charset="0"/>
              </a:rPr>
              <a:t>main(String </a:t>
            </a:r>
            <a:r>
              <a:rPr kumimoji="0" lang="en-US" altLang="en-US" sz="1600" b="0" i="0" u="none" strike="noStrike" cap="none" normalizeH="0" baseline="0" dirty="0" err="1">
                <a:ln>
                  <a:noFill/>
                </a:ln>
                <a:solidFill>
                  <a:srgbClr val="F8F8F2"/>
                </a:solidFill>
                <a:effectLst/>
                <a:latin typeface="Consolas" panose="020B0609020204030204" pitchFamily="49" charset="0"/>
              </a:rPr>
              <a:t>args</a:t>
            </a:r>
            <a:r>
              <a:rPr kumimoji="0" lang="en-US" altLang="en-US" sz="1600" b="0" i="0" u="none" strike="noStrike" cap="none" normalizeH="0" baseline="0" dirty="0">
                <a:ln>
                  <a:noFill/>
                </a:ln>
                <a:solidFill>
                  <a:srgbClr val="F8F8F2"/>
                </a:solidFill>
                <a:effectLst/>
                <a:latin typeface="Consolas" panose="020B0609020204030204" pitchFamily="49" charset="0"/>
              </a:rPr>
              <a:t>[])</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Consolas" panose="020B0609020204030204" pitchFamily="49" charset="0"/>
              </a:rPr>
              <a:t>    </a:t>
            </a:r>
            <a:r>
              <a:rPr kumimoji="0" lang="en-US" altLang="en-US" sz="1600" b="0" i="0" u="none" strike="noStrike" cap="none" normalizeH="0" baseline="0" dirty="0">
                <a:ln>
                  <a:noFill/>
                </a:ln>
                <a:solidFill>
                  <a:srgbClr val="F8F8F2"/>
                </a:solidFill>
                <a:effectLst/>
                <a:latin typeface="Consolas" panose="020B0609020204030204" pitchFamily="49" charset="0"/>
              </a:rPr>
              <a:t>{</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Consolas" panose="020B0609020204030204" pitchFamily="49" charset="0"/>
              </a:rPr>
              <a:t>        </a:t>
            </a:r>
            <a:r>
              <a:rPr kumimoji="0" lang="en-US" altLang="en-US" sz="1600" b="1" i="0" u="none" strike="noStrike" cap="none" normalizeH="0" baseline="0" dirty="0" err="1">
                <a:ln>
                  <a:noFill/>
                </a:ln>
                <a:solidFill>
                  <a:srgbClr val="F92672"/>
                </a:solidFill>
                <a:effectLst/>
                <a:latin typeface="Consolas" panose="020B0609020204030204" pitchFamily="49" charset="0"/>
              </a:rPr>
              <a:t>boolean</a:t>
            </a:r>
            <a:r>
              <a:rPr kumimoji="0" lang="en-US" altLang="en-US" sz="1050" b="0" i="0" u="none" strike="noStrike" cap="none" normalizeH="0" baseline="0" dirty="0">
                <a:ln>
                  <a:noFill/>
                </a:ln>
                <a:solidFill>
                  <a:srgbClr val="FFFFFF"/>
                </a:solidFill>
                <a:effectLst/>
                <a:latin typeface="Consolas" panose="020B0609020204030204" pitchFamily="49" charset="0"/>
              </a:rPr>
              <a:t> </a:t>
            </a:r>
            <a:r>
              <a:rPr kumimoji="0" lang="en-US" altLang="en-US" sz="1600" b="0" i="0" u="none" strike="noStrike" cap="none" normalizeH="0" baseline="0" dirty="0">
                <a:ln>
                  <a:noFill/>
                </a:ln>
                <a:solidFill>
                  <a:srgbClr val="F8F8F2"/>
                </a:solidFill>
                <a:effectLst/>
                <a:latin typeface="Consolas" panose="020B0609020204030204" pitchFamily="49" charset="0"/>
              </a:rPr>
              <a:t>t = </a:t>
            </a:r>
            <a:r>
              <a:rPr kumimoji="0" lang="en-US" altLang="en-US" sz="1600" b="1" i="0" u="none" strike="noStrike" cap="none" normalizeH="0" baseline="0" dirty="0">
                <a:ln>
                  <a:noFill/>
                </a:ln>
                <a:solidFill>
                  <a:srgbClr val="F92672"/>
                </a:solidFill>
                <a:effectLst/>
                <a:latin typeface="Consolas" panose="020B0609020204030204" pitchFamily="49" charset="0"/>
              </a:rPr>
              <a:t>true</a:t>
            </a:r>
            <a:r>
              <a:rPr kumimoji="0" lang="en-US" altLang="en-US" sz="1600" b="0" i="0" u="none" strike="noStrike" cap="none" normalizeH="0" baseline="0" dirty="0">
                <a:ln>
                  <a:noFill/>
                </a:ln>
                <a:solidFill>
                  <a:srgbClr val="F8F8F2"/>
                </a:solidFill>
                <a:effectLst/>
                <a:latin typeface="Consolas" panose="020B0609020204030204" pitchFamily="49" charset="0"/>
              </a:rPr>
              <a:t>;</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Consolas" panose="020B0609020204030204" pitchFamily="49" charset="0"/>
              </a:rPr>
              <a:t>        </a:t>
            </a:r>
            <a:r>
              <a:rPr kumimoji="0" lang="en-US" altLang="en-US" sz="1600" b="0" i="0" u="none" strike="noStrike" cap="none" normalizeH="0" baseline="0" dirty="0" err="1">
                <a:ln>
                  <a:noFill/>
                </a:ln>
                <a:solidFill>
                  <a:srgbClr val="F8F8F2"/>
                </a:solidFill>
                <a:effectLst/>
                <a:latin typeface="Consolas" panose="020B0609020204030204" pitchFamily="49" charset="0"/>
              </a:rPr>
              <a:t>System.out.println</a:t>
            </a:r>
            <a:r>
              <a:rPr kumimoji="0" lang="en-US" altLang="en-US" sz="1600" b="0" i="0" u="none" strike="noStrike" cap="none" normalizeH="0" baseline="0" dirty="0">
                <a:ln>
                  <a:noFill/>
                </a:ln>
                <a:solidFill>
                  <a:srgbClr val="F8F8F2"/>
                </a:solidFill>
                <a:effectLst/>
                <a:latin typeface="Consolas" panose="020B0609020204030204" pitchFamily="49" charset="0"/>
              </a:rPr>
              <a:t>(</a:t>
            </a:r>
            <a:r>
              <a:rPr kumimoji="0" lang="en-US" altLang="en-US" sz="1600" b="0" i="0" u="none" strike="noStrike" cap="none" normalizeH="0" baseline="0" dirty="0">
                <a:ln>
                  <a:noFill/>
                </a:ln>
                <a:solidFill>
                  <a:srgbClr val="E6DB74"/>
                </a:solidFill>
                <a:effectLst/>
                <a:latin typeface="Consolas" panose="020B0609020204030204" pitchFamily="49" charset="0"/>
              </a:rPr>
              <a:t>"Before the return."</a:t>
            </a:r>
            <a:r>
              <a:rPr kumimoji="0" lang="en-US" altLang="en-US" sz="1600" b="0" i="0" u="none" strike="noStrike" cap="none" normalizeH="0" baseline="0" dirty="0">
                <a:ln>
                  <a:noFill/>
                </a:ln>
                <a:solidFill>
                  <a:srgbClr val="F8F8F2"/>
                </a:solidFill>
                <a:effectLst/>
                <a:latin typeface="Consolas" panose="020B0609020204030204" pitchFamily="49" charset="0"/>
              </a:rPr>
              <a:t>);</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FFFFFF"/>
                </a:solidFill>
                <a:effectLst/>
                <a:latin typeface="Consolas" panose="020B0609020204030204" pitchFamily="49" charset="0"/>
              </a:rPr>
              <a:t> </a:t>
            </a: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Consolas" panose="020B0609020204030204" pitchFamily="49" charset="0"/>
              </a:rPr>
              <a:t>        </a:t>
            </a:r>
            <a:r>
              <a:rPr kumimoji="0" lang="en-US" altLang="en-US" sz="1600" b="1" i="0" u="none" strike="noStrike" cap="none" normalizeH="0" baseline="0" dirty="0">
                <a:ln>
                  <a:noFill/>
                </a:ln>
                <a:solidFill>
                  <a:srgbClr val="F92672"/>
                </a:solidFill>
                <a:effectLst/>
                <a:latin typeface="Consolas" panose="020B0609020204030204" pitchFamily="49" charset="0"/>
              </a:rPr>
              <a:t>if</a:t>
            </a:r>
            <a:r>
              <a:rPr kumimoji="0" lang="en-US" altLang="en-US" sz="1050" b="0" i="0" u="none" strike="noStrike" cap="none" normalizeH="0" baseline="0" dirty="0">
                <a:ln>
                  <a:noFill/>
                </a:ln>
                <a:solidFill>
                  <a:srgbClr val="FFFFFF"/>
                </a:solidFill>
                <a:effectLst/>
                <a:latin typeface="Consolas" panose="020B0609020204030204" pitchFamily="49" charset="0"/>
              </a:rPr>
              <a:t> </a:t>
            </a:r>
            <a:r>
              <a:rPr kumimoji="0" lang="en-US" altLang="en-US" sz="1600" b="0" i="0" u="none" strike="noStrike" cap="none" normalizeH="0" baseline="0" dirty="0">
                <a:ln>
                  <a:noFill/>
                </a:ln>
                <a:solidFill>
                  <a:srgbClr val="F8F8F2"/>
                </a:solidFill>
                <a:effectLst/>
                <a:latin typeface="Consolas" panose="020B0609020204030204" pitchFamily="49" charset="0"/>
              </a:rPr>
              <a:t>(t)</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Consolas" panose="020B0609020204030204" pitchFamily="49" charset="0"/>
              </a:rPr>
              <a:t>            </a:t>
            </a:r>
            <a:r>
              <a:rPr kumimoji="0" lang="en-US" altLang="en-US" sz="1600" b="1" i="0" u="none" strike="noStrike" cap="none" normalizeH="0" baseline="0" dirty="0">
                <a:ln>
                  <a:noFill/>
                </a:ln>
                <a:solidFill>
                  <a:srgbClr val="F92672"/>
                </a:solidFill>
                <a:effectLst/>
                <a:latin typeface="Consolas" panose="020B0609020204030204" pitchFamily="49" charset="0"/>
              </a:rPr>
              <a:t>return</a:t>
            </a:r>
            <a:r>
              <a:rPr kumimoji="0" lang="en-US" altLang="en-US" sz="1600" b="0" i="0" u="none" strike="noStrike" cap="none" normalizeH="0" baseline="0" dirty="0">
                <a:ln>
                  <a:noFill/>
                </a:ln>
                <a:solidFill>
                  <a:srgbClr val="F8F8F2"/>
                </a:solidFill>
                <a:effectLst/>
                <a:latin typeface="Consolas" panose="020B0609020204030204" pitchFamily="49" charset="0"/>
              </a:rPr>
              <a:t>;</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FFFFFF"/>
                </a:solidFill>
                <a:effectLst/>
                <a:latin typeface="Consolas" panose="020B0609020204030204" pitchFamily="49" charset="0"/>
              </a:rPr>
              <a:t> </a:t>
            </a:r>
            <a:endParaRPr kumimoji="0" lang="en-US" altLang="en-US" sz="2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Consolas" panose="020B0609020204030204" pitchFamily="49" charset="0"/>
              </a:rPr>
              <a:t>        </a:t>
            </a:r>
            <a:r>
              <a:rPr kumimoji="0" lang="en-US" altLang="en-US" sz="1600" b="0" i="0" u="none" strike="noStrike" cap="none" normalizeH="0" baseline="0" dirty="0">
                <a:ln>
                  <a:noFill/>
                </a:ln>
                <a:solidFill>
                  <a:srgbClr val="75715E"/>
                </a:solidFill>
                <a:effectLst/>
                <a:latin typeface="Consolas" panose="020B0609020204030204" pitchFamily="49" charset="0"/>
              </a:rPr>
              <a:t>// Compiler will bypass every statement</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Consolas" panose="020B0609020204030204" pitchFamily="49" charset="0"/>
              </a:rPr>
              <a:t>        </a:t>
            </a:r>
            <a:r>
              <a:rPr kumimoji="0" lang="en-US" altLang="en-US" sz="1600" b="0" i="0" u="none" strike="noStrike" cap="none" normalizeH="0" baseline="0" dirty="0">
                <a:ln>
                  <a:noFill/>
                </a:ln>
                <a:solidFill>
                  <a:srgbClr val="75715E"/>
                </a:solidFill>
                <a:effectLst/>
                <a:latin typeface="Consolas" panose="020B0609020204030204" pitchFamily="49" charset="0"/>
              </a:rPr>
              <a:t>// after return</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Consolas" panose="020B0609020204030204" pitchFamily="49" charset="0"/>
              </a:rPr>
              <a:t>        </a:t>
            </a:r>
            <a:r>
              <a:rPr kumimoji="0" lang="en-US" altLang="en-US" sz="1600" b="0" i="0" u="none" strike="noStrike" cap="none" normalizeH="0" baseline="0" dirty="0" err="1">
                <a:ln>
                  <a:noFill/>
                </a:ln>
                <a:solidFill>
                  <a:srgbClr val="F8F8F2"/>
                </a:solidFill>
                <a:effectLst/>
                <a:latin typeface="Consolas" panose="020B0609020204030204" pitchFamily="49" charset="0"/>
              </a:rPr>
              <a:t>System.out.println</a:t>
            </a:r>
            <a:r>
              <a:rPr kumimoji="0" lang="en-US" altLang="en-US" sz="1600" b="0" i="0" u="none" strike="noStrike" cap="none" normalizeH="0" baseline="0" dirty="0">
                <a:ln>
                  <a:noFill/>
                </a:ln>
                <a:solidFill>
                  <a:srgbClr val="F8F8F2"/>
                </a:solidFill>
                <a:effectLst/>
                <a:latin typeface="Consolas" panose="020B0609020204030204" pitchFamily="49" charset="0"/>
              </a:rPr>
              <a:t>(</a:t>
            </a:r>
            <a:r>
              <a:rPr kumimoji="0" lang="en-US" altLang="en-US" sz="1600" b="0" i="0" u="none" strike="noStrike" cap="none" normalizeH="0" baseline="0" dirty="0">
                <a:ln>
                  <a:noFill/>
                </a:ln>
                <a:solidFill>
                  <a:srgbClr val="E6DB74"/>
                </a:solidFill>
                <a:effectLst/>
                <a:latin typeface="Consolas" panose="020B0609020204030204" pitchFamily="49" charset="0"/>
              </a:rPr>
              <a:t>"This won't execute."</a:t>
            </a:r>
            <a:r>
              <a:rPr kumimoji="0" lang="en-US" altLang="en-US" sz="1600" b="0" i="0" u="none" strike="noStrike" cap="none" normalizeH="0" baseline="0" dirty="0">
                <a:ln>
                  <a:noFill/>
                </a:ln>
                <a:solidFill>
                  <a:srgbClr val="F8F8F2"/>
                </a:solidFill>
                <a:effectLst/>
                <a:latin typeface="Consolas" panose="020B0609020204030204" pitchFamily="49" charset="0"/>
              </a:rPr>
              <a:t>);</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Consolas" panose="020B0609020204030204" pitchFamily="49" charset="0"/>
              </a:rPr>
              <a:t>    </a:t>
            </a:r>
            <a:r>
              <a:rPr kumimoji="0" lang="en-US" altLang="en-US" sz="1600" b="0" i="0" u="none" strike="noStrike" cap="none" normalizeH="0" baseline="0" dirty="0">
                <a:ln>
                  <a:noFill/>
                </a:ln>
                <a:solidFill>
                  <a:srgbClr val="F8F8F2"/>
                </a:solidFill>
                <a:effectLst/>
                <a:latin typeface="Consolas" panose="020B0609020204030204" pitchFamily="49" charset="0"/>
              </a:rPr>
              <a:t>}</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8F8F2"/>
                </a:solidFill>
                <a:effectLst/>
                <a:latin typeface="Consolas" panose="020B0609020204030204" pitchFamily="49" charset="0"/>
              </a:rPr>
              <a:t>}</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752995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5BF126C-96D9-7439-1D88-B2E449678F3D}"/>
              </a:ext>
            </a:extLst>
          </p:cNvPr>
          <p:cNvPicPr>
            <a:picLocks noChangeAspect="1"/>
          </p:cNvPicPr>
          <p:nvPr/>
        </p:nvPicPr>
        <p:blipFill>
          <a:blip r:embed="rId2"/>
          <a:stretch>
            <a:fillRect/>
          </a:stretch>
        </p:blipFill>
        <p:spPr>
          <a:xfrm>
            <a:off x="4788568" y="3333750"/>
            <a:ext cx="7620000" cy="3524250"/>
          </a:xfrm>
          <a:prstGeom prst="rect">
            <a:avLst/>
          </a:prstGeom>
        </p:spPr>
      </p:pic>
      <p:sp>
        <p:nvSpPr>
          <p:cNvPr id="2" name="Title 1">
            <a:extLst>
              <a:ext uri="{FF2B5EF4-FFF2-40B4-BE49-F238E27FC236}">
                <a16:creationId xmlns:a16="http://schemas.microsoft.com/office/drawing/2014/main" id="{7887945D-5672-75F9-F7EC-56D52E8831CA}"/>
              </a:ext>
            </a:extLst>
          </p:cNvPr>
          <p:cNvSpPr>
            <a:spLocks noGrp="1"/>
          </p:cNvSpPr>
          <p:nvPr>
            <p:ph type="title"/>
          </p:nvPr>
        </p:nvSpPr>
        <p:spPr/>
        <p:txBody>
          <a:bodyPr/>
          <a:lstStyle/>
          <a:p>
            <a:r>
              <a:rPr lang="en-IN" dirty="0"/>
              <a:t>while loop:</a:t>
            </a:r>
          </a:p>
        </p:txBody>
      </p:sp>
      <p:sp>
        <p:nvSpPr>
          <p:cNvPr id="3" name="Content Placeholder 2">
            <a:extLst>
              <a:ext uri="{FF2B5EF4-FFF2-40B4-BE49-F238E27FC236}">
                <a16:creationId xmlns:a16="http://schemas.microsoft.com/office/drawing/2014/main" id="{06CD7119-A9DE-B3E0-9118-3F3638E08A96}"/>
              </a:ext>
            </a:extLst>
          </p:cNvPr>
          <p:cNvSpPr>
            <a:spLocks noGrp="1"/>
          </p:cNvSpPr>
          <p:nvPr>
            <p:ph idx="1"/>
          </p:nvPr>
        </p:nvSpPr>
        <p:spPr/>
        <p:txBody>
          <a:bodyPr/>
          <a:lstStyle/>
          <a:p>
            <a:r>
              <a:rPr lang="en-US" dirty="0"/>
              <a:t>A while loop is a control flow statement that allows code to be executed repeatedly based on a given Boolean condition. The while loop can be thought of as a repeating if statement. </a:t>
            </a:r>
            <a:endParaRPr lang="en-IN" dirty="0"/>
          </a:p>
        </p:txBody>
      </p:sp>
      <p:sp>
        <p:nvSpPr>
          <p:cNvPr id="4" name="Rectangle 1">
            <a:extLst>
              <a:ext uri="{FF2B5EF4-FFF2-40B4-BE49-F238E27FC236}">
                <a16:creationId xmlns:a16="http://schemas.microsoft.com/office/drawing/2014/main" id="{3BFF44B9-E416-F2CF-8C00-A19B139E9EE4}"/>
              </a:ext>
            </a:extLst>
          </p:cNvPr>
          <p:cNvSpPr>
            <a:spLocks noChangeArrowheads="1"/>
          </p:cNvSpPr>
          <p:nvPr/>
        </p:nvSpPr>
        <p:spPr bwMode="auto">
          <a:xfrm>
            <a:off x="693821" y="3429000"/>
            <a:ext cx="6801542" cy="679653"/>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FF0000"/>
                </a:solidFill>
                <a:effectLst/>
                <a:latin typeface="Nunito" pitchFamily="2" charset="0"/>
              </a:rPr>
              <a:t>Syntax </a:t>
            </a:r>
            <a:r>
              <a:rPr kumimoji="0" lang="en-US" altLang="en-US" sz="2000" b="1" i="0" u="none" strike="noStrike" cap="none" normalizeH="0" baseline="0" dirty="0">
                <a:ln>
                  <a:noFill/>
                </a:ln>
                <a:solidFill>
                  <a:srgbClr val="FFFFFF"/>
                </a:solidFill>
                <a:effectLst/>
                <a:latin typeface="Nunito" pitchFamily="2" charset="0"/>
              </a:rPr>
              <a:t>:</a:t>
            </a:r>
            <a:endParaRPr kumimoji="0" lang="en-US" altLang="en-US" sz="2000" b="0" i="0" u="none" strike="noStrike" cap="none" normalizeH="0" baseline="0" dirty="0">
              <a:ln>
                <a:noFill/>
              </a:ln>
              <a:solidFill>
                <a:schemeClr val="tx1"/>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onsolas" panose="020B0609020204030204" pitchFamily="49" charset="0"/>
              </a:rPr>
              <a:t>while (</a:t>
            </a:r>
            <a:r>
              <a:rPr kumimoji="0" lang="en-US" altLang="en-US" sz="2000" b="0" i="0" u="none" strike="noStrike" cap="none" normalizeH="0" baseline="0" dirty="0" err="1">
                <a:ln>
                  <a:noFill/>
                </a:ln>
                <a:solidFill>
                  <a:schemeClr val="tx1"/>
                </a:solidFill>
                <a:effectLst/>
                <a:latin typeface="Consolas" panose="020B0609020204030204" pitchFamily="49" charset="0"/>
              </a:rPr>
              <a:t>boolean</a:t>
            </a:r>
            <a:r>
              <a:rPr kumimoji="0" lang="en-US" altLang="en-US" sz="2000" b="0" i="0" u="none" strike="noStrike" cap="none" normalizeH="0" baseline="0" dirty="0">
                <a:ln>
                  <a:noFill/>
                </a:ln>
                <a:solidFill>
                  <a:schemeClr val="tx1"/>
                </a:solidFill>
                <a:effectLst/>
                <a:latin typeface="Consolas" panose="020B0609020204030204" pitchFamily="49" charset="0"/>
              </a:rPr>
              <a:t> condition) { loop statements... }</a:t>
            </a:r>
            <a:r>
              <a:rPr kumimoji="0" lang="en-US" altLang="en-US" sz="11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586617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D37AE-B8EB-D57E-B473-86A1D63628BE}"/>
              </a:ext>
            </a:extLst>
          </p:cNvPr>
          <p:cNvSpPr>
            <a:spLocks noGrp="1"/>
          </p:cNvSpPr>
          <p:nvPr>
            <p:ph type="title"/>
          </p:nvPr>
        </p:nvSpPr>
        <p:spPr/>
        <p:txBody>
          <a:bodyPr/>
          <a:lstStyle/>
          <a:p>
            <a:r>
              <a:rPr lang="en-IN" dirty="0"/>
              <a:t>for loop</a:t>
            </a:r>
          </a:p>
        </p:txBody>
      </p:sp>
      <p:sp>
        <p:nvSpPr>
          <p:cNvPr id="4" name="Rectangle 1">
            <a:extLst>
              <a:ext uri="{FF2B5EF4-FFF2-40B4-BE49-F238E27FC236}">
                <a16:creationId xmlns:a16="http://schemas.microsoft.com/office/drawing/2014/main" id="{0AE4F2DA-A2EF-6742-D607-34B49FAF0671}"/>
              </a:ext>
            </a:extLst>
          </p:cNvPr>
          <p:cNvSpPr>
            <a:spLocks noGrp="1" noChangeArrowheads="1"/>
          </p:cNvSpPr>
          <p:nvPr>
            <p:ph idx="1"/>
          </p:nvPr>
        </p:nvSpPr>
        <p:spPr bwMode="auto">
          <a:xfrm>
            <a:off x="212558" y="1686677"/>
            <a:ext cx="9733434" cy="1110540"/>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Nunito" pitchFamily="2" charset="0"/>
              </a:rPr>
              <a:t>Syntax:</a:t>
            </a:r>
            <a:endParaRPr kumimoji="0" lang="en-US" altLang="en-US" b="0" i="0" u="none" strike="noStrike" cap="none" normalizeH="0" baseline="0" dirty="0">
              <a:ln>
                <a:noFill/>
              </a:ln>
              <a:solidFill>
                <a:srgbClr val="FF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onsolas" panose="020B0609020204030204" pitchFamily="49" charset="0"/>
              </a:rPr>
              <a:t>for (initialization condition; testing </a:t>
            </a:r>
            <a:r>
              <a:rPr kumimoji="0" lang="en-US" altLang="en-US" sz="2000" b="0" i="0" u="none" strike="noStrike" cap="none" normalizeH="0" baseline="0" dirty="0" err="1">
                <a:ln>
                  <a:noFill/>
                </a:ln>
                <a:solidFill>
                  <a:schemeClr val="tx1"/>
                </a:solidFill>
                <a:effectLst/>
                <a:latin typeface="Consolas" panose="020B0609020204030204" pitchFamily="49" charset="0"/>
              </a:rPr>
              <a:t>condition;increment</a:t>
            </a:r>
            <a:r>
              <a:rPr kumimoji="0" lang="en-US" altLang="en-US" sz="2000" b="0" i="0" u="none" strike="noStrike" cap="none" normalizeH="0" baseline="0" dirty="0">
                <a:ln>
                  <a:noFill/>
                </a:ln>
                <a:solidFill>
                  <a:schemeClr val="tx1"/>
                </a:solidFill>
                <a:effectLst/>
                <a:latin typeface="Consolas" panose="020B0609020204030204" pitchFamily="49" charset="0"/>
              </a:rPr>
              <a:t>/decrement)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onsolas" panose="020B0609020204030204" pitchFamily="49" charset="0"/>
              </a:rPr>
              <a:t> { statement(s) }</a:t>
            </a:r>
            <a:r>
              <a:rPr kumimoji="0" lang="en-US" altLang="en-US" sz="11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852D2A67-4CEF-1FB2-9F4E-C17C48E95514}"/>
              </a:ext>
            </a:extLst>
          </p:cNvPr>
          <p:cNvPicPr>
            <a:picLocks noChangeAspect="1"/>
          </p:cNvPicPr>
          <p:nvPr/>
        </p:nvPicPr>
        <p:blipFill>
          <a:blip r:embed="rId2"/>
          <a:stretch>
            <a:fillRect/>
          </a:stretch>
        </p:blipFill>
        <p:spPr>
          <a:xfrm>
            <a:off x="4560971" y="3429000"/>
            <a:ext cx="7462238" cy="3063875"/>
          </a:xfrm>
          <a:prstGeom prst="rect">
            <a:avLst/>
          </a:prstGeom>
        </p:spPr>
      </p:pic>
    </p:spTree>
    <p:extLst>
      <p:ext uri="{BB962C8B-B14F-4D97-AF65-F5344CB8AC3E}">
        <p14:creationId xmlns:p14="http://schemas.microsoft.com/office/powerpoint/2010/main" val="26851568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529D2-87F6-DEF9-1404-EC2E5F6AA7BA}"/>
              </a:ext>
            </a:extLst>
          </p:cNvPr>
          <p:cNvSpPr>
            <a:spLocks noGrp="1"/>
          </p:cNvSpPr>
          <p:nvPr>
            <p:ph type="title"/>
          </p:nvPr>
        </p:nvSpPr>
        <p:spPr/>
        <p:txBody>
          <a:bodyPr/>
          <a:lstStyle/>
          <a:p>
            <a:r>
              <a:rPr lang="en-IN" dirty="0"/>
              <a:t>do while:</a:t>
            </a:r>
          </a:p>
        </p:txBody>
      </p:sp>
      <p:sp>
        <p:nvSpPr>
          <p:cNvPr id="3" name="Content Placeholder 2">
            <a:extLst>
              <a:ext uri="{FF2B5EF4-FFF2-40B4-BE49-F238E27FC236}">
                <a16:creationId xmlns:a16="http://schemas.microsoft.com/office/drawing/2014/main" id="{052AE345-155F-53E2-924E-9ACF1C1AF2B1}"/>
              </a:ext>
            </a:extLst>
          </p:cNvPr>
          <p:cNvSpPr>
            <a:spLocks noGrp="1"/>
          </p:cNvSpPr>
          <p:nvPr>
            <p:ph idx="1"/>
          </p:nvPr>
        </p:nvSpPr>
        <p:spPr>
          <a:xfrm>
            <a:off x="838200" y="1825625"/>
            <a:ext cx="10515600" cy="1603375"/>
          </a:xfrm>
        </p:spPr>
        <p:txBody>
          <a:bodyPr/>
          <a:lstStyle/>
          <a:p>
            <a:r>
              <a:rPr lang="en-US" dirty="0"/>
              <a:t>do while loop is similar to while loop with only difference that it checks for condition after executing the statements, and therefore is an example of Exit Control Loop.</a:t>
            </a:r>
            <a:endParaRPr lang="en-IN" dirty="0"/>
          </a:p>
        </p:txBody>
      </p:sp>
      <p:sp>
        <p:nvSpPr>
          <p:cNvPr id="4" name="Rectangle 1">
            <a:extLst>
              <a:ext uri="{FF2B5EF4-FFF2-40B4-BE49-F238E27FC236}">
                <a16:creationId xmlns:a16="http://schemas.microsoft.com/office/drawing/2014/main" id="{04389601-681B-E5D3-499E-7169BFD21C26}"/>
              </a:ext>
            </a:extLst>
          </p:cNvPr>
          <p:cNvSpPr>
            <a:spLocks noChangeArrowheads="1"/>
          </p:cNvSpPr>
          <p:nvPr/>
        </p:nvSpPr>
        <p:spPr bwMode="auto">
          <a:xfrm>
            <a:off x="838200" y="3367445"/>
            <a:ext cx="5397311" cy="679653"/>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FF0000"/>
                </a:solidFill>
                <a:effectLst/>
                <a:latin typeface="Nunito" pitchFamily="2" charset="0"/>
              </a:rPr>
              <a:t>Syntax:</a:t>
            </a:r>
            <a:endParaRPr kumimoji="0" lang="en-US" altLang="en-US" sz="1100" b="0" i="0" u="none" strike="noStrike" cap="none" normalizeH="0" baseline="0" dirty="0">
              <a:ln>
                <a:noFill/>
              </a:ln>
              <a:solidFill>
                <a:srgbClr val="FF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onsolas" panose="020B0609020204030204" pitchFamily="49" charset="0"/>
              </a:rPr>
              <a:t>do { statements.. } while (condition);</a:t>
            </a:r>
            <a:r>
              <a:rPr kumimoji="0" lang="en-US" altLang="en-US" sz="11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6EC18443-34B4-E00D-DC39-95CBD8004706}"/>
              </a:ext>
            </a:extLst>
          </p:cNvPr>
          <p:cNvPicPr>
            <a:picLocks noChangeAspect="1"/>
          </p:cNvPicPr>
          <p:nvPr/>
        </p:nvPicPr>
        <p:blipFill>
          <a:blip r:embed="rId2"/>
          <a:stretch>
            <a:fillRect/>
          </a:stretch>
        </p:blipFill>
        <p:spPr>
          <a:xfrm>
            <a:off x="6528886" y="3429000"/>
            <a:ext cx="5133975" cy="2867025"/>
          </a:xfrm>
          <a:prstGeom prst="rect">
            <a:avLst/>
          </a:prstGeom>
        </p:spPr>
      </p:pic>
    </p:spTree>
    <p:extLst>
      <p:ext uri="{BB962C8B-B14F-4D97-AF65-F5344CB8AC3E}">
        <p14:creationId xmlns:p14="http://schemas.microsoft.com/office/powerpoint/2010/main" val="5429891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B0A14-905D-DCA0-58AC-764A6DC74036}"/>
              </a:ext>
            </a:extLst>
          </p:cNvPr>
          <p:cNvSpPr>
            <a:spLocks noGrp="1"/>
          </p:cNvSpPr>
          <p:nvPr>
            <p:ph type="title"/>
          </p:nvPr>
        </p:nvSpPr>
        <p:spPr/>
        <p:txBody>
          <a:bodyPr/>
          <a:lstStyle/>
          <a:p>
            <a:r>
              <a:rPr lang="en-IN" dirty="0"/>
              <a:t>The for Loop Variations </a:t>
            </a:r>
          </a:p>
        </p:txBody>
      </p:sp>
      <p:sp>
        <p:nvSpPr>
          <p:cNvPr id="3" name="Content Placeholder 2">
            <a:extLst>
              <a:ext uri="{FF2B5EF4-FFF2-40B4-BE49-F238E27FC236}">
                <a16:creationId xmlns:a16="http://schemas.microsoft.com/office/drawing/2014/main" id="{516C2F15-1A64-859C-5FA2-3082A53D9C57}"/>
              </a:ext>
            </a:extLst>
          </p:cNvPr>
          <p:cNvSpPr>
            <a:spLocks noGrp="1"/>
          </p:cNvSpPr>
          <p:nvPr>
            <p:ph idx="1"/>
          </p:nvPr>
        </p:nvSpPr>
        <p:spPr/>
        <p:txBody>
          <a:bodyPr>
            <a:normAutofit/>
          </a:bodyPr>
          <a:lstStyle/>
          <a:p>
            <a:pPr marL="514350" indent="-514350">
              <a:buFont typeface="+mj-lt"/>
              <a:buAutoNum type="arabicPeriod"/>
            </a:pPr>
            <a:r>
              <a:rPr lang="en-IN" dirty="0"/>
              <a:t>Multiple initialization and update expressions</a:t>
            </a:r>
          </a:p>
          <a:p>
            <a:pPr marL="457200" lvl="1" indent="0">
              <a:buNone/>
            </a:pPr>
            <a:r>
              <a:rPr lang="nn-NO" dirty="0"/>
              <a:t>for (i= 1, sum=0;sum +=i;++i) ;</a:t>
            </a:r>
          </a:p>
          <a:p>
            <a:pPr marL="457200" lvl="1" indent="0">
              <a:buNone/>
            </a:pPr>
            <a:r>
              <a:rPr lang="nn-NO" dirty="0"/>
              <a:t>	System.out.println( i ) ; </a:t>
            </a:r>
          </a:p>
          <a:p>
            <a:pPr marL="457200" indent="-457200">
              <a:buFont typeface="+mj-lt"/>
              <a:buAutoNum type="arabicPeriod"/>
            </a:pPr>
            <a:r>
              <a:rPr lang="nn-NO" dirty="0"/>
              <a:t>Optional expressions</a:t>
            </a:r>
          </a:p>
          <a:p>
            <a:pPr marL="457200" lvl="1" indent="0">
              <a:buNone/>
            </a:pPr>
            <a:r>
              <a:rPr lang="nn-NO" dirty="0"/>
              <a:t>for( ; test-expression ; update-expressions(s)</a:t>
            </a:r>
          </a:p>
          <a:p>
            <a:pPr marL="457200" lvl="1" indent="0">
              <a:buNone/>
            </a:pPr>
            <a:r>
              <a:rPr lang="nn-NO" dirty="0"/>
              <a:t>Sysytem.out.print(i);</a:t>
            </a:r>
          </a:p>
          <a:p>
            <a:pPr marL="0" indent="0">
              <a:buNone/>
            </a:pPr>
            <a:r>
              <a:rPr lang="nn-NO" dirty="0"/>
              <a:t>	</a:t>
            </a:r>
          </a:p>
          <a:p>
            <a:pPr marL="457200" indent="-457200">
              <a:buFont typeface="+mj-lt"/>
              <a:buAutoNum type="arabicPeriod"/>
            </a:pPr>
            <a:endParaRPr lang="en-IN" dirty="0"/>
          </a:p>
        </p:txBody>
      </p:sp>
      <p:pic>
        <p:nvPicPr>
          <p:cNvPr id="5" name="Picture 4">
            <a:extLst>
              <a:ext uri="{FF2B5EF4-FFF2-40B4-BE49-F238E27FC236}">
                <a16:creationId xmlns:a16="http://schemas.microsoft.com/office/drawing/2014/main" id="{E4AB43AC-713C-9C31-F0B7-507D0AC116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8288" y="4772699"/>
            <a:ext cx="3151155" cy="874121"/>
          </a:xfrm>
          <a:prstGeom prst="rect">
            <a:avLst/>
          </a:prstGeom>
        </p:spPr>
      </p:pic>
    </p:spTree>
    <p:extLst>
      <p:ext uri="{BB962C8B-B14F-4D97-AF65-F5344CB8AC3E}">
        <p14:creationId xmlns:p14="http://schemas.microsoft.com/office/powerpoint/2010/main" val="6778422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788A5-C5B6-443D-7CB4-52B43DF8EF95}"/>
              </a:ext>
            </a:extLst>
          </p:cNvPr>
          <p:cNvSpPr>
            <a:spLocks noGrp="1"/>
          </p:cNvSpPr>
          <p:nvPr>
            <p:ph type="title"/>
          </p:nvPr>
        </p:nvSpPr>
        <p:spPr/>
        <p:txBody>
          <a:bodyPr/>
          <a:lstStyle/>
          <a:p>
            <a:r>
              <a:rPr lang="en-IN" dirty="0"/>
              <a:t>The for Loop Variations </a:t>
            </a:r>
          </a:p>
        </p:txBody>
      </p:sp>
      <p:sp>
        <p:nvSpPr>
          <p:cNvPr id="3" name="Content Placeholder 2">
            <a:extLst>
              <a:ext uri="{FF2B5EF4-FFF2-40B4-BE49-F238E27FC236}">
                <a16:creationId xmlns:a16="http://schemas.microsoft.com/office/drawing/2014/main" id="{53DCABD8-5641-C1C3-E35C-98E096BAC062}"/>
              </a:ext>
            </a:extLst>
          </p:cNvPr>
          <p:cNvSpPr>
            <a:spLocks noGrp="1"/>
          </p:cNvSpPr>
          <p:nvPr>
            <p:ph idx="1"/>
          </p:nvPr>
        </p:nvSpPr>
        <p:spPr/>
        <p:txBody>
          <a:bodyPr>
            <a:normAutofit fontScale="92500" lnSpcReduction="20000"/>
          </a:bodyPr>
          <a:lstStyle/>
          <a:p>
            <a:r>
              <a:rPr lang="en-US" dirty="0"/>
              <a:t>Infinite loop</a:t>
            </a:r>
          </a:p>
          <a:p>
            <a:pPr lvl="1"/>
            <a:r>
              <a:rPr lang="en-US" dirty="0"/>
              <a:t>An infinite for loop can be created by omitting the text-expression as shown below: </a:t>
            </a:r>
          </a:p>
          <a:p>
            <a:pPr lvl="1"/>
            <a:endParaRPr lang="en-US" dirty="0"/>
          </a:p>
          <a:p>
            <a:pPr lvl="1"/>
            <a:endParaRPr lang="en-US" dirty="0"/>
          </a:p>
          <a:p>
            <a:pPr lvl="1"/>
            <a:endParaRPr lang="en-US" dirty="0"/>
          </a:p>
          <a:p>
            <a:r>
              <a:rPr lang="en-US" dirty="0"/>
              <a:t>Empty loop</a:t>
            </a:r>
          </a:p>
          <a:p>
            <a:pPr lvl="1"/>
            <a:r>
              <a:rPr lang="en-US" dirty="0"/>
              <a:t>f a loop does not contain any statement in its loop-body, it is said to be an empty loop. In such cases, a Java loop contains an empty statement 1 e., a null statement Following for loop is an empty loop –</a:t>
            </a:r>
          </a:p>
          <a:p>
            <a:pPr lvl="1"/>
            <a:r>
              <a:rPr lang="en-US" dirty="0"/>
              <a:t> for (j= 20; (J &gt;=6);--j); </a:t>
            </a:r>
          </a:p>
          <a:p>
            <a:r>
              <a:rPr lang="en-US" dirty="0"/>
              <a:t>Declaration of variables inside loop and if</a:t>
            </a:r>
          </a:p>
          <a:p>
            <a:r>
              <a:rPr lang="en-US" dirty="0"/>
              <a:t>A variable declared within an if or for / while / do-while statement cannot be accessed </a:t>
            </a:r>
            <a:r>
              <a:rPr lang="en-US"/>
              <a:t>after  the statement is over.</a:t>
            </a:r>
            <a:endParaRPr lang="en-US" dirty="0"/>
          </a:p>
          <a:p>
            <a:endParaRPr lang="en-US" dirty="0"/>
          </a:p>
          <a:p>
            <a:endParaRPr lang="en-US" dirty="0"/>
          </a:p>
          <a:p>
            <a:endParaRPr lang="en-IN" dirty="0"/>
          </a:p>
        </p:txBody>
      </p:sp>
      <p:pic>
        <p:nvPicPr>
          <p:cNvPr id="5" name="Picture 4">
            <a:extLst>
              <a:ext uri="{FF2B5EF4-FFF2-40B4-BE49-F238E27FC236}">
                <a16:creationId xmlns:a16="http://schemas.microsoft.com/office/drawing/2014/main" id="{3EA7830F-C60D-8990-DB4B-532F7F1243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6729" y="2762192"/>
            <a:ext cx="3939503" cy="1392754"/>
          </a:xfrm>
          <a:prstGeom prst="rect">
            <a:avLst/>
          </a:prstGeom>
        </p:spPr>
      </p:pic>
    </p:spTree>
    <p:extLst>
      <p:ext uri="{BB962C8B-B14F-4D97-AF65-F5344CB8AC3E}">
        <p14:creationId xmlns:p14="http://schemas.microsoft.com/office/powerpoint/2010/main" val="236003673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54021-3EDD-DB68-2F8F-E2D88A04718A}"/>
              </a:ext>
            </a:extLst>
          </p:cNvPr>
          <p:cNvSpPr>
            <a:spLocks noGrp="1"/>
          </p:cNvSpPr>
          <p:nvPr>
            <p:ph type="title"/>
          </p:nvPr>
        </p:nvSpPr>
        <p:spPr/>
        <p:txBody>
          <a:bodyPr/>
          <a:lstStyle/>
          <a:p>
            <a:r>
              <a:rPr lang="en-IN" dirty="0"/>
              <a:t>Labels and Branching Statements </a:t>
            </a:r>
          </a:p>
        </p:txBody>
      </p:sp>
      <p:sp>
        <p:nvSpPr>
          <p:cNvPr id="3" name="Content Placeholder 2">
            <a:extLst>
              <a:ext uri="{FF2B5EF4-FFF2-40B4-BE49-F238E27FC236}">
                <a16:creationId xmlns:a16="http://schemas.microsoft.com/office/drawing/2014/main" id="{8D378920-7B67-4F50-A8FB-DCBB3CA2A915}"/>
              </a:ext>
            </a:extLst>
          </p:cNvPr>
          <p:cNvSpPr>
            <a:spLocks noGrp="1"/>
          </p:cNvSpPr>
          <p:nvPr>
            <p:ph idx="1"/>
          </p:nvPr>
        </p:nvSpPr>
        <p:spPr>
          <a:xfrm>
            <a:off x="449179" y="1584660"/>
            <a:ext cx="11049000" cy="821322"/>
          </a:xfrm>
        </p:spPr>
        <p:txBody>
          <a:bodyPr>
            <a:normAutofit lnSpcReduction="10000"/>
          </a:bodyPr>
          <a:lstStyle/>
          <a:p>
            <a:r>
              <a:rPr lang="en-US" dirty="0"/>
              <a:t>The break and continue statements can also be used with labels. Let us learn about labels and labelled jump statements. </a:t>
            </a:r>
            <a:endParaRPr lang="en-IN" dirty="0"/>
          </a:p>
        </p:txBody>
      </p:sp>
      <p:pic>
        <p:nvPicPr>
          <p:cNvPr id="5" name="Picture 4">
            <a:extLst>
              <a:ext uri="{FF2B5EF4-FFF2-40B4-BE49-F238E27FC236}">
                <a16:creationId xmlns:a16="http://schemas.microsoft.com/office/drawing/2014/main" id="{C2502FCB-E99F-C685-EF4D-FB22D3C71E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3260" y="2405981"/>
            <a:ext cx="8021581" cy="4182015"/>
          </a:xfrm>
          <a:prstGeom prst="rect">
            <a:avLst/>
          </a:prstGeom>
        </p:spPr>
      </p:pic>
    </p:spTree>
    <p:extLst>
      <p:ext uri="{BB962C8B-B14F-4D97-AF65-F5344CB8AC3E}">
        <p14:creationId xmlns:p14="http://schemas.microsoft.com/office/powerpoint/2010/main" val="25406692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E55D6-8C91-8AC7-9AD8-31602F8308AA}"/>
              </a:ext>
            </a:extLst>
          </p:cNvPr>
          <p:cNvSpPr>
            <a:spLocks noGrp="1"/>
          </p:cNvSpPr>
          <p:nvPr>
            <p:ph type="title"/>
          </p:nvPr>
        </p:nvSpPr>
        <p:spPr/>
        <p:txBody>
          <a:bodyPr/>
          <a:lstStyle/>
          <a:p>
            <a:r>
              <a:rPr lang="en-IN" dirty="0"/>
              <a:t>Labels </a:t>
            </a:r>
          </a:p>
        </p:txBody>
      </p:sp>
      <p:sp>
        <p:nvSpPr>
          <p:cNvPr id="3" name="Content Placeholder 2">
            <a:extLst>
              <a:ext uri="{FF2B5EF4-FFF2-40B4-BE49-F238E27FC236}">
                <a16:creationId xmlns:a16="http://schemas.microsoft.com/office/drawing/2014/main" id="{AFCA49D3-5E30-005E-402C-CCF60A388DB1}"/>
              </a:ext>
            </a:extLst>
          </p:cNvPr>
          <p:cNvSpPr>
            <a:spLocks noGrp="1"/>
          </p:cNvSpPr>
          <p:nvPr>
            <p:ph idx="1"/>
          </p:nvPr>
        </p:nvSpPr>
        <p:spPr/>
        <p:txBody>
          <a:bodyPr/>
          <a:lstStyle/>
          <a:p>
            <a:r>
              <a:rPr lang="en-IN" dirty="0"/>
              <a:t>As you can see in above example code, statements can be labelled . Labels are typically used on blocks and loops. Labelled blocks are useful with break and continue.</a:t>
            </a:r>
          </a:p>
          <a:p>
            <a:r>
              <a:rPr lang="en-US"/>
              <a:t>The </a:t>
            </a:r>
            <a:r>
              <a:rPr lang="en-US" dirty="0"/>
              <a:t>syntax for labelling a statement is : </a:t>
            </a:r>
          </a:p>
          <a:p>
            <a:pPr lvl="1"/>
            <a:r>
              <a:rPr lang="en-US" dirty="0"/>
              <a:t>label: statement </a:t>
            </a:r>
            <a:endParaRPr lang="en-IN" dirty="0"/>
          </a:p>
        </p:txBody>
      </p:sp>
    </p:spTree>
    <p:extLst>
      <p:ext uri="{BB962C8B-B14F-4D97-AF65-F5344CB8AC3E}">
        <p14:creationId xmlns:p14="http://schemas.microsoft.com/office/powerpoint/2010/main" val="41383029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408</TotalTime>
  <Words>4330</Words>
  <Application>Microsoft Office PowerPoint</Application>
  <PresentationFormat>Widescreen</PresentationFormat>
  <Paragraphs>445</Paragraphs>
  <Slides>66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66</vt:i4>
      </vt:variant>
    </vt:vector>
  </HeadingPairs>
  <TitlesOfParts>
    <vt:vector size="72" baseType="lpstr">
      <vt:lpstr>Arial</vt:lpstr>
      <vt:lpstr>Calibri</vt:lpstr>
      <vt:lpstr>Calibri Light</vt:lpstr>
      <vt:lpstr>Consolas</vt:lpstr>
      <vt:lpstr>Nunito</vt:lpstr>
      <vt:lpstr>Office Theme</vt:lpstr>
      <vt:lpstr>Java note</vt:lpstr>
      <vt:lpstr>Introduction </vt:lpstr>
      <vt:lpstr>Simple Java Program </vt:lpstr>
      <vt:lpstr>Types of Java Programs </vt:lpstr>
      <vt:lpstr>Java Character Set </vt:lpstr>
      <vt:lpstr>Tokens </vt:lpstr>
      <vt:lpstr>Keywords </vt:lpstr>
      <vt:lpstr>Identifiers:- </vt:lpstr>
      <vt:lpstr>Identifier Naming Conventions </vt:lpstr>
      <vt:lpstr>Literals </vt:lpstr>
      <vt:lpstr>(i) Integer Literals </vt:lpstr>
      <vt:lpstr>Java allows three types of integer literals </vt:lpstr>
      <vt:lpstr>(ii) Floating Literals </vt:lpstr>
      <vt:lpstr>(iv) Boolean Literals  </vt:lpstr>
      <vt:lpstr>(iv) Character Literals  </vt:lpstr>
      <vt:lpstr>listing of escape sequences -</vt:lpstr>
      <vt:lpstr>(v) String Literals </vt:lpstr>
      <vt:lpstr>(vi) The Null Literal  </vt:lpstr>
      <vt:lpstr>Separators</vt:lpstr>
      <vt:lpstr>Data Types </vt:lpstr>
      <vt:lpstr>Java data types are of two types</vt:lpstr>
      <vt:lpstr>Primitive Datatypes </vt:lpstr>
      <vt:lpstr> Numeric Integral Types </vt:lpstr>
      <vt:lpstr>Fractional Numeric Types </vt:lpstr>
      <vt:lpstr>Character Types </vt:lpstr>
      <vt:lpstr>(iv) Boolean Type </vt:lpstr>
      <vt:lpstr>Reference Datatypes </vt:lpstr>
      <vt:lpstr>PowerPoint Presentation</vt:lpstr>
      <vt:lpstr>Variables</vt:lpstr>
      <vt:lpstr>Initial Values of Variables </vt:lpstr>
      <vt:lpstr>Constants </vt:lpstr>
      <vt:lpstr>Operators in Java </vt:lpstr>
      <vt:lpstr>Arithmetic Operators </vt:lpstr>
      <vt:lpstr>Unary Operators </vt:lpstr>
      <vt:lpstr>Binary Operators </vt:lpstr>
      <vt:lpstr>PowerPoint Presentation</vt:lpstr>
      <vt:lpstr>Increment/Decrement Operators (++, -- )</vt:lpstr>
      <vt:lpstr>Relational Operators </vt:lpstr>
      <vt:lpstr>Logical Operators</vt:lpstr>
      <vt:lpstr>Shift Operators</vt:lpstr>
      <vt:lpstr>Bitwise Operators</vt:lpstr>
      <vt:lpstr>Ternary operator</vt:lpstr>
      <vt:lpstr> Assignment Operator</vt:lpstr>
      <vt:lpstr>Other Operators </vt:lpstr>
      <vt:lpstr>operator  Precedence </vt:lpstr>
      <vt:lpstr>Expressions </vt:lpstr>
      <vt:lpstr>Math function available through math class</vt:lpstr>
      <vt:lpstr>Type Conversion </vt:lpstr>
      <vt:lpstr>i) Implicit type conversion </vt:lpstr>
      <vt:lpstr>(ii) Explicit type conversion </vt:lpstr>
      <vt:lpstr>Flow of control</vt:lpstr>
      <vt:lpstr>if</vt:lpstr>
      <vt:lpstr> if-else:</vt:lpstr>
      <vt:lpstr>nested-if</vt:lpstr>
      <vt:lpstr>if-else-if ladder</vt:lpstr>
      <vt:lpstr>switch-case</vt:lpstr>
      <vt:lpstr>jump</vt:lpstr>
      <vt:lpstr>Continue:</vt:lpstr>
      <vt:lpstr>Return:</vt:lpstr>
      <vt:lpstr>while loop:</vt:lpstr>
      <vt:lpstr>for loop</vt:lpstr>
      <vt:lpstr>do while:</vt:lpstr>
      <vt:lpstr>The for Loop Variations </vt:lpstr>
      <vt:lpstr>The for Loop Variations </vt:lpstr>
      <vt:lpstr>Labels and Branching Statements </vt:lpstr>
      <vt:lpstr>Labels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Parmanand Kumar</dc:creator>
  <cp:lastModifiedBy>Parmanand Kumar</cp:lastModifiedBy>
  <cp:revision>43</cp:revision>
  <dcterms:created xsi:type="dcterms:W3CDTF">2024-10-10T23:55:03Z</dcterms:created>
  <dcterms:modified xsi:type="dcterms:W3CDTF">2024-10-12T01:09:24Z</dcterms:modified>
</cp:coreProperties>
</file>